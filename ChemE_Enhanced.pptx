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</p:sldIdLst>
  <p:notesMasterIdLst>
    <p:notesMasterId r:id="rId1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image" Target="../media/image-10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image" Target="../media/image-10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image" Target="../media/image-1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image" Target="../media/image-1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image" Target="../media/image-1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64008" cy="50520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9992" y="45720"/>
            <a:ext cx="64008" cy="50520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45720"/>
            <a:ext cx="4050792" cy="5052060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286000"/>
            <a:ext cx="397764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731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182880" y="1508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182880" y="22402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182880" y="301752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Equations, Diagrams &amp; Key Formulas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8288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Topics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8288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Fundamentals to Advanced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Solutions of Nonlinear Equations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roots of nonlinear equations f(x)=0 using iterative methods. Convergence when |xₙ₊₁ − xₙ| &lt; ε.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Newton-Raphson: quadratic convergence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Bisection: robust but slow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tolerance ε ~10⁻⁶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Solver for multi-variable systems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Newton-Raphson: quadratic convergence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Bisection: robust but slow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Solutions of Nonlinear Equations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Statics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Manometry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pressure differences using manometer height differences and fluid densities. Multi-fluid analysis uses sequential pressure additions.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U-tube: ΔP = (ρ_man − ρ_fluid)·g·h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Multi-fluid: add each ρgh term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pressure = absolute − atmospheric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Inclined manometers amplify sensitivity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Manometry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Fundamentals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Balances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conservation of mass to chemical process streams. Steady-state with no reaction: input equals output.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system boundary carefully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Steady-state: dM/dt = 0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components simplify calculations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= 100 mol or 100 kg typically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Ṁᵢₙ − Ṁₒᵤₜ + Ṁ_gen − Ṁ_consump = dM/dt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Balances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unknowns vs. independent equations before solving. DOF = 0 means the system is fully specified.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stream variables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independent equations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 &gt; 0: need more specifications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 &lt; 0: redundant or inconsistent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stream variables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independent equations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Design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Mass Balances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recycle loops by writing overall and per-unit balances. Overall conversion can be much higher than single-pass conversion.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recycle: write overall balance first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Per-pass conversion &lt; overall conversion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ratio R = recycle/product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stream approach in simulation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Mass Balances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Stoichiometry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Reactions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moles of each species using stoichiometric coefficients and extent of reaction ξ. Negative νᵢ for reactants.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νᵢ &gt; 0 products, νᵢ &lt; 0 reactants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 reactant: ξ_max = n₀/|ν|_limiting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X = −Δn_A / n_A₀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= moles desired / moles if no side rxn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nᵢ = nᵢ₀ + νᵢ · ξ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Reactions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Balances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Material Balances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chemical reactions into process balances using molecular species balance or atomic species balance methods.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Molecular: write balance per compound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Atomic: atoms conserved always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approach: one ξ per reaction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reactions = rank of stoich. matrix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Molecular: write balance per compound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Atomic: atoms conserved always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Material Balances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Design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Stream in Recycle Systems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purge stream to prevent inert buildup in recycle loops. At steady state, purge rate equals inert feed rate.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purge: inerts accumulate indefinitely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Purge-to-recycle ratio set by economics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purge → higher recycle costs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 steady-state: ṅ_purge·y_inert = ṅ_inert,feed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Stream in Recycle Systems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Balances on Transient Processes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solve ODEs for unsteady-state mass accumulation — tank filling, draining, semibatch mixing.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= net input rate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variables for constant rates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solver for variable flow rates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condition m(0) = m₀ required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dm/dt = ṁᵢₙ − ṁₒᵤₜ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Balances on Transient Processes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Measurement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and Dry Basis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between wet basis (includes moisture) and dry basis (moisture-free reference) compositions for drying and combustion analysis.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basis: all components incl. water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basis: reference without moisture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 flue gas analysis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Orsat analyzer reports dry basis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basis: all components incl. water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basis: reference without moisture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and Dry Basis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Engineering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Reactions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flue gas compositions and air-to-fuel ratios. Excess air ensures complete combustion; too much cools the flame.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all C→CO₂, H→H₂O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air: % excess = 0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excess air → lower efficiency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O₂ measures actual excess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Reactions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Phase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Gas Law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ideal gas law relates pressure, volume, moles, and temperature. Valid at low pressure and high temperature where intermolecular forces are negligible.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Molar volume at STP: 22.4 L/mol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Compressibility factor Z = PV/nRT = 1 ideal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Dalton's Law: P_total = Σ Pᵢ (partial P)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near critical point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PV = nRT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Gas Law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Gas Behavior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of State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equations of state predict PVT behavior of real gases and liquids. The Peng-Robinson EOS is standard in petroleum engineering.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vdW: first cubic EOS (1873)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SRK: improved α(T) function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EOS: best for liquid density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Z³ − (1−B)Z² + (A−3B²−2B)Z − (AB−B²−B³) = 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vdW: first cubic EOS (1873)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SRK: improved α(T) function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of State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Diagrams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Rule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vapor and liquid fractions in a two-phase region using the lever rule — a material balance on a phase diagram tie line.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vapor fraction, L = liquid fraction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+ L = 1 (total balance)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overall composition (feed)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Pxy, Txy, and ternary diagrams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Rule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Diagrams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Single-Component Phase Equilibrium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equilibrium phases and conditions using single-component PT diagrams. The Gibbs phase rule governs the number of independent variables.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components, P = phases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component: C = 1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phases: F = 1 (T or P fixes state)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point: F = 0 (unique T and P)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Gibbs Phase Rule: F = C − P + 2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Single-Component Phase Equilibrium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 Pressure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Clausius-Clapeyron &amp; Antoine Equations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vapor pressure as a function of temperature using Antoine constants (tabulated) or the Clausius-Clapeyron integrated form.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Antoine: 3-parameter empirical fit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Clausius-Clapeyron: d(lnP)/d(1/T) = −ΔHvap/R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over limited T range (check bounds)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Chemistry WebBook for constants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Antoine: 3-parameter empirical fit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Clausius-Clapeyron: d(lnP)/d(1/T) = −ΔHvap/R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Clausius-Clapeyron &amp; Antoine Equations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Vapor-Liquid Equilibrium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Raoult's Law and VLE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VLE for ideal solutions with Raoult's Law. Construct Pxy and Txy diagrams and perform bubble/dew point calculations.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point: all liquid just starts to vaporize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 point: all vapor just starts to condense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volatility α₁₂ = P₁ˢᵃᵗ/P₂ˢᵃᵗ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Txy: bubble T &lt; dew T at same composition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Raoult's Law and VLE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Chemistry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 in Solution &amp; Colligative Properties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solutes lower freezing point, raise boiling point, and create osmotic pressure — all proportional to solute molality.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(water) = 0.512 °C·kg/mol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 (water) = 1.86 °C·kg/mol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Osmotic π = iMRT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&gt; 1 for electrolytes (dissociation)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ΔTb = Kb·m·i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 in Solution &amp; Colligative Properties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Three-Component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Phase Diagrams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three-component mixtures on equilateral triangles. Two-phase regions bounded by binodal curve; tie lines connect equilibrium phases.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vertex = pure component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pairs on each edge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Plait point = critical composition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liquid-liquid extraction design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vertex = pure component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pairs on each edge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Phase Diagrams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&amp; Drying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Water-Air VLE &amp; Psychrometric Chart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moist air using humidity ratio and the psychrometric chart. Critical for drying, HVAC, and cooling tower design.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Dry-bulb T: regular thermometer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Wet-bulb T: evaporative cooling limit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 point: T where condensation begins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saturation line on psych chart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Water-Air VLE &amp; Psychrometric Chart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Separations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Adsorption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gas/liquid adsorption onto solid surfaces using Langmuir (monolayer) or Freundlich (empirical) isotherms for adsorbent design.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loading [mol/g], C = concentration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q_m = monolayer capacity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Langmuir equilibrium constant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Freundlich: q = K·C^(1/n) (empirical)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= q_m·K·C/(1+K·C)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Adsorption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Foundations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Functions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functions like U, H, S, G depend only on the current state, not how you got there. Path functions Q and W depend on the process.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P, T, V, U, H, S, G, A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Q (heat), W (work)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= exact differential → closed loop = 0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all thermodynamic calculations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P, T, V, U, H, S, G, A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Q (heat), W (work)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Functions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Properties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Tables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thermodynamic properties of water from saturated and superheated steam tables using temperature, pressure, or quality as inputs.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tables: f = liquid, g = vapor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Superheated: T &gt; T_sat at given P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x = mass fraction vapor (0 to 1)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REFPROP or textbook appendices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Tables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Piping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Energy Balance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Bernoulli equation accounts for pump/turbine work and friction losses for real piping system design.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h_p = Ẇ_pump/(ṁg) pump head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h_f = f(L/D)(v²/2g) Darcy friction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NPSH: prevent cavitation in pumps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curve intersects pump curve at operating point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P₁/ρg + v₁²/2g + z₁ + h_p = P₂/ρg + v₂²/2g + z₂ + h_f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Energy Balance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Properties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Capacities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heat capacity correlations to calculate enthalpy and internal energy changes for gases, liquids, and solids across temperature ranges.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− Cv = R for ideal gases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Cp/Cv = γ (adiabatic index)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Shomate eq: a,b,c,d from NIST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heat capacity simplifies integrals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− Cv = R for ideal gases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Cp/Cv = γ (adiabatic index)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Capacities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Heat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Balances with Phase Changes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enthalpy paths through phase changes by combining sensible heat (Cp·ΔT) and latent heat steps.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path: heat → phase change → heat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ΔHvap water = 2257 kJ/kg at 100°C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ΔHfus water = 334 kJ/kg at 0°C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Trouton's rule: ΔHvap/Tb ≈ 88 J/mol·K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Balances with Phase Changes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 Calculations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Separations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flash drum calculations by finding vapor fraction V and phase compositions using K-values (Kᵢ = yᵢ/xᵢ).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Kᵢ = Pᵢˢᵃᵗ/P from Raoult's Law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0: bubble point; V = 1: dew point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Rachford-Rice: monotonic → easy to solve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Iterative: guess T or P → compute V → check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Σyᵢ − Σxᵢ = 0  (Rachford-Rice)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Separations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Thermodynamics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 of Reaction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standard heats of reaction from heats of formation. Exothermic: ΔH &lt; 0, heat released. Endothermic: ΔH &gt; 0, heat absorbed.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ΔH°f for elements in standard state = 0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Kirchhoff: ΔHrxn(T) = ΔH°rxn + ∫ΔCp dT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Hess's Law: combine known reactions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energies give approximate ΔHrxn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ΔH°f for elements in standard state = 0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Kirchhoff: ΔHrxn(T) = ΔH°rxn + ∫ΔCp dT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 of Reaction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Thermodynamics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Balances with Reaction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sensible heat and heat of reaction in energy balances for reactive systems. Choose a reference temperature for the path.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T: choose T_in or 25°C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 reactor: requires cooling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Adiabatic: Q = 0, solve for T_out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reactions: sum ξⱼ·ΔHrxn,j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Balances with Reaction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Thermodynamics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Flame Temperature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temperature reached in adiabatic combustion. Decreases with excess air and moisture; increases with preheating and oxygen enrichment.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0 (no heat loss)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H_reactants(Tin) = H_products(Tad)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air lowers Tad significantly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Preheated air or O₂ enrichment raises Tad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= 0: ΔH_reactants = ΔH_products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Flame Temperature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Law — Closed Systems (Intro)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conservation for closed systems: heat added minus boundary work done equals change in internal energy.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system: no mass flow in/out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vessel: W = 0 → ΔU = Q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Isobaric: W = PΔV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convention: Q&gt;0 in, W&gt;0 out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system: no mass flow in/out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vessel: W = 0 → ΔU = Q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Law — Closed Systems (Intro)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Statics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Archimedes' principle: buoyant force equals weight of fluid displaced. Objects float when buoyancy exceeds weight.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= ρ_fluid·g·V_disp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Sinks: ρ_obj &gt; ρ_fluid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Floats: ρ_obj &lt; ρ_fluid (partial submersion)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 center of buoyancy above center of gravity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Mechanics Fundamentals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Fluids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fluid properties: density, viscosity, surface tension, and vapor pressure govern fluid behavior in all process equipment.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viscosity μ [Pa·s or cP]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 ν = μ/ρ [m²/s or cSt]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tension γ [N/m]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 pressure: cavitation risk if P &lt; Pvap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ν = μ/ρ  (kinematic viscosity)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Fluids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Statics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Hydrostatic Pressure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in a static fluid increases linearly with depth regardless of container shape — only depth and fluid density matter.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depth-dependent only (not shape)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 = ρgh for incompressible fluid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head: h = P/(ρg)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Multi-layer: add each ρᵢgᵢhᵢ contribution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depth-dependent only (not shape)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 = ρgh for incompressible fluid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Hydrostatic Pressure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Statics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Submerged Gates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resultant hydrostatic force acts at the center of pressure, which is always below the centroid of the submerged surface.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pressure at centroid × area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ȳ = depth to centroid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I_xc = second moment of area about centroid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y_cp &gt; ȳ always (center of pressure deeper)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Submerged Gates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Bernoulli's Equation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conservation for ideal fluid flow along a streamline — pressure, kinetic, and potential energy sum to a constant.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pressure energy per unit weight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v²/2g: velocity head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z: elevation head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Venturi: ΔP measures flow velocity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P/ρg + v²/2g + z = H (constant)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Bernoulli's Equation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Rheology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and Shear Stress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law of viscosity relates shear stress to velocity gradient. Newtonian fluids have constant viscosity independent of shear rate.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dynamic viscosity [Pa·s]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dv/dy = velocity gradient (shear rate)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Newtonian: μ constant (water, air)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law: τ = K·(dv/dy)ⁿ for non-Newtonian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dynamic viscosity [Pa·s]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dv/dy = velocity gradient (shear rate)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and Shear Stress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Mechanics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of Mass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continuity equation ensures mass is conserved in fluid flow. For incompressible flow, volumetric flow rate is constant along a streamline.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Incompressible: ρ = constant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ṁ = ρ·A·v = constant in steady pipe flow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A·v = volumetric flow rate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Contraction: smaller A → larger v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of Mass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Phenomena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Pipe Flow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number determines the flow regime in pipes. Laminar flow is orderly; turbulent flow has chaotic mixing that enhances heat and mass transfer.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= inertial / viscous forces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zone: 2100 &lt; Re &lt; 4000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diameter for non-circular: Dh = 4A/P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 → higher friction factor f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 = ρ·v·D/μ = v·D/ν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Pipe Flow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Profiles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in Pipe Flow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Laminar pipe flow has a parabolic velocity profile. Turbulent flow has a flatter profile with enhanced mixing near the wall.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v_max at centerline (r=0)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0 at wall (no-slip condition)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Turbulent: v_avg ≈ 0.8 v_max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1/7 power law for turbulent: v/v_max = (1−r/R)^(1/7)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v_max at centerline (r=0)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0 at wall (no-slip condition)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in Pipe Flow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Flow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Layer over a Flat Surface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layer grows from zero at the leading edge. Laminar BL is thin and predictable; turbulent BL has higher drag and better heat transfer.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boundary layer thickness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Re_x = ρUx/μ (local Reynolds number)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Cd_laminar = 1.328/√Re_L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 δ ∝ x^(4/5) grows faster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Layer over a Flat Surface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Flow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Length in Pipe Flow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length is the distance needed for the velocity profile to fully develop from a uniform inlet. Heat transfer correlations differ in entry vs. developed regions.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Laminar: long entry (10s of diameters)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Turbulent: shorter entry (~10-60 D)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region: higher Nusselt number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developed: profile shape doesn't change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Laminar: L_e = 0.06·Re·D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Length in Pipe Flow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Design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Drop &amp; Power in Pipe Flow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Darcy-Weisbach equation calculates frictional pressure drop. The Moody chart provides friction factor f as a function of Re and relative roughness.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factor f from Moody chart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Laminar: f = 64/Re (exact)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Turbulent: Colebrook-White equation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ε/D = relative roughness (ε = pipe roughness)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factor f from Moody chart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Laminar: f = 64/Re (exact)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Drop &amp; Power in Pipe Flow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Losses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Length in Pipe Systems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minor losses from fittings (elbows, valves, tees) into equivalent pipe lengths for unified pressure drop calculations.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values tabulated for fittings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valve fully open: K ≈ 0.2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elbow: K ≈ 0.9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h_f = Darcy ΔP + Σ minor losses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Length in Pipe Systems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Networks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Multipipe Systems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networks of pipes in series (same flow, additive pressure drop) or parallel (same pressure drop, additive flow rates).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bottleneck at highest resistance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flow distributes by resistance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Hardy-Cross: iterative network solver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location affects network behavior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Series: Q same, ΔP = Σ ΔPᵢ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Multipipe Systems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Momentum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Newton's second law as the linear momentum equation to find forces on pipe bends, nozzles, and impinging jets.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volume momentum balance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ALL forces: pressure, gravity, reaction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bend: compute Fx and Fy separately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force: F = ρQ(v_out − v_in)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volume momentum balance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ALL forces: pressure, gravity, reaction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Momentum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Navier-Stokes Reduction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Field &amp; Fluid at Rest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Navier-Stokes equation simplifies to ∇P = ρg for a stationary fluid, directly giving the hydrostatic pressure distribution.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N-S: ρ(Dv/Dt) = −∇P + μ∇²v + ρg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Dv/Dt = 0, μ∇²v = 0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dP/dz = −ρg (hydrostatics)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Horizontal: dP/dx = dP/dy = 0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Field &amp; Fluid at Rest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Solutions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Profiles from Navier-Stokes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N-S equations with no-slip boundary conditions to derive exact velocity profiles for laminar flows in simple geometries.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No-slip: v = 0 at wall always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Poiseuille flow: pipe, pressure-driven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Couette flow: between plates, shear-driven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Parabolic profile → Q = πR⁴ΔP/(8μL)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Poiseuille: v(r) = (R²−r²)/(4μ)·(−dP/dz)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Profiles from Navier-Stokes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Theory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Analysis &amp; Pi Terms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Buckingham Pi theorem reduces the number of variables needed to describe a phenomenon by grouping them into dimensionless Pi numbers.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base units: M, L, T, Θ, I, N, J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= ρvL/μ (inertia/viscous)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= v/√(gL) (inertia/gravity)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= hL/k (convection/conduction)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base units: M, L, T, Θ, I, N, J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= ρvL/μ (inertia/viscous)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Analysis &amp; Pi Terms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Methods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and Similitude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scale model experiments by matching relevant dimensionless numbers. Full similitude requires geometric, kinematic, and dynamic similarity.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Geometric: same shape (scale factor λ)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Kinematic: same velocity ratios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 same Re, Fr, We etc.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impossible to match all simultaneously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and Similitude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Law — Closed Systems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law of thermodynamics for a closed system: change in internal energy equals heat transferred to the system minus work done by the system.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Isochoric (const. V): W = 0, ΔU = Q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Isobaric (const. P): W = PΔV, Q = nCpΔT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ideal gas: ΔU = 0, Q = W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Adiabatic: Q = 0, ΔU = −W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ΔU = Q − W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Law — Closed Systems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Energy Balance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Law — Open Systems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steady-state open systems (turbines, pumps, nozzles, heat exchangers), the energy balance includes enthalpy, kinetic, and potential energy terms.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Turbines: work out, Ẇs &lt; 0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Compressors: work in, Ẇs &gt; 0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Nozzle: ΔKE = −ΔĤ (Q=0, Ẇ=0)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exchanger: Ẇ = 0, Δ(ṁh) = Q̇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Turbines: work out, Ẇs &lt; 0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Compressors: work in, Ẇs &gt; 0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Law — Open Systems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Thermodynamics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Unsteady Energy Balances on Tanks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energy accumulation in a tank being filled or drained — the internal energy of the system changes with time.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from supply: T rises if h_supply &gt; u_tank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Draining: tank cools if adiabatic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tank assumption simplifies analysis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ODE: dU/dt = ṁᵢₙhᵢₙ for filling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Unsteady Energy Balances on Tanks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Law of Thermodynamics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is a state function that measures irreversibility. The entropy of the universe always increases for any real process.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Reversible: ΔS_univ = 0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Irreversible: ΔS_univ &gt; 0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 ideal gas = nCv·ln(T₂/T₁) + nR·ln(V₂/V₁)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generation = source of lost work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 ≥ δQ/T  (Clausius inequality)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Devices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Turbines and Compressors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Isentropic efficiency compares actual device performance to the ideal reversible adiabatic case. Turbines produce work; compressors consume work.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Isentropic: adiabatic + reversible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Turbine: ηT = (h₁−h₂)/(h₁−h₂s)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Compressor: ηC = (h₂s−h₁)/(h₂−h₁)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Intercooling reduces compressor work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Isentropic: adiabatic + reversible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Turbine: ηT = (h₁−h₂)/(h₁−h₂s)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Turbines and Compressors</a:t>
            </a:r>
            <a:endParaRPr lang="en-US" sz="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&amp; Irreversible Expansion/Compression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processes produce maximum work (or require minimum work). Irreversibility always increases the work input required for compression.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reversible: W = nRT·ln(V₂/V₁)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rev.: W = ΔU = nCv(T₂−T₁)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Irreversible: gas expands against P_ext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Polytropic: PVⁿ = const (n between 1 and γ)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&amp; Irreversible Expansion/Compression</a:t>
            </a:r>
            <a:endParaRPr lang="en-US" sz="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Isentropic Processes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Reversible Expansion/Compression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Isentropic processes follow PVᵞ = const for ideal gases. Used for turbine/compressor outlet calculations and acoustic wave analysis.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1.4 for diatomic gases (N₂, O₂, air)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1.67 for monatomic (Ar, He)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Cv(T₂−T₁) per mole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Steam: use steam tables (not ideal gas law)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T₂/T₁ = (P₂/P₁)^((γ−1)/γ)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Reversible Expansion/Compression</a:t>
            </a:r>
            <a:endParaRPr lang="en-US" sz="7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Power Cycle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Carnot Cycle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Carnot cycle sets the maximum possible efficiency for a heat engine operating between two temperature reservoirs.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reversible steps: 2 isothermal + 2 adiabatic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depends only on T_H and T_L [Kelvin]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engine exceeds Carnot efficiency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T_H or lower T_L → better efficiency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reversible steps: 2 isothermal + 2 adiabatic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depends only on T_H and T_L [Kelvin]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Carnot Cycle</a:t>
            </a:r>
            <a:endParaRPr lang="en-US" sz="7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Power Plants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Rankine Cycle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Rankine cycle is the basis for all steam power plants. Four components: boiler, turbine, condenser, pump.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1: saturated liquid (condenser out)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2: compressed liquid (pump out)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3: superheated steam (boiler out)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4: wet steam (turbine out)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Rankine Cycle</a:t>
            </a:r>
            <a:endParaRPr lang="en-US" sz="7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&amp; Heat Pumps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Refrigeration Cycle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vapor-compression cycle moves heat from cold to hot reservoir using compressor work. COP &gt; 1 because heat is pumped, not generated.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Compressor: raises T and P of refrigerant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Condenser: rejects heat Q_H to environment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valve: drops P (throttling)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Evaporator: absorbs Q_L from cold space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COP_R = Q_L / W_net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Refrigeration Cycle</a:t>
            </a:r>
            <a:endParaRPr lang="en-US" sz="7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Reduction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&amp; Joule-Thomson Expansion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through a valve is isenthalpic. For real gases, temperature changes according to the Joule-Thomson coefficient μ_JT.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gas: ΔT = 0 (μ_JT = 0)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gas: μ_JT can be + or −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T: above it, gas heats on expansion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liquefaction cycles (μ_JT &gt; 0)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gas: ΔT = 0 (μ_JT = 0)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gas: μ_JT can be + or −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&amp; Joule-Thomson Expansion</a:t>
            </a:r>
            <a:endParaRPr lang="en-US" sz="7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Thermodynamics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Property Relations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Maxwell relations from the four thermodynamic potentials to relate unmeasurable properties (S) to measurable ones (P, V, T).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= TdS − PdV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= TdS + VdP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= −SdT − PdV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= −SdT + VdP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Property Relations</a:t>
            </a:r>
            <a:endParaRPr lang="en-US" sz="7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Cryogenic Engineering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Liquefaction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Liquefy gases by cooling below inversion temperature then throttling. The Claude cycle uses expansion turbines for pre-cooling to improve efficiency.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cool gas below inversion T first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Linde: simple, low efficiency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turbine expansion → higher yield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LNG, LOX, LH₂ production methods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Linde: throttle below inversion 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Liquefaction</a:t>
            </a:r>
            <a:endParaRPr lang="en-US" sz="7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Charts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Property Phase Diagrams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property diagrams provide different insights: PV for work, TS for heat and entropy, PH for refrigeration cycles.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PV: work = enclosed area for cycles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TS: heat = area; reversible cycles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(Mollier): standard for refrigerants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envelope: bubble and dew curves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PV: work = enclosed area for cycles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TS: heat = area; reversible cycles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Property Phase Diagrams</a:t>
            </a:r>
            <a:endParaRPr lang="en-US" sz="7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Gas Property Calc.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Functions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real gas enthalpy and entropy by adding departure functions to ideal gas reference values using generalized correlations.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= actual − ideal gas reference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 EOS: H^R = RT²(∂lnφ/∂T)_P·n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Pitzer: H^R/(RTc) = H^R(0)/RTc + ω·H^R(1)/RTc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acentric factor (tables for compounds)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Functions</a:t>
            </a:r>
            <a:endParaRPr lang="en-US" sz="7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Equilibrium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Fugacity of a Single Component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Fugacity is the 'corrected pressure' that accounts for non-ideal behavior. Phase equilibrium requires equal fugacities in all phases.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→ P as P → 0 (ideal gas limit)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ln(φ) = (1/RT)∫₀ᴾ(V − RT/P)dP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Fugacity coefficient φ from EOS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Poynting correction for liquids at high P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= φ·P  (pure component)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Fugacity of a Single Component</a:t>
            </a:r>
            <a:endParaRPr lang="en-US" sz="7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Thermodynamics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Molar Quantities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molar properties quantify how extensive mixture properties change with composition — the basis for activity coefficient models.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M̄ᵢ depends on T, P, and composition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V̄ᵢ = partial molar volume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Ḡᵢ = μᵢ (chemical potential)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intercepts: graphical determination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M̄ᵢ depends on T, P, and composition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V̄ᵢ = partial molar volume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Molar Quantities</a:t>
            </a:r>
            <a:endParaRPr lang="en-US" sz="7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Phase Equilibrium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Fugacities of Mixtures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component fugacities in mixtures using equations of state with mixing rules for multi-component vapor-liquid equilibrium.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φ̂ᵢ = mixture fugacity coefficient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rules: a_mix = ΣΣxᵢxⱼaᵢⱼ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kᵢⱼ = binary interaction parameter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process simulators (Aspen, HYSYS)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Fugacities of Mixtures</a:t>
            </a:r>
            <a:endParaRPr lang="en-US" sz="7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Criterion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Potential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potential is the fundamental thermodynamic driving force for mass transfer and phase/reaction equilibrium.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μᵢ = Ḡᵢ (partial molar Gibbs energy)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transfers from high to low μ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μᵢ = μᵢ° + RT·ln(aᵢ) (activity aᵢ)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equilibrium: ΣνᵢμᵢT = 0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μᵢ = (∂G/∂nᵢ)_{T,P,nⱼ}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Potential</a:t>
            </a:r>
            <a:endParaRPr lang="en-US" sz="7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Coefficients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 for Non-Ideal Solutions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coefficients correct for non-ideal liquid-phase behavior. γ &gt; 1: positive deviation (weaker interactions); γ &lt; 1: negative deviation.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Margules (1 suffix): ln(γ₁) = A·x₂²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Wilson: good for miscible, polar systems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NRTL: for partially miscible systems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UNIFAC: group-contribution method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Margules (1 suffix): ln(γ₁) = A·x₂²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Wilson: good for miscible, polar systems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 for Non-Ideal Solutions</a:t>
            </a:r>
            <a:endParaRPr lang="en-US" sz="7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Separations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Osmosis and Reverse Osmosis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Osmotic pressure drives water through semi-permeable membranes. Applying pressure greater than π reverses the flow — the basis of RO desalination.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= iMRT (van't Hoff equation)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Seawater π ≈ 27 bar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requires ΔP &gt; π (30-70 bar for seawater)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= 1 − C_permeate/C_feed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Osmosis and Reverse Osmosis</a:t>
            </a:r>
            <a:endParaRPr lang="en-US" sz="7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Gas-Liquid Operations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&amp; Henry's Law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Henry's Law describes dilute gas absorption into liquid. Column design uses number of transfer units (NTU) and height of a transfer unit (HTU).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large: sparingly soluble (O₂ in water)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small: highly soluble (NH₃, SO₂)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increases with T → less soluble at high 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height = HTU × NTU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pᵢ = Hᵢ·xᵢ  (Henry's Law, dilute)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&amp; Henry's Law</a:t>
            </a:r>
            <a:endParaRPr lang="en-US" sz="7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Non-Ideality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Enthalpy of Mixing &amp; Raoult Deviations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Gibbs energy links activity coefficients to deviations from Raoult's Law. Positive GE causes azeotrope formation at maximum-boiling azeotrope.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deviation (γ&gt;1): weaker A-B vs A-A, B-B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deviation (γ&lt;1): stronger cross interactions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ΔHmix ≠ 0 for non-ideal solutions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properties: actual − ideal solution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deviation (γ&gt;1): weaker A-B vs A-A, B-B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deviation (γ&lt;1): stronger cross interactions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Enthalpy of Mixing &amp; Raoult Deviations</a:t>
            </a:r>
            <a:endParaRPr lang="en-US" sz="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Equation-of-State VLE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EOS for VLE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cubic EOS (Peng-Robinson) to compute fugacity coefficients in both phases for rigorous VLE calculations without activity coefficient models.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EOS gives 3 Z roots; choose correct ones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Z root = liquid; largest = vapor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φ̂ᵢ from fugacity integral of EOS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until φ̂^L = φ̂^V at each composition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EOS for VLE</a:t>
            </a:r>
            <a:endParaRPr lang="en-US" sz="7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Gibbs Free Energy &amp; Phase Separation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Liquid-liquid phase separation occurs when the Gibbs energy of mixing has a region of negative curvature. Spinodal = instability limit; binodal = equilibrium limit.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tangent → binodal compositions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 points → spinodal boundary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Metastable: between spinodal and binodal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polymer blends and alloys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∂²G_mix/∂x² &lt; 0 → unstable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Gibbs Free Energy &amp; Phase Separation</a:t>
            </a:r>
            <a:endParaRPr lang="en-US" sz="7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 Phase Behavior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Miscible Liquids Phase Diagrams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liquid pairs are miscible at high T but separate into two phases at lower T (UCST) or vice versa (LCST). Tie lines give equilibrium compositions.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UCST: upper critical solution temperature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LCST: lower critical (rarer, polymer systems)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region bounded by binodal curve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lines: horizontal in T-x diagram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UCST: upper critical solution temperature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LCST: lower critical (rarer, polymer systems)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Miscible Liquids Phase Diagrams</a:t>
            </a:r>
            <a:endParaRPr lang="en-US" sz="7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Distillation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Immiscible Liquids Phase Diagrams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Immiscible liquids exert independent vapor pressures. Boiling occurs below the boiling point of either pure component — the basis of steam distillation.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liquid exerts its own P*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Three-phase: L₁ + L₂ + V at unique 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distillation: purify high-bp organics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Heteroazeotrope at three-phase T and comp.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Immiscible Liquids Phase Diagrams</a:t>
            </a:r>
            <a:endParaRPr lang="en-US" sz="7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Eutectic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Solid-Solid-Liquid Phase Diagrams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eutectic diagrams show how two solids compete with a shared liquid phase. The eutectic point is the lowest melting composition.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Eutectic composition: lowest melting point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Hypoeutectic: left of eutectic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Hypereutectic: right of eutectic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solders, salt de-icing, alloys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Eutectic: L ↔ α + β at fixed T,x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Solid-Solid-Liquid Phase Diagrams</a:t>
            </a:r>
            <a:endParaRPr lang="en-US" sz="7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Limits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Azeotropes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Azeotropes form where vapor and liquid have identical compositions — making conventional distillation impossible beyond this point.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boiling: γ &lt; 1 (negative deviation)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boiling: γ &gt; 1 (positive deviation)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EtOH-water: min boiling at 95.6% EtOH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by adding entrainer (pressure swing, extraction)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boiling: γ &lt; 1 (negative deviation)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boiling: γ &gt; 1 (positive deviation)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Azeotropes</a:t>
            </a:r>
            <a:endParaRPr lang="en-US" sz="7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Equilibrium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Gas-Phase Chemical Equilibrium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equilibrium constant Kp is determined by standard Gibbs energy change. Le Chatelier's principle predicts shifts due to T, P, or concentration changes.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dimensionless (use P/P° = P/1 bar)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increases Kp if endothermic (van't Hoff)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shifts equilibrium if Δν ≠ 0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 gas at const V: no effect on equilibrium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Gas-Phase Chemical Equilibrium</a:t>
            </a:r>
            <a:endParaRPr lang="en-US" sz="7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Reactions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Chemical Equilibrium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heterogeneous equilibria, pure solids and liquids have unit activity and do not appear in the equilibrium expression.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CaCO₃ decomposition: Kp = P_CO₂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gas-phase species in Kp expression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Roasting reactions: thermite, cement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Catalytic reactions: solid catalyst (activity=1)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solid activity = 1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Chemical Equilibrium</a:t>
            </a:r>
            <a:endParaRPr lang="en-US" sz="7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Equilibrium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Effects in Chemical Reactions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profoundly affects equilibrium. Exothermic reactions favor low T; endothermic favor high T. The van't Hoff equation quantifies this.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 (ΔH&lt;0): Kp decreases with 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 (ΔH&gt;0): Kp increases with 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T_eq: solve energy + equilibrium simultaneously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 synthesis: low T favors eq., high T for rate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 (ΔH&lt;0): Kp decreases with 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 (ΔH&gt;0): Kp increases with 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Effects in Chemical Reactions</a:t>
            </a:r>
            <a:endParaRPr lang="en-US" sz="7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Equilibria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Equilibrium for Multiple Reactions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systems with multiple simultaneous reactions, minimize total Gibbs free energy subject to elemental conservation constraints.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coupled Kp equations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Gibbs minimization (more general)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Stoichiometry: independent reactions only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Aspen, FactSage, GASEQ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Equilibrium for Multiple Reactions</a:t>
            </a:r>
            <a:endParaRPr lang="en-US" sz="7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Estimation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Regression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kinetic rate law parameters to experimental data by minimizing the sum of squared residuals using iterative optimization.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guess critical for convergence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Arrhenius: k = A·exp(−Ea/RT)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log-linearization for initial guess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intervals: assess parameter uncertainty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 Σ(y_exp − y_model)²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Regression</a:t>
            </a:r>
            <a:endParaRPr lang="en-US" sz="7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Optimization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Reactions and Selectivity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selectivity in competing reaction networks by choosing reactor type, temperature, and concentration profiles strategically.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A→D (desired), A→U (undesired)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A→D→U (minimize overreaction)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 favors higher-order desired reactions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CSTR vs PFR: compare CA profiles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A→D (desired), A→U (undesired)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A→D→U (minimize overreaction)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Reactions and Selectivity</a:t>
            </a:r>
            <a:endParaRPr lang="en-US" sz="7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Catalysis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Langmuir-Hinshelwood Kinetics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Surface-catalyzed reactions follow Langmuir-Hinshelwood kinetics where adsorption, surface reaction, and desorption are sequential steps.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Adsorption: A + S ⇌ A·S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rxn: A·S + B·S → P·S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Desorption: P·S ⇌ P + 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 reflects competition for active sites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Langmuir-Hinshelwood Kinetics</a:t>
            </a:r>
            <a:endParaRPr lang="en-US" sz="7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Mass Transfer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&amp; Reaction in Porous Catalysts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diffusion through catalyst pores can limit the observed reaction rate. The Thiele modulus compares reaction to diffusion rates.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1: no diffusion limitation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&lt; 1: diffusion limits reaction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η ≈ 1/Φ for Φ &gt;&gt; 1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= effective diffusivity in pores (tortuosity)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Φ = R√(k/D_e)  (Thiele modulus)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&amp; Reaction in Porous Catalysts</a:t>
            </a:r>
            <a:endParaRPr lang="en-US" sz="7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Design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Batch Reactors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isothermal batch reactors by integrating the mole balance. Reaction time depends on rate law and desired conversion.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equation: N_A0·dX/dt = −r_A·V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0th order: t = CA0·X/k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order: t = −ln(1−X)/k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order: t = X/(k·CA0·(1−X))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equation: N_A0·dX/dt = −r_A·V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0th order: t = CA0·X/k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Batch Reactors</a:t>
            </a:r>
            <a:endParaRPr lang="en-US" sz="7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Reactor Design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CSTR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CSTR operates at exit concentration everywhere (perfect mixing). Design equation is algebraic — evaluate rate at exit conditions.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CA0·X/(−rA|exit)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CSTR less efficient than PFR for positive-order kinetics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CSTRs approach PFR performance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Levenspiel plot: CSTR area = rectangle, PFR = integral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CSTR</a:t>
            </a:r>
            <a:endParaRPr lang="en-US" sz="7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Design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Plug Flow Reactors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PFR has no axial mixing — concentration varies along the length. The integral design equation requires knowing the rate law explicitly.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of fluid reacts for residence time dV/v₀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PFR &lt; CSTR volume for positive-order reactions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Levenspiel plot: PFR = area under curve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handle pressure drop (coupled ODE)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FA₀·dX/dV = −rA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Plug Flow Reactors</a:t>
            </a:r>
            <a:endParaRPr lang="en-US" sz="7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Reactors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Semibatch Reactors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Semibatch reactor has one reactant charged initially, second added continuously. Useful for controlling selectivity and managing exotherms.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Fed-batch fermentation: add nutrients continuously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selectivity: keep CB low to favor desired product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changes with time: dV/dt = v₀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inhibition: remove product continuously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Fed-batch fermentation: add nutrients continuously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selectivity: keep CB low to favor desired product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Semibatch Reactors</a:t>
            </a:r>
            <a:endParaRPr lang="en-US" sz="7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Non-Isothermal PFR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 in Steady-State PFR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conversion are coupled in a non-isothermal PFR. Exothermic reactions create hot spots; proper cooling avoids runaway.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spot: temperature maximum in exothermic PFR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Runaway: if cooling insufficient → T escapes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Co-current vs counter-current cooling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PFR: U = 0, simplest case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 in Steady-State PFR</a:t>
            </a:r>
            <a:endParaRPr lang="en-US" sz="7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CSTR Thermal Design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Balances in Stirred Tank Reactors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generation curve G(T) and heat removal line R(T) are plotted on the same graph. Intersections give possible steady states.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G(T): S-shaped curve for exothermic rxn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R(T): straight line (slope = ṁCp + UA)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 = steady states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SS: G slope &lt; R slope at intersection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G(T) = (−ΔHrxn)·FA₀·X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Balances in Stirred Tank Reactors</a:t>
            </a:r>
            <a:endParaRPr lang="en-US" sz="7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Stability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Steady States in Non-Isothermal CSTR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intersections of G and R curves give two stable and one unstable steady state. Ignition and extinction can cause abrupt jumps between states.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SS: stable, low conversion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SS: unstable (saddle point)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SS: stable, high conversion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Light-off temperature: ignition point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SS: stable, low conversion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SS: unstable (saddle point)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Steady States in Non-Isothermal CSTR</a:t>
            </a:r>
            <a:endParaRPr lang="en-US" sz="7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Bed Design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Drop in Packed Bed Reactors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drop in packed beds affects gas-phase reaction rates via concentration. The Ergun equation combines viscous and inertial contributions.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≈ 0.4 for random packed spheres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ΔP → lower concentration → lower rate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PFR equation includes P(z)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Carman-Kozeny: low Re limit of Ergun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Drop in Packed Bed Reactors</a:t>
            </a:r>
            <a:endParaRPr lang="en-US" sz="7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Mechanisms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Approximation &amp; Rate-Determining Step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multi-step rate expressions by assuming intermediates are at steady state (PSSH) or identifying the slowest step as rate-limiting.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PSSH: d[I]/dt = 0 for reactive intermediates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RDS: slowest step controls overall rate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Pre-equilibrium: fast step before RDS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kinetics (MM) derived via PSSH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d[I]/dt ≈ 0  (intermediate I)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Approximation &amp; Rate-Determining Step</a:t>
            </a:r>
            <a:endParaRPr lang="en-US" sz="7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Biochemical Engineering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Kinetics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are biological catalysts. The Michaelis-Menten model describes rate as a function of substrate concentration with saturation behavior.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= substrate [S] at V_max/2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V_max = k_cat·[E]_total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Lineweaver-Burk: 1/v vs 1/[S] linear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inhibitor: increases apparent Km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= substrate [S] at V_max/2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V_max = k_cat·[E]_total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Kinetics</a:t>
            </a:r>
            <a:endParaRPr lang="en-US" sz="7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Engineering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Polymerization Kinetics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Step-growth polymerization requires high conversion for high MW. Chain-growth is faster but gives broader molecular weight distributions.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Step-growth: all oligomers react equally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Chain-growth: initiation → propagation → termination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= Mw/Mn ≈ 2 for step-growth at high p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chain: PDI ≈ 1.5 (termination by combination)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Polymerization Kinetics</a:t>
            </a:r>
            <a:endParaRPr lang="en-US" sz="7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Ordinary Differential Equations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ODE solvers are essential for non-isothermal reactors, batch reactors, and transient systems where analytical solutions don't exist.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Euler: y_{n+1} = yₙ + h·f(tₙ,yₙ) (simple)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RK4: 4th order accuracy, standard choice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 ODEs: implicit solvers (ode15s, LSODA)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scipy.integrate.solve_ivp (Python)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RK4: k₁=f(t,y), k₂=f(t+h/2,y+hk₁/2)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Ordinary Differential Equations</a:t>
            </a:r>
            <a:endParaRPr lang="en-US" sz="7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Non-Ideal Reactors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 Time Distribution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RTD characterizes non-ideal mixing and flow patterns in real reactors by analyzing tracer response curves from pulse or step experiments.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PFR: E(t) = δ(t−τ)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CSTR: E(t) = (1/τ)exp(−t/τ)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Tanks-in-series: n tanks from E(t) fit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model: axial mixing parameter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PFR: E(t) = δ(t−τ)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CSTR: E(t) = (1/τ)exp(−t/τ)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 Time Distribution</a:t>
            </a:r>
            <a:endParaRPr lang="en-US" sz="7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Production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Polymerization Reactors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choice affects molecular weight distribution in polymerization. CSTRs give narrow MWD for step-growth; batch gives broader distributions.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Step-growth in CSTR: Mw/Mn → 2 (Flory)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Chain-growth in CSTR: narrow PDI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Semi-batch: control of exotherm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PFR for chain-growth: approximates batch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Polymerization Reactors</a:t>
            </a:r>
            <a:endParaRPr lang="en-US" sz="7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Distillation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Batch Distillation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batch distillation (Rayleigh equation), vapor is richer in more volatile component as distillation proceeds and pot composition changes.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volatile: enriched in early distillate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becomes depleted in light component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distillate x̄D &lt; x_D,initial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separation: use reflux for better purity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Rayleigh: ln(L₀/L) = ∫dx/(y*−x)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Batch Distillation</a:t>
            </a:r>
            <a:endParaRPr lang="en-US" sz="7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Columns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Multistage Batch Distillation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stages with reflux greatly improves separation. The minimum reflux ratio gives infinite stages; total reflux gives minimum stages.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 → better separation, more energy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Fenske eq: N_min·ln(α) = ln[(xD(1-xB))/(xB(1-xD))]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Underwood equation: R_min from pinch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column: product purity varies with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 → better separation, more energy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Fenske eq: N_min·ln(α) = ln[(xD(1-xB))/(xB(1-xD))]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Multistage Batch Distillation</a:t>
            </a:r>
            <a:endParaRPr lang="en-US" sz="7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Distillation Design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McCabe-Thiele Diagrams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McCabe-Thiele method graphically determines the number of equilibrium stages needed for a binary distillation with a given reflux ratio.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stages between equilibrium curve &amp; op. lines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q-line: feed condition (q=1 saturated liquid)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Pinch: op. line touches equilibrium curve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feed stage: intersection of op. lines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McCabe-Thiele Diagrams</a:t>
            </a:r>
            <a:endParaRPr lang="en-US" sz="7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Gas-Liquid Operations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Columns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column design uses the number of overall gas-phase transfer units (NTU) and height of a transfer unit (HTU) to determine packing height.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HTU = G/(K_ya·A) (packing dependent)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increases with tighter separation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line: above equilibrium curve (absorption)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velocity sets column diameter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N_OG = ∫(dy)/(y−y*)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Columns</a:t>
            </a:r>
            <a:endParaRPr lang="en-US" sz="7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Desorption Operations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Stripping Columns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Stripping removes dissolved gases from liquid using steam or inert gas. The operating line lies below the equilibrium curve.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line: below equilibrium curve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&gt; 1 needed for stripping to be feasible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stripping for VOC removal from water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stripping: aeration for dissolved gases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line: below equilibrium curve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&gt; 1 needed for stripping to be feasible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Stripping Columns</a:t>
            </a:r>
            <a:endParaRPr lang="en-US" sz="7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Liquid-Liquid Extraction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Hunter-Nash Method for LLE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Hunter-Nash graphical method uses a ternary phase diagram to step off extraction stages and find minimum solvent ratio.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on right-triangle ternary diagram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point: intersection of operating lines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off stages from raffinate to extract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solvent: operating point at plait point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Hunter-Nash Method for LLE</a:t>
            </a:r>
            <a:endParaRPr lang="en-US" sz="7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 Operations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Single-Effect Evaporators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Single-effect evaporators use one kg of steam to evaporate approximately one kg of water — steam economy ≈ 1.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reduces ΔT driving force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economy ≈ 1 (poor efficiency)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balance: steam heat = sensible + latent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LMTD correction for non-isothermal effects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S·λs = L·Cp(T-Tf) + V·λ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Single-Effect Evaporators</a:t>
            </a:r>
            <a:endParaRPr lang="en-US" sz="7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 Evaporation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Multi-Effect Evaporators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effect reuses vapor from the previous effect as heating steam, achieving economy up to n kg evaporated per kg steam consumed.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feed: feed flows with steam direction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feed: counter-current arrangement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improves with more effects (capital trade-off)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Triple-effect most common in industry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feed: feed flows with steam direction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feed: counter-current arrangement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Multi-Effect Evaporators</a:t>
            </a:r>
            <a:endParaRPr lang="en-US" sz="7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Heat Transfer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Lumped Capacitance Transient Conduction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Bi &lt; 0.1, spatial temperature gradients within a solid are negligible — the lumped capacitance model gives exponential cooling/heating.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= hLc/k &lt; 0.1 (required condition)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= V/As (characteristic length)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small: fast response (thin, conductive objects)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quenching, thermometry, food cooling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Lumped Capacitance Transient Conduction</a:t>
            </a:r>
            <a:endParaRPr lang="en-US" sz="75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Transfer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Conduction in Sphere with Spatial Effects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Biot numbers, temperature varies with position inside a sphere. Heisler charts or one-term Fourier series provide solutions.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&gt; 0.2: one-term approximation valid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Heisler charts: T_center and average 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C₁, ζ₁: tabulated vs. Bi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k/(ρCp) = thermal diffusivity [m²/s]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 = αt/r₀²  (Fourier number)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Conduction in Sphere with Spatial Effect</a:t>
            </a:r>
            <a:endParaRPr lang="en-US" sz="7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Short-Time Heat Transfer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Conduction into Semi-Infinite Solid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663440" cy="1005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32688"/>
            <a:ext cx="44805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surface temperature change creates a temperature wave that penetrates into a semi-infinite solid via the error function solution.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993392"/>
            <a:ext cx="4663440" cy="7498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9728" y="2834640"/>
            <a:ext cx="4663440" cy="21488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" y="28712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1168" y="3145536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erfc = 1 − erf (complementary error function)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depth: T change felt at distance 4√(αt)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large (metals) → fast penetration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welding, fire safety analysis, casting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4133088" cy="2194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32688"/>
            <a:ext cx="4041648" cy="21579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200400"/>
            <a:ext cx="4133088" cy="178308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REFERENCE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352958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erfc = 1 − erf (complementary error function)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96849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depth: T change felt at distance 4√(αt)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Conduction into Semi-Infinite Solid</a:t>
            </a:r>
            <a:endParaRPr lang="en-US" sz="7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Forced Convection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Convective Heat Transfer over a Flat Plate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4389120" cy="804672"/>
          </a:xfrm>
          <a:prstGeom prst="rect">
            <a:avLst/>
          </a:prstGeom>
          <a:solidFill>
            <a:srgbClr val="0A2035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32688"/>
            <a:ext cx="4334256" cy="768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17720" y="914400"/>
            <a:ext cx="4407408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932688"/>
            <a:ext cx="4352544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" y="1783080"/>
            <a:ext cx="4389120" cy="105156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8105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convection over a flat plate is solved using boundary layer theory. Nusselt number correlations give the heat transfer coefficient.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9456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= hL/k (dimensionless h)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0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774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395728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Re_L = U∞·L/ν (plate Reynolds number)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62272" y="2926080"/>
            <a:ext cx="2084832" cy="1664208"/>
          </a:xfrm>
          <a:prstGeom prst="rect">
            <a:avLst/>
          </a:prstGeom>
          <a:solidFill>
            <a:srgbClr val="0D2A44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53712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0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= ν/α = Cp·μ/k (Prandtl number)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38544" y="2926080"/>
            <a:ext cx="2084832" cy="1664208"/>
          </a:xfrm>
          <a:prstGeom prst="rect">
            <a:avLst/>
          </a:prstGeom>
          <a:solidFill>
            <a:srgbClr val="0A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9984" y="29992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48272" y="3401568"/>
            <a:ext cx="188366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Turbulent: Nu = 0.037·Re^0.8·Pr^(1/3)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Convective Heat Transfer over a Flat Plate</a:t>
            </a:r>
            <a:endParaRPr lang="en-US" sz="7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A2740"/>
          </a:solidFill>
          <a:ln w="12700">
            <a:solidFill>
              <a:srgbClr val="0A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/ 114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solidFill>
            <a:srgbClr val="14305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Convection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21408" y="914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Convection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" y="914400"/>
            <a:ext cx="8915400" cy="822960"/>
          </a:xfrm>
          <a:prstGeom prst="rect">
            <a:avLst/>
          </a:prstGeom>
          <a:solidFill>
            <a:srgbClr val="061520"/>
          </a:solidFill>
          <a:ln w="1524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32688"/>
            <a:ext cx="4572000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" y="1828800"/>
            <a:ext cx="4754880" cy="192024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7088"/>
            <a:ext cx="4700016" cy="18836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83480" y="1828800"/>
            <a:ext cx="4041648" cy="868680"/>
          </a:xfrm>
          <a:prstGeom prst="rect">
            <a:avLst/>
          </a:prstGeom>
          <a:solidFill>
            <a:srgbClr val="0C2035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74920" y="185623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convection is driven by buoyancy from density differences due to temperature gradients. Rayleigh number governs the heat transfer rate.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278892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volumetric thermal expansion coeff.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13448" y="278892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3448" y="278892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2788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&lt; 10⁹: laminar; Ra &gt; 10⁹: turbulent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83480" y="3291840"/>
            <a:ext cx="1993392" cy="457200"/>
          </a:xfrm>
          <a:prstGeom prst="rect">
            <a:avLst/>
          </a:prstGeom>
          <a:solidFill>
            <a:srgbClr val="0D2A4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83480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and n from Churchill-Chu correlation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91840"/>
            <a:ext cx="1993392" cy="457200"/>
          </a:xfrm>
          <a:prstGeom prst="rect">
            <a:avLst/>
          </a:prstGeom>
          <a:solidFill>
            <a:srgbClr val="0A20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13448" y="32918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04888" y="32918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cooling fins, building heat loss, electronics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9728" y="3822192"/>
            <a:ext cx="8915400" cy="1051560"/>
          </a:xfrm>
          <a:prstGeom prst="rect">
            <a:avLst/>
          </a:prstGeom>
          <a:solidFill>
            <a:srgbClr val="06152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860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8600" y="4151376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 = Gr·Pr = gβΔTL³/(να)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40D14"/>
          </a:solidFill>
          <a:ln w="12700">
            <a:solidFill>
              <a:srgbClr val="040D1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0" y="4965192"/>
            <a:ext cx="914400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4592" y="49743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Core Concepts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54880" y="497433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Convection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115</Slides>
  <Notes>115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Chemical Engineering Core Concepts — Enhanced Edition</dc:title>
  <dc:subject>PptxGenJS Presentation</dc:subject>
  <dc:creator>PptxGenJS</dc:creator>
  <cp:lastModifiedBy>PptxGenJS</cp:lastModifiedBy>
  <cp:revision>1</cp:revision>
  <dcterms:created xsi:type="dcterms:W3CDTF">2026-04-03T07:50:34Z</dcterms:created>
  <dcterms:modified xsi:type="dcterms:W3CDTF">2026-04-03T07:50:34Z</dcterms:modified>
</cp:coreProperties>
</file>