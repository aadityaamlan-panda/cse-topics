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_rels/presentation.xml.rels" ContentType="application/vnd.openxmlformats-package.relationships+xml"/>
  <Override PartName="/ppt/embeddings/oleObject1.bin" ContentType="application/vnd.openxmlformats-officedocument.oleObject"/>
  <Override PartName="/ppt/media/image19.png" ContentType="image/png"/>
  <Override PartName="/ppt/media/image54.wmf" ContentType="image/x-wmf"/>
  <Override PartName="/ppt/media/image102.wmf" ContentType="image/x-wmf"/>
  <Override PartName="/ppt/media/image5.png" ContentType="image/png"/>
  <Override PartName="/ppt/media/image51.png" ContentType="image/png"/>
  <Override PartName="/ppt/media/image6.png" ContentType="image/png"/>
  <Override PartName="/ppt/media/image38.png" ContentType="image/png"/>
  <Override PartName="/ppt/media/image60.wmf" ContentType="image/x-wmf"/>
  <Override PartName="/ppt/media/image10.png" ContentType="image/png"/>
  <Override PartName="/ppt/media/image104.wmf" ContentType="image/x-wmf"/>
  <Override PartName="/ppt/media/image56.wmf" ContentType="image/x-wmf"/>
  <Override PartName="/ppt/media/image1.wmf" ContentType="image/x-wmf"/>
  <Override PartName="/ppt/media/image34.png" ContentType="image/png"/>
  <Override PartName="/ppt/media/image2.png" ContentType="image/png"/>
  <Override PartName="/ppt/media/image11.png" ContentType="image/png"/>
  <Override PartName="/ppt/media/image48.png" ContentType="image/png"/>
  <Override PartName="/ppt/media/image8.png" ContentType="image/png"/>
  <Override PartName="/ppt/media/image35.png" ContentType="image/png"/>
  <Override PartName="/ppt/media/image3.png" ContentType="image/png"/>
  <Override PartName="/ppt/media/image37.wmf" ContentType="image/x-wmf"/>
  <Override PartName="/ppt/media/image28.png" ContentType="image/png"/>
  <Override PartName="/ppt/media/image128.png" ContentType="image/png"/>
  <Override PartName="/ppt/media/image40.png" ContentType="image/png"/>
  <Override PartName="/ppt/media/image58.wmf" ContentType="image/x-wmf"/>
  <Override PartName="/ppt/media/image43.png" ContentType="image/png"/>
  <Override PartName="/ppt/media/image21.png" ContentType="image/png"/>
  <Override PartName="/ppt/media/image89.wmf" ContentType="image/x-wmf"/>
  <Override PartName="/ppt/media/image98.wmf" ContentType="image/x-wmf"/>
  <Override PartName="/ppt/media/image30.png" ContentType="image/png"/>
  <Override PartName="/ppt/media/image32.png" ContentType="image/png"/>
  <Override PartName="/ppt/media/image44.png" ContentType="image/png"/>
  <Override PartName="/ppt/media/image59.png" ContentType="image/png"/>
  <Override PartName="/ppt/media/image99.wmf" ContentType="image/x-wmf"/>
  <Override PartName="/ppt/media/image31.png" ContentType="image/png"/>
  <Override PartName="/ppt/media/image33.png" ContentType="image/png"/>
  <Override PartName="/ppt/media/image46.png" ContentType="image/png"/>
  <Override PartName="/ppt/media/image47.wmf" ContentType="image/x-wmf"/>
  <Override PartName="/ppt/media/image42.png" ContentType="image/png"/>
  <Override PartName="/ppt/media/image41.png" ContentType="image/png"/>
  <Override PartName="/ppt/media/image45.png" ContentType="image/png"/>
  <Override PartName="/ppt/media/image103.png" ContentType="image/png"/>
  <Override PartName="/ppt/media/image4.png" ContentType="image/png"/>
  <Override PartName="/ppt/media/image50.png" ContentType="image/png"/>
  <Override PartName="/ppt/media/image36.png" ContentType="image/png"/>
  <Override PartName="/ppt/media/image13.png" ContentType="image/png"/>
  <Override PartName="/ppt/media/image81.png" ContentType="image/png"/>
  <Override PartName="/ppt/media/image53.png" ContentType="image/png"/>
  <Override PartName="/ppt/media/image7.png" ContentType="image/png"/>
  <Override PartName="/ppt/media/image39.png" ContentType="image/png"/>
  <Override PartName="/ppt/media/image100.wmf" ContentType="image/x-wmf"/>
  <Override PartName="/ppt/media/image52.wmf" ContentType="image/x-wmf"/>
  <Override PartName="/ppt/media/image15.png" ContentType="image/png"/>
  <Override PartName="/ppt/media/image83.png" ContentType="image/png"/>
  <Override PartName="/ppt/media/image55.png" ContentType="image/png"/>
  <Override PartName="/ppt/media/image9.png" ContentType="image/png"/>
  <Override PartName="/ppt/media/image20.png" ContentType="image/png"/>
  <Override PartName="/ppt/media/image57.png" ContentType="image/png"/>
  <Override PartName="/ppt/media/image49.png" ContentType="image/png"/>
  <Override PartName="/ppt/media/image71.wmf" ContentType="image/x-wmf"/>
  <Override PartName="/ppt/media/image65.jpeg" ContentType="image/jpeg"/>
  <Override PartName="/ppt/media/image97.png" ContentType="image/png"/>
  <Override PartName="/ppt/media/image129.png" ContentType="image/png"/>
  <Override PartName="/ppt/media/image29.png" ContentType="image/png"/>
  <Override PartName="/ppt/media/image61.png" ContentType="image/png"/>
  <Override PartName="/ppt/media/image62.wmf" ContentType="image/x-wmf"/>
  <Override PartName="/ppt/media/image110.wmf" ContentType="image/x-wmf"/>
  <Override PartName="/ppt/media/image63.png" ContentType="image/png"/>
  <Override PartName="/ppt/media/image64.wmf" ContentType="image/x-wmf"/>
  <Override PartName="/ppt/media/image66.wmf" ContentType="image/x-wmf"/>
  <Override PartName="/ppt/media/image67.png" ContentType="image/png"/>
  <Override PartName="/ppt/media/image68.png" ContentType="image/png"/>
  <Override PartName="/ppt/media/image90.wmf" ContentType="image/x-wmf"/>
  <Override PartName="/ppt/media/image16.png" ContentType="image/png"/>
  <Override PartName="/ppt/media/image116.png" ContentType="image/png"/>
  <Override PartName="/ppt/media/image69.png" ContentType="image/png"/>
  <Override PartName="/ppt/media/image17.png" ContentType="image/png"/>
  <Override PartName="/ppt/media/image117.png" ContentType="image/png"/>
  <Override PartName="/ppt/media/image70.png" ContentType="image/png"/>
  <Override PartName="/ppt/media/image72.png" ContentType="image/png"/>
  <Override PartName="/ppt/media/image73.png" ContentType="image/png"/>
  <Override PartName="/ppt/media/image106.wmf" ContentType="image/x-wmf"/>
  <Override PartName="/ppt/media/image74.wmf" ContentType="image/x-wmf"/>
  <Override PartName="/ppt/media/image75.png" ContentType="image/png"/>
  <Override PartName="/ppt/media/image123.png" ContentType="image/png"/>
  <Override PartName="/ppt/media/image23.png" ContentType="image/png"/>
  <Override PartName="/ppt/media/image91.png" ContentType="image/png"/>
  <Override PartName="/ppt/media/image76.wmf" ContentType="image/x-wmf"/>
  <Override PartName="/ppt/media/image77.png" ContentType="image/png"/>
  <Override PartName="/ppt/media/image125.png" ContentType="image/png"/>
  <Override PartName="/ppt/media/image25.png" ContentType="image/png"/>
  <Override PartName="/ppt/media/image78.png" ContentType="image/png"/>
  <Override PartName="/ppt/media/image26.png" ContentType="image/png"/>
  <Override PartName="/ppt/media/image126.png" ContentType="image/png"/>
  <Override PartName="/ppt/media/image79.png" ContentType="image/png"/>
  <Override PartName="/ppt/media/image127.png" ContentType="image/png"/>
  <Override PartName="/ppt/media/image27.png" ContentType="image/png"/>
  <Override PartName="/ppt/media/image82.wmf" ContentType="image/x-wmf"/>
  <Override PartName="/ppt/media/image108.png" ContentType="image/png"/>
  <Override PartName="/ppt/media/image84.wmf" ContentType="image/x-wmf"/>
  <Override PartName="/ppt/media/image85.wmf" ContentType="image/x-wmf"/>
  <Override PartName="/ppt/media/image88.png" ContentType="image/png"/>
  <Override PartName="/ppt/media/image93.wmf" ContentType="image/x-wmf"/>
  <Override PartName="/ppt/media/image94.wmf" ContentType="image/x-wmf"/>
  <Override PartName="/ppt/media/image95.wmf" ContentType="image/x-wmf"/>
  <Override PartName="/ppt/media/image96.wmf" ContentType="image/x-wmf"/>
  <Override PartName="/ppt/media/image101.wmf" ContentType="image/x-wmf"/>
  <Override PartName="/ppt/media/image105.wmf" ContentType="image/x-wmf"/>
  <Override PartName="/ppt/media/image107.wmf" ContentType="image/x-wmf"/>
  <Override PartName="/ppt/media/image109.wmf" ContentType="image/x-wmf"/>
  <Override PartName="/ppt/media/image111.wmf" ContentType="image/x-wmf"/>
  <Override PartName="/ppt/media/image80.png" ContentType="image/png"/>
  <Override PartName="/ppt/media/image12.png" ContentType="image/png"/>
  <Override PartName="/ppt/media/image112.png" ContentType="image/png"/>
  <Override PartName="/ppt/media/image113.wmf" ContentType="image/x-wmf"/>
  <Override PartName="/ppt/media/image14.png" ContentType="image/png"/>
  <Override PartName="/ppt/media/image114.png" ContentType="image/png"/>
  <Override PartName="/ppt/media/image115.wmf" ContentType="image/x-wmf"/>
  <Override PartName="/ppt/media/image18.png" ContentType="image/png"/>
  <Override PartName="/ppt/media/image86.png" ContentType="image/png"/>
  <Override PartName="/ppt/media/image118.png" ContentType="image/png"/>
  <Override PartName="/ppt/media/image87.wmf" ContentType="image/x-wmf"/>
  <Override PartName="/ppt/media/image119.wmf" ContentType="image/x-wmf"/>
  <Override PartName="/ppt/media/image120.wmf" ContentType="image/x-wmf"/>
  <Override PartName="/ppt/media/image121.wmf" ContentType="image/x-wmf"/>
  <Override PartName="/ppt/media/image22.png" ContentType="image/png"/>
  <Override PartName="/ppt/media/image122.png" ContentType="image/png"/>
  <Override PartName="/ppt/media/image124.png" ContentType="image/png"/>
  <Override PartName="/ppt/media/image92.png" ContentType="image/png"/>
  <Override PartName="/ppt/media/image24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s/slide56.xml" ContentType="application/vnd.openxmlformats-officedocument.presentationml.slide+xml"/>
  <Override PartName="/ppt/slides/slide102.xml" ContentType="application/vnd.openxmlformats-officedocument.presentationml.slide+xml"/>
  <Override PartName="/ppt/slides/slide55.xml" ContentType="application/vnd.openxmlformats-officedocument.presentationml.slide+xml"/>
  <Override PartName="/ppt/slides/slide101.xml" ContentType="application/vnd.openxmlformats-officedocument.presentationml.slide+xml"/>
  <Override PartName="/ppt/slides/slide54.xml" ContentType="application/vnd.openxmlformats-officedocument.presentationml.slide+xml"/>
  <Override PartName="/ppt/slides/slide100.xml" ContentType="application/vnd.openxmlformats-officedocument.presentationml.slide+xml"/>
  <Override PartName="/ppt/slides/slide53.xml" ContentType="application/vnd.openxmlformats-officedocument.presentationml.slide+xml"/>
  <Override PartName="/ppt/slides/slide52.xml" ContentType="application/vnd.openxmlformats-officedocument.presentationml.slide+xml"/>
  <Override PartName="/ppt/slides/slide51.xml" ContentType="application/vnd.openxmlformats-officedocument.presentationml.slide+xml"/>
  <Override PartName="/ppt/slides/slide50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3.xml" ContentType="application/vnd.openxmlformats-officedocument.presentationml.slide+xml"/>
  <Override PartName="/ppt/slides/slide42.xml" ContentType="application/vnd.openxmlformats-officedocument.presentationml.slide+xml"/>
  <Override PartName="/ppt/slides/slide41.xml" ContentType="application/vnd.openxmlformats-officedocument.presentationml.slide+xml"/>
  <Override PartName="/ppt/slides/slide40.xml" ContentType="application/vnd.openxmlformats-officedocument.presentationml.slide+xml"/>
  <Override PartName="/ppt/slides/slide39.xml" ContentType="application/vnd.openxmlformats-officedocument.presentationml.slide+xml"/>
  <Override PartName="/ppt/slides/slide38.xml" ContentType="application/vnd.openxmlformats-officedocument.presentationml.slide+xml"/>
  <Override PartName="/ppt/slides/slide37.xml" ContentType="application/vnd.openxmlformats-officedocument.presentationml.slide+xml"/>
  <Override PartName="/ppt/slides/slide36.xml" ContentType="application/vnd.openxmlformats-officedocument.presentationml.slide+xml"/>
  <Override PartName="/ppt/slides/slide35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5.xml" ContentType="application/vnd.openxmlformats-officedocument.presentationml.slide+xml"/>
  <Override PartName="/ppt/slides/slide90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59.xml" ContentType="application/vnd.openxmlformats-officedocument.presentationml.slide+xml"/>
  <Override PartName="/ppt/slides/slide105.xml" ContentType="application/vnd.openxmlformats-officedocument.presentationml.slide+xml"/>
  <Override PartName="/ppt/slides/slide22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84.xml" ContentType="application/vnd.openxmlformats-officedocument.presentationml.slide+xml"/>
  <Override PartName="/ppt/slides/slide58.xml" ContentType="application/vnd.openxmlformats-officedocument.presentationml.slide+xml"/>
  <Override PartName="/ppt/slides/slide104.xml" ContentType="application/vnd.openxmlformats-officedocument.presentationml.slide+xml"/>
  <Override PartName="/ppt/slides/slide21.xml" ContentType="application/vnd.openxmlformats-officedocument.presentationml.slide+xml"/>
  <Override PartName="/ppt/slides/slide49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99.xml" ContentType="application/vnd.openxmlformats-officedocument.presentationml.slide+xml"/>
  <Override PartName="/ppt/slides/slide18.xml" ContentType="application/vnd.openxmlformats-officedocument.presentationml.slide+xml"/>
  <Override PartName="/ppt/slides/slide83.xml" ContentType="application/vnd.openxmlformats-officedocument.presentationml.slide+xml"/>
  <Override PartName="/ppt/slides/slide57.xml" ContentType="application/vnd.openxmlformats-officedocument.presentationml.slide+xml"/>
  <Override PartName="/ppt/slides/slide103.xml" ContentType="application/vnd.openxmlformats-officedocument.presentationml.slide+xml"/>
  <Override PartName="/ppt/slides/slide20.xml" ContentType="application/vnd.openxmlformats-officedocument.presentationml.slide+xml"/>
  <Override PartName="/ppt/slides/slide48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98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82.xml" ContentType="application/vnd.openxmlformats-officedocument.presentationml.slide+xml"/>
  <Override PartName="/ppt/slides/slide86.xml" ContentType="application/vnd.openxmlformats-officedocument.presentationml.slide+xml"/>
  <Override PartName="/ppt/slides/slide67.xml" ContentType="application/vnd.openxmlformats-officedocument.presentationml.slide+xml"/>
  <Override PartName="/ppt/slides/slide113.xml" ContentType="application/vnd.openxmlformats-officedocument.presentationml.slide+xml"/>
  <Override PartName="/ppt/slides/slide87.xml" ContentType="application/vnd.openxmlformats-officedocument.presentationml.slide+xml"/>
  <Override PartName="/ppt/slides/slide70.xml" ContentType="application/vnd.openxmlformats-officedocument.presentationml.slide+xml"/>
  <Override PartName="/ppt/slides/slide68.xml" ContentType="application/vnd.openxmlformats-officedocument.presentationml.slide+xml"/>
  <Override PartName="/ppt/slides/slide114.xml" ContentType="application/vnd.openxmlformats-officedocument.presentationml.slide+xml"/>
  <Override PartName="/ppt/slides/slide88.xml" ContentType="application/vnd.openxmlformats-officedocument.presentationml.slide+xml"/>
  <Override PartName="/ppt/slides/_rels/slide4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81.xml.rels" ContentType="application/vnd.openxmlformats-package.relationships+xml"/>
  <Override PartName="/ppt/slides/_rels/slide16.xml.rels" ContentType="application/vnd.openxmlformats-package.relationships+xml"/>
  <Override PartName="/ppt/slides/_rels/slide46.xml.rels" ContentType="application/vnd.openxmlformats-package.relationships+xml"/>
  <Override PartName="/ppt/slides/_rels/slide1.xml.rels" ContentType="application/vnd.openxmlformats-package.relationships+xml"/>
  <Override PartName="/ppt/slides/_rels/slide94.xml.rels" ContentType="application/vnd.openxmlformats-package.relationships+xml"/>
  <Override PartName="/ppt/slides/_rels/slide107.xml.rels" ContentType="application/vnd.openxmlformats-package.relationships+xml"/>
  <Override PartName="/ppt/slides/_rels/slide29.xml.rels" ContentType="application/vnd.openxmlformats-package.relationships+xml"/>
  <Override PartName="/ppt/slides/_rels/slide80.xml.rels" ContentType="application/vnd.openxmlformats-package.relationships+xml"/>
  <Override PartName="/ppt/slides/_rels/slide15.xml.rels" ContentType="application/vnd.openxmlformats-package.relationships+xml"/>
  <Override PartName="/ppt/slides/_rels/slide26.xml.rels" ContentType="application/vnd.openxmlformats-package.relationships+xml"/>
  <Override PartName="/ppt/slides/_rels/slide91.xml.rels" ContentType="application/vnd.openxmlformats-package.relationships+xml"/>
  <Override PartName="/ppt/slides/_rels/slide104.xml.rels" ContentType="application/vnd.openxmlformats-package.relationships+xml"/>
  <Override PartName="/ppt/slides/_rels/slide27.xml.rels" ContentType="application/vnd.openxmlformats-package.relationships+xml"/>
  <Override PartName="/ppt/slides/_rels/slide92.xml.rels" ContentType="application/vnd.openxmlformats-package.relationships+xml"/>
  <Override PartName="/ppt/slides/_rels/slide105.xml.rels" ContentType="application/vnd.openxmlformats-package.relationships+xml"/>
  <Override PartName="/ppt/slides/_rels/slide14.xml.rels" ContentType="application/vnd.openxmlformats-package.relationships+xml"/>
  <Override PartName="/ppt/slides/_rels/slide93.xml.rels" ContentType="application/vnd.openxmlformats-package.relationships+xml"/>
  <Override PartName="/ppt/slides/_rels/slide106.xml.rels" ContentType="application/vnd.openxmlformats-package.relationships+xml"/>
  <Override PartName="/ppt/slides/_rels/slide28.xml.rels" ContentType="application/vnd.openxmlformats-package.relationships+xml"/>
  <Override PartName="/ppt/slides/_rels/slide61.xml.rels" ContentType="application/vnd.openxmlformats-package.relationships+xml"/>
  <Override PartName="/ppt/slides/_rels/slide62.xml.rels" ContentType="application/vnd.openxmlformats-package.relationships+xml"/>
  <Override PartName="/ppt/slides/_rels/slide63.xml.rels" ContentType="application/vnd.openxmlformats-package.relationships+xml"/>
  <Override PartName="/ppt/slides/_rels/slide64.xml.rels" ContentType="application/vnd.openxmlformats-package.relationships+xml"/>
  <Override PartName="/ppt/slides/_rels/slide2.xml.rels" ContentType="application/vnd.openxmlformats-package.relationships+xml"/>
  <Override PartName="/ppt/slides/_rels/slide95.xml.rels" ContentType="application/vnd.openxmlformats-package.relationships+xml"/>
  <Override PartName="/ppt/slides/_rels/slide108.xml.rels" ContentType="application/vnd.openxmlformats-package.relationships+xml"/>
  <Override PartName="/ppt/slides/_rels/slide110.xml.rels" ContentType="application/vnd.openxmlformats-package.relationships+xml"/>
  <Override PartName="/ppt/slides/_rels/slide32.xml.rels" ContentType="application/vnd.openxmlformats-package.relationships+xml"/>
  <Override PartName="/ppt/slides/_rels/slide65.xml.rels" ContentType="application/vnd.openxmlformats-package.relationships+xml"/>
  <Override PartName="/ppt/slides/_rels/slide85.xml.rels" ContentType="application/vnd.openxmlformats-package.relationships+xml"/>
  <Override PartName="/ppt/slides/_rels/slide112.xml.rels" ContentType="application/vnd.openxmlformats-package.relationships+xml"/>
  <Override PartName="/ppt/slides/_rels/slide34.xml.rels" ContentType="application/vnd.openxmlformats-package.relationships+xml"/>
  <Override PartName="/ppt/slides/_rels/slide86.xml.rels" ContentType="application/vnd.openxmlformats-package.relationships+xml"/>
  <Override PartName="/ppt/slides/_rels/slide113.xml.rels" ContentType="application/vnd.openxmlformats-package.relationships+xml"/>
  <Override PartName="/ppt/slides/_rels/slide35.xml.rels" ContentType="application/vnd.openxmlformats-package.relationships+xml"/>
  <Override PartName="/ppt/slides/_rels/slide87.xml.rels" ContentType="application/vnd.openxmlformats-package.relationships+xml"/>
  <Override PartName="/ppt/slides/_rels/slide6.xml.rels" ContentType="application/vnd.openxmlformats-package.relationships+xml"/>
  <Override PartName="/ppt/slides/_rels/slide99.xml.rels" ContentType="application/vnd.openxmlformats-package.relationships+xml"/>
  <Override PartName="/ppt/slides/_rels/slide114.xml.rels" ContentType="application/vnd.openxmlformats-package.relationships+xml"/>
  <Override PartName="/ppt/slides/_rels/slide36.xml.rels" ContentType="application/vnd.openxmlformats-package.relationships+xml"/>
  <Override PartName="/ppt/slides/_rels/slide88.xml.rels" ContentType="application/vnd.openxmlformats-package.relationships+xml"/>
  <Override PartName="/ppt/slides/_rels/slide7.xml.rels" ContentType="application/vnd.openxmlformats-package.relationships+xml"/>
  <Override PartName="/ppt/slides/_rels/slide115.xml.rels" ContentType="application/vnd.openxmlformats-package.relationships+xml"/>
  <Override PartName="/ppt/slides/_rels/slide37.xml.rels" ContentType="application/vnd.openxmlformats-package.relationships+xml"/>
  <Override PartName="/ppt/slides/_rels/slide77.xml.rels" ContentType="application/vnd.openxmlformats-package.relationships+xml"/>
  <Override PartName="/ppt/slides/_rels/slide89.xml.rels" ContentType="application/vnd.openxmlformats-package.relationships+xml"/>
  <Override PartName="/ppt/slides/_rels/slide79.xml.rels" ContentType="application/vnd.openxmlformats-package.relationships+xml"/>
  <Override PartName="/ppt/slides/_rels/slide78.xml.rels" ContentType="application/vnd.openxmlformats-package.relationships+xml"/>
  <Override PartName="/ppt/slides/_rels/slide96.xml.rels" ContentType="application/vnd.openxmlformats-package.relationships+xml"/>
  <Override PartName="/ppt/slides/_rels/slide109.xml.rels" ContentType="application/vnd.openxmlformats-package.relationships+xml"/>
  <Override PartName="/ppt/slides/_rels/slide3.xml.rels" ContentType="application/vnd.openxmlformats-package.relationships+xml"/>
  <Override PartName="/ppt/slides/_rels/slide97.xml.rels" ContentType="application/vnd.openxmlformats-package.relationships+xml"/>
  <Override PartName="/ppt/slides/_rels/slide4.xml.rels" ContentType="application/vnd.openxmlformats-package.relationships+xml"/>
  <Override PartName="/ppt/slides/_rels/slide59.xml.rels" ContentType="application/vnd.openxmlformats-package.relationships+xml"/>
  <Override PartName="/ppt/slides/_rels/slide22.xml.rels" ContentType="application/vnd.openxmlformats-package.relationships+xml"/>
  <Override PartName="/ppt/slides/_rels/slide100.xml.rels" ContentType="application/vnd.openxmlformats-package.relationships+xml"/>
  <Override PartName="/ppt/slides/_rels/slide58.xml.rels" ContentType="application/vnd.openxmlformats-package.relationships+xml"/>
  <Override PartName="/ppt/slides/_rels/slide21.xml.rels" ContentType="application/vnd.openxmlformats-package.relationships+xml"/>
  <Override PartName="/ppt/slides/_rels/slide23.xml.rels" ContentType="application/vnd.openxmlformats-package.relationships+xml"/>
  <Override PartName="/ppt/slides/_rels/slide101.xml.rels" ContentType="application/vnd.openxmlformats-package.relationships+xml"/>
  <Override PartName="/ppt/slides/_rels/slide30.xml.rels" ContentType="application/vnd.openxmlformats-package.relationships+xml"/>
  <Override PartName="/ppt/slides/_rels/slide67.xml.rels" ContentType="application/vnd.openxmlformats-package.relationships+xml"/>
  <Override PartName="/ppt/slides/_rels/slide31.xml.rels" ContentType="application/vnd.openxmlformats-package.relationships+xml"/>
  <Override PartName="/ppt/slides/_rels/slide68.xml.rels" ContentType="application/vnd.openxmlformats-package.relationships+xml"/>
  <Override PartName="/ppt/slides/_rels/slide84.xml.rels" ContentType="application/vnd.openxmlformats-package.relationships+xml"/>
  <Override PartName="/ppt/slides/_rels/slide19.xml.rels" ContentType="application/vnd.openxmlformats-package.relationships+xml"/>
  <Override PartName="/ppt/slides/_rels/slide5.xml.rels" ContentType="application/vnd.openxmlformats-package.relationships+xml"/>
  <Override PartName="/ppt/slides/_rels/slide98.xml.rels" ContentType="application/vnd.openxmlformats-package.relationships+xml"/>
  <Override PartName="/ppt/slides/_rels/slide56.xml.rels" ContentType="application/vnd.openxmlformats-package.relationships+xml"/>
  <Override PartName="/ppt/slides/_rels/slide44.xml.rels" ContentType="application/vnd.openxmlformats-package.relationships+xml"/>
  <Override PartName="/ppt/slides/_rels/slide55.xml.rels" ContentType="application/vnd.openxmlformats-package.relationships+xml"/>
  <Override PartName="/ppt/slides/_rels/slide43.xml.rels" ContentType="application/vnd.openxmlformats-package.relationships+xml"/>
  <Override PartName="/ppt/slides/_rels/slide54.xml.rels" ContentType="application/vnd.openxmlformats-package.relationships+xml"/>
  <Override PartName="/ppt/slides/_rels/slide42.xml.rels" ContentType="application/vnd.openxmlformats-package.relationships+xml"/>
  <Override PartName="/ppt/slides/_rels/slide53.xml.rels" ContentType="application/vnd.openxmlformats-package.relationships+xml"/>
  <Override PartName="/ppt/slides/_rels/slide39.xml.rels" ContentType="application/vnd.openxmlformats-package.relationships+xml"/>
  <Override PartName="/ppt/slides/_rels/slide41.xml.rels" ContentType="application/vnd.openxmlformats-package.relationships+xml"/>
  <Override PartName="/ppt/slides/_rels/slide52.xml.rels" ContentType="application/vnd.openxmlformats-package.relationships+xml"/>
  <Override PartName="/ppt/slides/_rels/slide24.xml.rels" ContentType="application/vnd.openxmlformats-package.relationships+xml"/>
  <Override PartName="/ppt/slides/_rels/slide102.xml.rels" ContentType="application/vnd.openxmlformats-package.relationships+xml"/>
  <Override PartName="/ppt/slides/_rels/slide48.xml.rels" ContentType="application/vnd.openxmlformats-package.relationships+xml"/>
  <Override PartName="/ppt/slides/_rels/slide11.xml.rels" ContentType="application/vnd.openxmlformats-package.relationships+xml"/>
  <Override PartName="/ppt/slides/_rels/slide38.xml.rels" ContentType="application/vnd.openxmlformats-package.relationships+xml"/>
  <Override PartName="/ppt/slides/_rels/slide40.xml.rels" ContentType="application/vnd.openxmlformats-package.relationships+xml"/>
  <Override PartName="/ppt/slides/_rels/slide51.xml.rels" ContentType="application/vnd.openxmlformats-package.relationships+xml"/>
  <Override PartName="/ppt/slides/_rels/slide13.xml.rels" ContentType="application/vnd.openxmlformats-package.relationships+xml"/>
  <Override PartName="/ppt/slides/_rels/slide50.xml.rels" ContentType="application/vnd.openxmlformats-package.relationships+xml"/>
  <Override PartName="/ppt/slides/_rels/slide45.xml.rels" ContentType="application/vnd.openxmlformats-package.relationships+xml"/>
  <Override PartName="/ppt/slides/_rels/slide49.xml.rels" ContentType="application/vnd.openxmlformats-package.relationships+xml"/>
  <Override PartName="/ppt/slides/_rels/slide12.xml.rels" ContentType="application/vnd.openxmlformats-package.relationships+xml"/>
  <Override PartName="/ppt/slides/_rels/slide60.xml.rels" ContentType="application/vnd.openxmlformats-package.relationships+xml"/>
  <Override PartName="/ppt/slides/_rels/slide18.xml.rels" ContentType="application/vnd.openxmlformats-package.relationships+xml"/>
  <Override PartName="/ppt/slides/_rels/slide83.xml.rels" ContentType="application/vnd.openxmlformats-package.relationships+xml"/>
  <Override PartName="/ppt/slides/_rels/slide57.xml.rels" ContentType="application/vnd.openxmlformats-package.relationships+xml"/>
  <Override PartName="/ppt/slides/_rels/slide20.xml.rels" ContentType="application/vnd.openxmlformats-package.relationships+xml"/>
  <Override PartName="/ppt/slides/_rels/slide90.xml.rels" ContentType="application/vnd.openxmlformats-package.relationships+xml"/>
  <Override PartName="/ppt/slides/_rels/slide103.xml.rels" ContentType="application/vnd.openxmlformats-package.relationships+xml"/>
  <Override PartName="/ppt/slides/_rels/slide25.xml.rels" ContentType="application/vnd.openxmlformats-package.relationships+xml"/>
  <Override PartName="/ppt/slides/_rels/slide9.xml.rels" ContentType="application/vnd.openxmlformats-package.relationships+xml"/>
  <Override PartName="/ppt/slides/_rels/slide17.xml.rels" ContentType="application/vnd.openxmlformats-package.relationships+xml"/>
  <Override PartName="/ppt/slides/_rels/slide82.xml.rels" ContentType="application/vnd.openxmlformats-package.relationships+xml"/>
  <Override PartName="/ppt/slides/_rels/slide66.xml.rels" ContentType="application/vnd.openxmlformats-package.relationships+xml"/>
  <Override PartName="/ppt/slides/_rels/slide70.xml.rels" ContentType="application/vnd.openxmlformats-package.relationships+xml"/>
  <Override PartName="/ppt/slides/_rels/slide69.xml.rels" ContentType="application/vnd.openxmlformats-package.relationships+xml"/>
  <Override PartName="/ppt/slides/_rels/slide71.xml.rels" ContentType="application/vnd.openxmlformats-package.relationships+xml"/>
  <Override PartName="/ppt/slides/_rels/slide72.xml.rels" ContentType="application/vnd.openxmlformats-package.relationships+xml"/>
  <Override PartName="/ppt/slides/_rels/slide73.xml.rels" ContentType="application/vnd.openxmlformats-package.relationships+xml"/>
  <Override PartName="/ppt/slides/_rels/slide74.xml.rels" ContentType="application/vnd.openxmlformats-package.relationships+xml"/>
  <Override PartName="/ppt/slides/_rels/slide75.xml.rels" ContentType="application/vnd.openxmlformats-package.relationships+xml"/>
  <Override PartName="/ppt/slides/_rels/slide76.xml.rels" ContentType="application/vnd.openxmlformats-package.relationships+xml"/>
  <Override PartName="/ppt/slides/_rels/slide111.xml.rels" ContentType="application/vnd.openxmlformats-package.relationships+xml"/>
  <Override PartName="/ppt/slides/_rels/slide33.xml.rels" ContentType="application/vnd.openxmlformats-package.relationships+xml"/>
  <Override PartName="/ppt/slides/slide71.xml" ContentType="application/vnd.openxmlformats-officedocument.presentationml.slide+xml"/>
  <Override PartName="/ppt/slides/slide69.xml" ContentType="application/vnd.openxmlformats-officedocument.presentationml.slide+xml"/>
  <Override PartName="/ppt/slides/slide115.xml" ContentType="application/vnd.openxmlformats-officedocument.presentationml.slide+xml"/>
  <Override PartName="/ppt/slides/slide89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5.xml" ContentType="application/vnd.openxmlformats-officedocument.presentationml.slide+xml"/>
  <Override PartName="/ppt/slides/slide112.xml" ContentType="application/vnd.openxmlformats-officedocument.presentationml.slide+xml"/>
  <Override PartName="/ppt/slides/slide66.xml" ContentType="application/vnd.openxmlformats-officedocument.presentationml.slide+xml"/>
  <Override PartName="/ppt/slides/slide109.xml" ContentType="application/vnd.openxmlformats-officedocument.presentationml.slide+xml"/>
  <Override PartName="/ppt/slides/slide46.xml" ContentType="application/vnd.openxmlformats-officedocument.presentationml.slide+xml"/>
  <Override PartName="/ppt/slides/slide108.xml" ContentType="application/vnd.openxmlformats-officedocument.presentationml.slide+xml"/>
  <Override PartName="/ppt/slides/slide107.xml" ContentType="application/vnd.openxmlformats-officedocument.presentationml.slide+xml"/>
  <Override PartName="/ppt/slides/slide79.xml" ContentType="application/vnd.openxmlformats-officedocument.presentationml.slide+xml"/>
  <Override PartName="/ppt/slides/slide106.xml" ContentType="application/vnd.openxmlformats-officedocument.presentationml.slide+xml"/>
  <Override PartName="/ppt/slides/slide78.xml" ContentType="application/vnd.openxmlformats-officedocument.presentationml.slide+xml"/>
  <Override PartName="/ppt/slides/slide95.xml" ContentType="application/vnd.openxmlformats-officedocument.presentationml.slide+xml"/>
  <Override PartName="/ppt/slides/slide8.xml" ContentType="application/vnd.openxmlformats-officedocument.presentationml.slide+xml"/>
  <Override PartName="/ppt/slides/slide77.xml" ContentType="application/vnd.openxmlformats-officedocument.presentationml.slide+xml"/>
  <Override PartName="/ppt/slides/slide111.xml" ContentType="application/vnd.openxmlformats-officedocument.presentationml.slide+xml"/>
  <Override PartName="/ppt/slides/slide65.xml" ContentType="application/vnd.openxmlformats-officedocument.presentationml.slide+xml"/>
  <Override PartName="/ppt/slides/slide110.xml" ContentType="application/vnd.openxmlformats-officedocument.presentationml.slide+xml"/>
  <Override PartName="/ppt/slides/slide64.xml" ContentType="application/vnd.openxmlformats-officedocument.presentationml.slide+xml"/>
  <Override PartName="/ppt/slides/slide63.xml" ContentType="application/vnd.openxmlformats-officedocument.presentationml.slide+xml"/>
  <Override PartName="/ppt/slides/slide62.xml" ContentType="application/vnd.openxmlformats-officedocument.presentationml.slide+xml"/>
  <Override PartName="/ppt/slides/slide61.xml" ContentType="application/vnd.openxmlformats-officedocument.presentationml.slide+xml"/>
  <Override PartName="/ppt/slides/slide60.xml" ContentType="application/vnd.openxmlformats-officedocument.presentationml.slide+xml"/>
  <Override PartName="/ppt/slides/slide29.xml" ContentType="application/vnd.openxmlformats-officedocument.presentationml.slide+xml"/>
  <Override PartName="/ppt/slides/slide94.xml" ContentType="application/vnd.openxmlformats-officedocument.presentationml.slide+xml"/>
  <Override PartName="/ppt/slides/slide7.xml" ContentType="application/vnd.openxmlformats-officedocument.presentationml.slide+xml"/>
  <Override PartName="/ppt/slides/slide28.xml" ContentType="application/vnd.openxmlformats-officedocument.presentationml.slide+xml"/>
  <Override PartName="/ppt/slides/slide93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92.xml" ContentType="application/vnd.openxmlformats-officedocument.presentationml.slide+xml"/>
  <Override PartName="/ppt/slides/slide27.xml" ContentType="application/vnd.openxmlformats-officedocument.presentationml.slide+xml"/>
  <Override PartName="/ppt/slides/slide91.xml" ContentType="application/vnd.openxmlformats-officedocument.presentationml.slide+xml"/>
  <Override PartName="/ppt/slides/slide26.xml" ContentType="application/vnd.openxmlformats-officedocument.presentationml.slide+xml"/>
  <Override PartName="/ppt/slides/slide15.xml" ContentType="application/vnd.openxmlformats-officedocument.presentationml.slide+xml"/>
  <Override PartName="/ppt/slides/slide80.xml" ContentType="application/vnd.openxmlformats-officedocument.presentationml.slide+xml"/>
  <Override PartName="/ppt/slides/slide1.xml" ContentType="application/vnd.openxmlformats-officedocument.presentationml.slide+xml"/>
  <Override PartName="/ppt/slides/slide96.xml" ContentType="application/vnd.openxmlformats-officedocument.presentationml.slide+xml"/>
  <Override PartName="/ppt/slides/slide16.xml" ContentType="application/vnd.openxmlformats-officedocument.presentationml.slide+xml"/>
  <Override PartName="/ppt/slides/slide81.xml" ContentType="application/vnd.openxmlformats-officedocument.presentationml.slide+xml"/>
  <Override PartName="/ppt/slides/slide97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47.xml" ContentType="application/vnd.openxmlformats-officedocument.presentationml.slide+xml"/>
  <Override PartName="/ppt/notesSlides/notesSlide54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_rels/notesSlide4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76.xml.rels" ContentType="application/vnd.openxmlformats-package.relationships+xml"/>
  <Override PartName="/ppt/notesSlides/_rels/notesSlide58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77.xml.rels" ContentType="application/vnd.openxmlformats-package.relationships+xml"/>
  <Override PartName="/ppt/notesSlides/_rels/notesSlide59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78.xml.rels" ContentType="application/vnd.openxmlformats-package.relationships+xml"/>
  <Override PartName="/ppt/notesSlides/_rels/notesSlide79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90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91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3.xml.rels" ContentType="application/vnd.openxmlformats-package.relationships+xml"/>
  <Override PartName="/ppt/notesSlides/_rels/notesSlide64.xml.rels" ContentType="application/vnd.openxmlformats-package.relationships+xml"/>
  <Override PartName="/ppt/notesSlides/_rels/notesSlide65.xml.rels" ContentType="application/vnd.openxmlformats-package.relationships+xml"/>
  <Override PartName="/ppt/notesSlides/_rels/notesSlide66.xml.rels" ContentType="application/vnd.openxmlformats-package.relationships+xml"/>
  <Override PartName="/ppt/notesSlides/_rels/notesSlide67.xml.rels" ContentType="application/vnd.openxmlformats-package.relationships+xml"/>
  <Override PartName="/ppt/notesSlides/_rels/notesSlide68.xml.rels" ContentType="application/vnd.openxmlformats-package.relationships+xml"/>
  <Override PartName="/ppt/notesSlides/_rels/notesSlide70.xml.rels" ContentType="application/vnd.openxmlformats-package.relationships+xml"/>
  <Override PartName="/ppt/notesSlides/_rels/notesSlide106.xml.rels" ContentType="application/vnd.openxmlformats-package.relationships+xml"/>
  <Override PartName="/ppt/notesSlides/_rels/notesSlide88.xml.rels" ContentType="application/vnd.openxmlformats-package.relationships+xml"/>
  <Override PartName="/ppt/notesSlides/_rels/notesSlide71.xml.rels" ContentType="application/vnd.openxmlformats-package.relationships+xml"/>
  <Override PartName="/ppt/notesSlides/_rels/notesSlide69.xml.rels" ContentType="application/vnd.openxmlformats-package.relationships+xml"/>
  <Override PartName="/ppt/notesSlides/_rels/notesSlide107.xml.rels" ContentType="application/vnd.openxmlformats-package.relationships+xml"/>
  <Override PartName="/ppt/notesSlides/_rels/notesSlide89.xml.rels" ContentType="application/vnd.openxmlformats-package.relationships+xml"/>
  <Override PartName="/ppt/notesSlides/_rels/notesSlide72.xml.rels" ContentType="application/vnd.openxmlformats-package.relationships+xml"/>
  <Override PartName="/ppt/notesSlides/_rels/notesSlide108.xml.rels" ContentType="application/vnd.openxmlformats-package.relationships+xml"/>
  <Override PartName="/ppt/notesSlides/_rels/notesSlide110.xml.rels" ContentType="application/vnd.openxmlformats-package.relationships+xml"/>
  <Override PartName="/ppt/notesSlides/_rels/notesSlide8.xml.rels" ContentType="application/vnd.openxmlformats-package.relationships+xml"/>
  <Override PartName="/ppt/notesSlides/_rels/notesSlide92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109.xml.rels" ContentType="application/vnd.openxmlformats-package.relationships+xml"/>
  <Override PartName="/ppt/notesSlides/_rels/notesSlide62.xml.rels" ContentType="application/vnd.openxmlformats-package.relationships+xml"/>
  <Override PartName="/ppt/notesSlides/_rels/notesSlide99.xml.rels" ContentType="application/vnd.openxmlformats-package.relationships+xml"/>
  <Override PartName="/ppt/notesSlides/_rels/notesSlide84.xml.rels" ContentType="application/vnd.openxmlformats-package.relationships+xml"/>
  <Override PartName="/ppt/notesSlides/_rels/notesSlide102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100.xml.rels" ContentType="application/vnd.openxmlformats-package.relationships+xml"/>
  <Override PartName="/ppt/notesSlides/_rels/notesSlide82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61.xml.rels" ContentType="application/vnd.openxmlformats-package.relationships+xml"/>
  <Override PartName="/ppt/notesSlides/_rels/notesSlide114.xml.rels" ContentType="application/vnd.openxmlformats-package.relationships+xml"/>
  <Override PartName="/ppt/notesSlides/_rels/notesSlide96.xml.rels" ContentType="application/vnd.openxmlformats-package.relationships+xml"/>
  <Override PartName="/ppt/notesSlides/_rels/notesSlide98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11.xml.rels" ContentType="application/vnd.openxmlformats-package.relationships+xml"/>
  <Override PartName="/ppt/notesSlides/_rels/notesSlide93.xml.rels" ContentType="application/vnd.openxmlformats-package.relationships+xml"/>
  <Override PartName="/ppt/notesSlides/_rels/notesSlide28.xml.rels" ContentType="application/vnd.openxmlformats-package.relationships+xml"/>
  <Override PartName="/ppt/notesSlides/_rels/notesSlide47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49.xml.rels" ContentType="application/vnd.openxmlformats-package.relationships+xml"/>
  <Override PartName="/ppt/notesSlides/_rels/notesSlide30.xml.rels" ContentType="application/vnd.openxmlformats-package.relationships+xml"/>
  <Override PartName="/ppt/notesSlides/_rels/notesSlide31.xml.rels" ContentType="application/vnd.openxmlformats-package.relationships+xml"/>
  <Override PartName="/ppt/notesSlides/_rels/notesSlide32.xml.rels" ContentType="application/vnd.openxmlformats-package.relationships+xml"/>
  <Override PartName="/ppt/notesSlides/_rels/notesSlide33.xml.rels" ContentType="application/vnd.openxmlformats-package.relationships+xml"/>
  <Override PartName="/ppt/notesSlides/_rels/notesSlide34.xml.rels" ContentType="application/vnd.openxmlformats-package.relationships+xml"/>
  <Override PartName="/ppt/notesSlides/_rels/notesSlide35.xml.rels" ContentType="application/vnd.openxmlformats-package.relationships+xml"/>
  <Override PartName="/ppt/notesSlides/_rels/notesSlide36.xml.rels" ContentType="application/vnd.openxmlformats-package.relationships+xml"/>
  <Override PartName="/ppt/notesSlides/_rels/notesSlide37.xml.rels" ContentType="application/vnd.openxmlformats-package.relationships+xml"/>
  <Override PartName="/ppt/notesSlides/_rels/notesSlide54.xml.rels" ContentType="application/vnd.openxmlformats-package.relationships+xml"/>
  <Override PartName="/ppt/notesSlides/_rels/notesSlide42.xml.rels" ContentType="application/vnd.openxmlformats-package.relationships+xml"/>
  <Override PartName="/ppt/notesSlides/_rels/notesSlide53.xml.rels" ContentType="application/vnd.openxmlformats-package.relationships+xml"/>
  <Override PartName="/ppt/notesSlides/_rels/notesSlide52.xml.rels" ContentType="application/vnd.openxmlformats-package.relationships+xml"/>
  <Override PartName="/ppt/notesSlides/_rels/notesSlide38.xml.rels" ContentType="application/vnd.openxmlformats-package.relationships+xml"/>
  <Override PartName="/ppt/notesSlides/_rels/notesSlide40.xml.rels" ContentType="application/vnd.openxmlformats-package.relationships+xml"/>
  <Override PartName="/ppt/notesSlides/_rels/notesSlide51.xml.rels" ContentType="application/vnd.openxmlformats-package.relationships+xml"/>
  <Override PartName="/ppt/notesSlides/_rels/notesSlide48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50.xml.rels" ContentType="application/vnd.openxmlformats-package.relationships+xml"/>
  <Override PartName="/ppt/notesSlides/_rels/notesSlide105.xml.rels" ContentType="application/vnd.openxmlformats-package.relationships+xml"/>
  <Override PartName="/ppt/notesSlides/_rels/notesSlide87.xml.rels" ContentType="application/vnd.openxmlformats-package.relationships+xml"/>
  <Override PartName="/ppt/notesSlides/_rels/notesSlide41.xml.rels" ContentType="application/vnd.openxmlformats-package.relationships+xml"/>
  <Override PartName="/ppt/notesSlides/_rels/notesSlide39.xml.rels" ContentType="application/vnd.openxmlformats-package.relationships+xml"/>
  <Override PartName="/ppt/notesSlides/_rels/notesSlide46.xml.rels" ContentType="application/vnd.openxmlformats-package.relationships+xml"/>
  <Override PartName="/ppt/notesSlides/_rels/notesSlide45.xml.rels" ContentType="application/vnd.openxmlformats-package.relationships+xml"/>
  <Override PartName="/ppt/notesSlides/_rels/notesSlide44.xml.rels" ContentType="application/vnd.openxmlformats-package.relationships+xml"/>
  <Override PartName="/ppt/notesSlides/_rels/notesSlide43.xml.rels" ContentType="application/vnd.openxmlformats-package.relationships+xml"/>
  <Override PartName="/ppt/notesSlides/_rels/notesSlide56.xml.rels" ContentType="application/vnd.openxmlformats-package.relationships+xml"/>
  <Override PartName="/ppt/notesSlides/_rels/notesSlide74.xml.rels" ContentType="application/vnd.openxmlformats-package.relationships+xml"/>
  <Override PartName="/ppt/notesSlides/_rels/notesSlide55.xml.rels" ContentType="application/vnd.openxmlformats-package.relationships+xml"/>
  <Override PartName="/ppt/notesSlides/_rels/notesSlide73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80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81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57.xml.rels" ContentType="application/vnd.openxmlformats-package.relationships+xml"/>
  <Override PartName="/ppt/notesSlides/_rels/notesSlide1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75.xml.rels" ContentType="application/vnd.openxmlformats-package.relationships+xml"/>
  <Override PartName="/ppt/notesSlides/_rels/notesSlide95.xml.rels" ContentType="application/vnd.openxmlformats-package.relationships+xml"/>
  <Override PartName="/ppt/notesSlides/_rels/notesSlide113.xml.rels" ContentType="application/vnd.openxmlformats-package.relationships+xml"/>
  <Override PartName="/ppt/notesSlides/_rels/notesSlide60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83.xml.rels" ContentType="application/vnd.openxmlformats-package.relationships+xml"/>
  <Override PartName="/ppt/notesSlides/_rels/notesSlide101.xml.rels" ContentType="application/vnd.openxmlformats-package.relationships+xml"/>
  <Override PartName="/ppt/notesSlides/_rels/notesSlide103.xml.rels" ContentType="application/vnd.openxmlformats-package.relationships+xml"/>
  <Override PartName="/ppt/notesSlides/_rels/notesSlide85.xml.rels" ContentType="application/vnd.openxmlformats-package.relationships+xml"/>
  <Override PartName="/ppt/notesSlides/_rels/notesSlide104.xml.rels" ContentType="application/vnd.openxmlformats-package.relationships+xml"/>
  <Override PartName="/ppt/notesSlides/_rels/notesSlide86.xml.rels" ContentType="application/vnd.openxmlformats-package.relationships+xml"/>
  <Override PartName="/ppt/notesSlides/_rels/notesSlide94.xml.rels" ContentType="application/vnd.openxmlformats-package.relationships+xml"/>
  <Override PartName="/ppt/notesSlides/_rels/notesSlide29.xml.rels" ContentType="application/vnd.openxmlformats-package.relationships+xml"/>
  <Override PartName="/ppt/notesSlides/_rels/notesSlide112.xml.rels" ContentType="application/vnd.openxmlformats-package.relationships+xml"/>
  <Override PartName="/ppt/notesSlides/_rels/notesSlide97.xml.rels" ContentType="application/vnd.openxmlformats-package.relationships+xml"/>
  <Override PartName="/ppt/notesSlides/_rels/notesSlide115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8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li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k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o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v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sl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030F5B1D-2949-487B-B1FC-CB8E6AF06A90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59.xml.rels><?xml version="1.0" encoding="UTF-8"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
</Relationships>
</file>

<file path=ppt/notesSlides/_rels/notesSlide60.xml.rels><?xml version="1.0" encoding="UTF-8"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_rels/notesSlide63.xml.rels><?xml version="1.0" encoding="UTF-8"?>
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
</Relationships>
</file>

<file path=ppt/notesSlides/_rels/notesSlide64.xml.rels><?xml version="1.0" encoding="UTF-8"?>
<Relationships xmlns="http://schemas.openxmlformats.org/package/2006/relationships"><Relationship Id="rId1" Type="http://schemas.openxmlformats.org/officeDocument/2006/relationships/slide" Target="../slides/slide64.xml"/><Relationship Id="rId2" Type="http://schemas.openxmlformats.org/officeDocument/2006/relationships/notesMaster" Target="../notesMasters/notesMaster1.xml"/>
</Relationships>
</file>

<file path=ppt/notesSlides/_rels/notesSlide65.xml.rels><?xml version="1.0" encoding="UTF-8"?>
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
</Relationships>
</file>

<file path=ppt/notesSlides/_rels/notesSlide66.xml.rels><?xml version="1.0" encoding="UTF-8"?>
<Relationships xmlns="http://schemas.openxmlformats.org/package/2006/relationships"><Relationship Id="rId1" Type="http://schemas.openxmlformats.org/officeDocument/2006/relationships/slide" Target="../slides/slide66.xml"/><Relationship Id="rId2" Type="http://schemas.openxmlformats.org/officeDocument/2006/relationships/notesMaster" Target="../notesMasters/notesMaster1.xml"/>
</Relationships>
</file>

<file path=ppt/notesSlides/_rels/notesSlide67.xml.rels><?xml version="1.0" encoding="UTF-8"?>
<Relationships xmlns="http://schemas.openxmlformats.org/package/2006/relationships"><Relationship Id="rId1" Type="http://schemas.openxmlformats.org/officeDocument/2006/relationships/slide" Target="../slides/slide67.xml"/><Relationship Id="rId2" Type="http://schemas.openxmlformats.org/officeDocument/2006/relationships/notesMaster" Target="../notesMasters/notesMaster1.xml"/>
</Relationships>
</file>

<file path=ppt/notesSlides/_rels/notesSlide68.xml.rels><?xml version="1.0" encoding="UTF-8"?>
<Relationships xmlns="http://schemas.openxmlformats.org/package/2006/relationships"><Relationship Id="rId1" Type="http://schemas.openxmlformats.org/officeDocument/2006/relationships/slide" Target="../slides/slide68.xml"/><Relationship Id="rId2" Type="http://schemas.openxmlformats.org/officeDocument/2006/relationships/notesMaster" Target="../notesMasters/notesMaster1.xml"/>
</Relationships>
</file>

<file path=ppt/notesSlides/_rels/notesSlide69.xml.rels><?xml version="1.0" encoding="UTF-8"?>
<Relationships xmlns="http://schemas.openxmlformats.org/package/2006/relationships"><Relationship Id="rId1" Type="http://schemas.openxmlformats.org/officeDocument/2006/relationships/slide" Target="../slides/slide69.xml"/><Relationship Id="rId2" Type="http://schemas.openxmlformats.org/officeDocument/2006/relationships/notesMaster" Target="../notesMasters/notesMaster1.xml"/>
</Relationships>
</file>

<file path=ppt/notesSlides/_rels/notesSlide70.xml.rels><?xml version="1.0" encoding="UTF-8"?>
<Relationships xmlns="http://schemas.openxmlformats.org/package/2006/relationships"><Relationship Id="rId1" Type="http://schemas.openxmlformats.org/officeDocument/2006/relationships/slide" Target="../slides/slide70.xml"/><Relationship Id="rId2" Type="http://schemas.openxmlformats.org/officeDocument/2006/relationships/notesMaster" Target="../notesMasters/notesMaster1.xml"/>
</Relationships>
</file>

<file path=ppt/notesSlides/_rels/notesSlide71.xml.rels><?xml version="1.0" encoding="UTF-8"?>
<Relationships xmlns="http://schemas.openxmlformats.org/package/2006/relationships"><Relationship Id="rId1" Type="http://schemas.openxmlformats.org/officeDocument/2006/relationships/slide" Target="../slides/slide71.xml"/><Relationship Id="rId2" Type="http://schemas.openxmlformats.org/officeDocument/2006/relationships/notesMaster" Target="../notesMasters/notesMaster1.xml"/>
</Relationships>
</file>

<file path=ppt/notesSlides/_rels/notesSlide72.xml.rels><?xml version="1.0" encoding="UTF-8"?>
<Relationships xmlns="http://schemas.openxmlformats.org/package/2006/relationships"><Relationship Id="rId1" Type="http://schemas.openxmlformats.org/officeDocument/2006/relationships/slide" Target="../slides/slide72.xml"/><Relationship Id="rId2" Type="http://schemas.openxmlformats.org/officeDocument/2006/relationships/notesMaster" Target="../notesMasters/notesMaster1.xml"/>
</Relationships>
</file>

<file path=ppt/notesSlides/_rels/notesSlide73.xml.rels><?xml version="1.0" encoding="UTF-8"?>
<Relationships xmlns="http://schemas.openxmlformats.org/package/2006/relationships"><Relationship Id="rId1" Type="http://schemas.openxmlformats.org/officeDocument/2006/relationships/slide" Target="../slides/slide73.xml"/><Relationship Id="rId2" Type="http://schemas.openxmlformats.org/officeDocument/2006/relationships/notesMaster" Target="../notesMasters/notesMaster1.xml"/>
</Relationships>
</file>

<file path=ppt/notesSlides/_rels/notesSlide74.xml.rels><?xml version="1.0" encoding="UTF-8"?>
<Relationships xmlns="http://schemas.openxmlformats.org/package/2006/relationships"><Relationship Id="rId1" Type="http://schemas.openxmlformats.org/officeDocument/2006/relationships/slide" Target="../slides/slide74.xml"/><Relationship Id="rId2" Type="http://schemas.openxmlformats.org/officeDocument/2006/relationships/notesMaster" Target="../notesMasters/notesMaster1.xml"/>
</Relationships>
</file>

<file path=ppt/notesSlides/_rels/notesSlide75.xml.rels><?xml version="1.0" encoding="UTF-8"?>
<Relationships xmlns="http://schemas.openxmlformats.org/package/2006/relationships"><Relationship Id="rId1" Type="http://schemas.openxmlformats.org/officeDocument/2006/relationships/slide" Target="../slides/slide75.xml"/><Relationship Id="rId2" Type="http://schemas.openxmlformats.org/officeDocument/2006/relationships/notesMaster" Target="../notesMasters/notesMaster1.xml"/>
</Relationships>
</file>

<file path=ppt/notesSlides/_rels/notesSlide76.xml.rels><?xml version="1.0" encoding="UTF-8"?>
<Relationships xmlns="http://schemas.openxmlformats.org/package/2006/relationships"><Relationship Id="rId1" Type="http://schemas.openxmlformats.org/officeDocument/2006/relationships/slide" Target="../slides/slide76.xml"/><Relationship Id="rId2" Type="http://schemas.openxmlformats.org/officeDocument/2006/relationships/notesMaster" Target="../notesMasters/notesMaster1.xml"/>
</Relationships>
</file>

<file path=ppt/notesSlides/_rels/notesSlide77.xml.rels><?xml version="1.0" encoding="UTF-8"?>
<Relationships xmlns="http://schemas.openxmlformats.org/package/2006/relationships"><Relationship Id="rId1" Type="http://schemas.openxmlformats.org/officeDocument/2006/relationships/slide" Target="../slides/slide77.xml"/><Relationship Id="rId2" Type="http://schemas.openxmlformats.org/officeDocument/2006/relationships/notesMaster" Target="../notesMasters/notesMaster1.xml"/>
</Relationships>
</file>

<file path=ppt/notesSlides/_rels/notesSlide78.xml.rels><?xml version="1.0" encoding="UTF-8"?>
<Relationships xmlns="http://schemas.openxmlformats.org/package/2006/relationships"><Relationship Id="rId1" Type="http://schemas.openxmlformats.org/officeDocument/2006/relationships/slide" Target="../slides/slide78.xml"/><Relationship Id="rId2" Type="http://schemas.openxmlformats.org/officeDocument/2006/relationships/notesMaster" Target="../notesMasters/notesMaster1.xml"/>
</Relationships>
</file>

<file path=ppt/notesSlides/_rels/notesSlide79.xml.rels><?xml version="1.0" encoding="UTF-8"?>
<Relationships xmlns="http://schemas.openxmlformats.org/package/2006/relationships"><Relationship Id="rId1" Type="http://schemas.openxmlformats.org/officeDocument/2006/relationships/slide" Target="../slides/slide79.xml"/><Relationship Id="rId2" Type="http://schemas.openxmlformats.org/officeDocument/2006/relationships/notesMaster" Target="../notesMasters/notesMaster1.xml"/>
</Relationships>
</file>

<file path=ppt/notesSlides/_rels/notesSlide80.xml.rels><?xml version="1.0" encoding="UTF-8"?>
<Relationships xmlns="http://schemas.openxmlformats.org/package/2006/relationships"><Relationship Id="rId1" Type="http://schemas.openxmlformats.org/officeDocument/2006/relationships/slide" Target="../slides/slide80.xml"/><Relationship Id="rId2" Type="http://schemas.openxmlformats.org/officeDocument/2006/relationships/notesMaster" Target="../notesMasters/notesMaster1.xml"/>
</Relationships>
</file>

<file path=ppt/notesSlides/_rels/notesSlide81.xml.rels><?xml version="1.0" encoding="UTF-8"?>
<Relationships xmlns="http://schemas.openxmlformats.org/package/2006/relationships"><Relationship Id="rId1" Type="http://schemas.openxmlformats.org/officeDocument/2006/relationships/slide" Target="../slides/slide81.xml"/><Relationship Id="rId2" Type="http://schemas.openxmlformats.org/officeDocument/2006/relationships/notesMaster" Target="../notesMasters/notesMaster1.xml"/>
</Relationships>
</file>

<file path=ppt/notesSlides/_rels/notesSlide82.xml.rels><?xml version="1.0" encoding="UTF-8"?>
<Relationships xmlns="http://schemas.openxmlformats.org/package/2006/relationships"><Relationship Id="rId1" Type="http://schemas.openxmlformats.org/officeDocument/2006/relationships/slide" Target="../slides/slide82.xml"/><Relationship Id="rId2" Type="http://schemas.openxmlformats.org/officeDocument/2006/relationships/notesMaster" Target="../notesMasters/notesMaster1.xml"/>
</Relationships>
</file>

<file path=ppt/notesSlides/_rels/notesSlide83.xml.rels><?xml version="1.0" encoding="UTF-8"?>
<Relationships xmlns="http://schemas.openxmlformats.org/package/2006/relationships"><Relationship Id="rId1" Type="http://schemas.openxmlformats.org/officeDocument/2006/relationships/slide" Target="../slides/slide83.xml"/><Relationship Id="rId2" Type="http://schemas.openxmlformats.org/officeDocument/2006/relationships/notesMaster" Target="../notesMasters/notesMaster1.xml"/>
</Relationships>
</file>

<file path=ppt/notesSlides/_rels/notesSlide84.xml.rels><?xml version="1.0" encoding="UTF-8"?>
<Relationships xmlns="http://schemas.openxmlformats.org/package/2006/relationships"><Relationship Id="rId1" Type="http://schemas.openxmlformats.org/officeDocument/2006/relationships/slide" Target="../slides/slide84.xml"/><Relationship Id="rId2" Type="http://schemas.openxmlformats.org/officeDocument/2006/relationships/notesMaster" Target="../notesMasters/notesMaster1.xml"/>
</Relationships>
</file>

<file path=ppt/notesSlides/_rels/notesSlide85.xml.rels><?xml version="1.0" encoding="UTF-8"?>
<Relationships xmlns="http://schemas.openxmlformats.org/package/2006/relationships"><Relationship Id="rId1" Type="http://schemas.openxmlformats.org/officeDocument/2006/relationships/slide" Target="../slides/slide85.xml"/><Relationship Id="rId2" Type="http://schemas.openxmlformats.org/officeDocument/2006/relationships/notesMaster" Target="../notesMasters/notesMaster1.xml"/>
</Relationships>
</file>

<file path=ppt/notesSlides/_rels/notesSlide86.xml.rels><?xml version="1.0" encoding="UTF-8"?>
<Relationships xmlns="http://schemas.openxmlformats.org/package/2006/relationships"><Relationship Id="rId1" Type="http://schemas.openxmlformats.org/officeDocument/2006/relationships/slide" Target="../slides/slide86.xml"/><Relationship Id="rId2" Type="http://schemas.openxmlformats.org/officeDocument/2006/relationships/notesMaster" Target="../notesMasters/notesMaster1.xml"/>
</Relationships>
</file>

<file path=ppt/notesSlides/_rels/notesSlide87.xml.rels><?xml version="1.0" encoding="UTF-8"?>
<Relationships xmlns="http://schemas.openxmlformats.org/package/2006/relationships"><Relationship Id="rId1" Type="http://schemas.openxmlformats.org/officeDocument/2006/relationships/slide" Target="../slides/slide87.xml"/><Relationship Id="rId2" Type="http://schemas.openxmlformats.org/officeDocument/2006/relationships/notesMaster" Target="../notesMasters/notesMaster1.xml"/>
</Relationships>
</file>

<file path=ppt/notesSlides/_rels/notesSlide88.xml.rels><?xml version="1.0" encoding="UTF-8"?>
<Relationships xmlns="http://schemas.openxmlformats.org/package/2006/relationships"><Relationship Id="rId1" Type="http://schemas.openxmlformats.org/officeDocument/2006/relationships/slide" Target="../slides/slide88.xml"/><Relationship Id="rId2" Type="http://schemas.openxmlformats.org/officeDocument/2006/relationships/notesMaster" Target="../notesMasters/notesMaster1.xml"/>
</Relationships>
</file>

<file path=ppt/notesSlides/_rels/notesSlide89.xml.rels><?xml version="1.0" encoding="UTF-8"?>
<Relationships xmlns="http://schemas.openxmlformats.org/package/2006/relationships"><Relationship Id="rId1" Type="http://schemas.openxmlformats.org/officeDocument/2006/relationships/slide" Target="../slides/slide89.xml"/><Relationship Id="rId2" Type="http://schemas.openxmlformats.org/officeDocument/2006/relationships/notesMaster" Target="../notesMasters/notesMaster1.xml"/>
</Relationships>
</file>

<file path=ppt/notesSlides/_rels/notesSlide90.xml.rels><?xml version="1.0" encoding="UTF-8"?>
<Relationships xmlns="http://schemas.openxmlformats.org/package/2006/relationships"><Relationship Id="rId1" Type="http://schemas.openxmlformats.org/officeDocument/2006/relationships/slide" Target="../slides/slide90.xml"/><Relationship Id="rId2" Type="http://schemas.openxmlformats.org/officeDocument/2006/relationships/notesMaster" Target="../notesMasters/notesMaster1.xml"/>
</Relationships>
</file>

<file path=ppt/notesSlides/_rels/notesSlide91.xml.rels><?xml version="1.0" encoding="UTF-8"?>
<Relationships xmlns="http://schemas.openxmlformats.org/package/2006/relationships"><Relationship Id="rId1" Type="http://schemas.openxmlformats.org/officeDocument/2006/relationships/slide" Target="../slides/slide91.xml"/><Relationship Id="rId2" Type="http://schemas.openxmlformats.org/officeDocument/2006/relationships/notesMaster" Target="../notesMasters/notesMaster1.xml"/>
</Relationships>
</file>

<file path=ppt/notesSlides/_rels/notesSlide92.xml.rels><?xml version="1.0" encoding="UTF-8"?>
<Relationships xmlns="http://schemas.openxmlformats.org/package/2006/relationships"><Relationship Id="rId1" Type="http://schemas.openxmlformats.org/officeDocument/2006/relationships/slide" Target="../slides/slide92.xml"/><Relationship Id="rId2" Type="http://schemas.openxmlformats.org/officeDocument/2006/relationships/notesMaster" Target="../notesMasters/notesMaster1.xml"/>
</Relationships>
</file>

<file path=ppt/notesSlides/_rels/notesSlide93.xml.rels><?xml version="1.0" encoding="UTF-8"?>
<Relationships xmlns="http://schemas.openxmlformats.org/package/2006/relationships"><Relationship Id="rId1" Type="http://schemas.openxmlformats.org/officeDocument/2006/relationships/slide" Target="../slides/slide93.xml"/><Relationship Id="rId2" Type="http://schemas.openxmlformats.org/officeDocument/2006/relationships/notesMaster" Target="../notesMasters/notesMaster1.xml"/>
</Relationships>
</file>

<file path=ppt/notesSlides/_rels/notesSlide94.xml.rels><?xml version="1.0" encoding="UTF-8"?>
<Relationships xmlns="http://schemas.openxmlformats.org/package/2006/relationships"><Relationship Id="rId1" Type="http://schemas.openxmlformats.org/officeDocument/2006/relationships/slide" Target="../slides/slide94.xml"/><Relationship Id="rId2" Type="http://schemas.openxmlformats.org/officeDocument/2006/relationships/notesMaster" Target="../notesMasters/notesMaster1.xml"/>
</Relationships>
</file>

<file path=ppt/notesSlides/_rels/notesSlide95.xml.rels><?xml version="1.0" encoding="UTF-8"?>
<Relationships xmlns="http://schemas.openxmlformats.org/package/2006/relationships"><Relationship Id="rId1" Type="http://schemas.openxmlformats.org/officeDocument/2006/relationships/slide" Target="../slides/slide95.xml"/><Relationship Id="rId2" Type="http://schemas.openxmlformats.org/officeDocument/2006/relationships/notesMaster" Target="../notesMasters/notesMaster1.xml"/>
</Relationships>
</file>

<file path=ppt/notesSlides/_rels/notesSlide96.xml.rels><?xml version="1.0" encoding="UTF-8"?>
<Relationships xmlns="http://schemas.openxmlformats.org/package/2006/relationships"><Relationship Id="rId1" Type="http://schemas.openxmlformats.org/officeDocument/2006/relationships/slide" Target="../slides/slide96.xml"/><Relationship Id="rId2" Type="http://schemas.openxmlformats.org/officeDocument/2006/relationships/notesMaster" Target="../notesMasters/notesMaster1.xml"/>
</Relationships>
</file>

<file path=ppt/notesSlides/_rels/notesSlide97.xml.rels><?xml version="1.0" encoding="UTF-8"?>
<Relationships xmlns="http://schemas.openxmlformats.org/package/2006/relationships"><Relationship Id="rId1" Type="http://schemas.openxmlformats.org/officeDocument/2006/relationships/slide" Target="../slides/slide97.xml"/><Relationship Id="rId2" Type="http://schemas.openxmlformats.org/officeDocument/2006/relationships/notesMaster" Target="../notesMasters/notesMaster1.xml"/>
</Relationships>
</file>

<file path=ppt/notesSlides/_rels/notesSlide98.xml.rels><?xml version="1.0" encoding="UTF-8"?>
<Relationships xmlns="http://schemas.openxmlformats.org/package/2006/relationships"><Relationship Id="rId1" Type="http://schemas.openxmlformats.org/officeDocument/2006/relationships/slide" Target="../slides/slide98.xml"/><Relationship Id="rId2" Type="http://schemas.openxmlformats.org/officeDocument/2006/relationships/notesMaster" Target="../notesMasters/notesMaster1.xml"/>
</Relationships>
</file>

<file path=ppt/notesSlides/_rels/notesSlide99.xml.rels><?xml version="1.0" encoding="UTF-8"?>
<Relationships xmlns="http://schemas.openxmlformats.org/package/2006/relationships"><Relationship Id="rId1" Type="http://schemas.openxmlformats.org/officeDocument/2006/relationships/slide" Target="../slides/slide99.xml"/><Relationship Id="rId2" Type="http://schemas.openxmlformats.org/officeDocument/2006/relationships/notesMaster" Target="../notesMasters/notesMaster1.xml"/>
</Relationships>
</file>

<file path=ppt/notesSlides/_rels/notesSlide100.xml.rels><?xml version="1.0" encoding="UTF-8"?>
<Relationships xmlns="http://schemas.openxmlformats.org/package/2006/relationships"><Relationship Id="rId1" Type="http://schemas.openxmlformats.org/officeDocument/2006/relationships/slide" Target="../slides/slide100.xml"/><Relationship Id="rId2" Type="http://schemas.openxmlformats.org/officeDocument/2006/relationships/notesMaster" Target="../notesMasters/notesMaster1.xml"/>
</Relationships>
</file>

<file path=ppt/notesSlides/_rels/notesSlide101.xml.rels><?xml version="1.0" encoding="UTF-8"?>
<Relationships xmlns="http://schemas.openxmlformats.org/package/2006/relationships"><Relationship Id="rId1" Type="http://schemas.openxmlformats.org/officeDocument/2006/relationships/slide" Target="../slides/slide101.xml"/><Relationship Id="rId2" Type="http://schemas.openxmlformats.org/officeDocument/2006/relationships/notesMaster" Target="../notesMasters/notesMaster1.xml"/>
</Relationships>
</file>

<file path=ppt/notesSlides/_rels/notesSlide102.xml.rels><?xml version="1.0" encoding="UTF-8"?>
<Relationships xmlns="http://schemas.openxmlformats.org/package/2006/relationships"><Relationship Id="rId1" Type="http://schemas.openxmlformats.org/officeDocument/2006/relationships/slide" Target="../slides/slide102.xml"/><Relationship Id="rId2" Type="http://schemas.openxmlformats.org/officeDocument/2006/relationships/notesMaster" Target="../notesMasters/notesMaster1.xml"/>
</Relationships>
</file>

<file path=ppt/notesSlides/_rels/notesSlide103.xml.rels><?xml version="1.0" encoding="UTF-8"?>
<Relationships xmlns="http://schemas.openxmlformats.org/package/2006/relationships"><Relationship Id="rId1" Type="http://schemas.openxmlformats.org/officeDocument/2006/relationships/slide" Target="../slides/slide103.xml"/><Relationship Id="rId2" Type="http://schemas.openxmlformats.org/officeDocument/2006/relationships/notesMaster" Target="../notesMasters/notesMaster1.xml"/>
</Relationships>
</file>

<file path=ppt/notesSlides/_rels/notesSlide104.xml.rels><?xml version="1.0" encoding="UTF-8"?>
<Relationships xmlns="http://schemas.openxmlformats.org/package/2006/relationships"><Relationship Id="rId1" Type="http://schemas.openxmlformats.org/officeDocument/2006/relationships/slide" Target="../slides/slide104.xml"/><Relationship Id="rId2" Type="http://schemas.openxmlformats.org/officeDocument/2006/relationships/notesMaster" Target="../notesMasters/notesMaster1.xml"/>
</Relationships>
</file>

<file path=ppt/notesSlides/_rels/notesSlide105.xml.rels><?xml version="1.0" encoding="UTF-8"?>
<Relationships xmlns="http://schemas.openxmlformats.org/package/2006/relationships"><Relationship Id="rId1" Type="http://schemas.openxmlformats.org/officeDocument/2006/relationships/slide" Target="../slides/slide105.xml"/><Relationship Id="rId2" Type="http://schemas.openxmlformats.org/officeDocument/2006/relationships/notesMaster" Target="../notesMasters/notesMaster1.xml"/>
</Relationships>
</file>

<file path=ppt/notesSlides/_rels/notesSlide106.xml.rels><?xml version="1.0" encoding="UTF-8"?>
<Relationships xmlns="http://schemas.openxmlformats.org/package/2006/relationships"><Relationship Id="rId1" Type="http://schemas.openxmlformats.org/officeDocument/2006/relationships/slide" Target="../slides/slide106.xml"/><Relationship Id="rId2" Type="http://schemas.openxmlformats.org/officeDocument/2006/relationships/notesMaster" Target="../notesMasters/notesMaster1.xml"/>
</Relationships>
</file>

<file path=ppt/notesSlides/_rels/notesSlide107.xml.rels><?xml version="1.0" encoding="UTF-8"?>
<Relationships xmlns="http://schemas.openxmlformats.org/package/2006/relationships"><Relationship Id="rId1" Type="http://schemas.openxmlformats.org/officeDocument/2006/relationships/slide" Target="../slides/slide107.xml"/><Relationship Id="rId2" Type="http://schemas.openxmlformats.org/officeDocument/2006/relationships/notesMaster" Target="../notesMasters/notesMaster1.xml"/>
</Relationships>
</file>

<file path=ppt/notesSlides/_rels/notesSlide108.xml.rels><?xml version="1.0" encoding="UTF-8"?>
<Relationships xmlns="http://schemas.openxmlformats.org/package/2006/relationships"><Relationship Id="rId1" Type="http://schemas.openxmlformats.org/officeDocument/2006/relationships/slide" Target="../slides/slide108.xml"/><Relationship Id="rId2" Type="http://schemas.openxmlformats.org/officeDocument/2006/relationships/notesMaster" Target="../notesMasters/notesMaster1.xml"/>
</Relationships>
</file>

<file path=ppt/notesSlides/_rels/notesSlide109.xml.rels><?xml version="1.0" encoding="UTF-8"?>
<Relationships xmlns="http://schemas.openxmlformats.org/package/2006/relationships"><Relationship Id="rId1" Type="http://schemas.openxmlformats.org/officeDocument/2006/relationships/slide" Target="../slides/slide109.xml"/><Relationship Id="rId2" Type="http://schemas.openxmlformats.org/officeDocument/2006/relationships/notesMaster" Target="../notesMasters/notesMaster1.xml"/>
</Relationships>
</file>

<file path=ppt/notesSlides/_rels/notesSlide110.xml.rels><?xml version="1.0" encoding="UTF-8"?>
<Relationships xmlns="http://schemas.openxmlformats.org/package/2006/relationships"><Relationship Id="rId1" Type="http://schemas.openxmlformats.org/officeDocument/2006/relationships/slide" Target="../slides/slide110.xml"/><Relationship Id="rId2" Type="http://schemas.openxmlformats.org/officeDocument/2006/relationships/notesMaster" Target="../notesMasters/notesMaster1.xml"/>
</Relationships>
</file>

<file path=ppt/notesSlides/_rels/notesSlide111.xml.rels><?xml version="1.0" encoding="UTF-8"?>
<Relationships xmlns="http://schemas.openxmlformats.org/package/2006/relationships"><Relationship Id="rId1" Type="http://schemas.openxmlformats.org/officeDocument/2006/relationships/slide" Target="../slides/slide111.xml"/><Relationship Id="rId2" Type="http://schemas.openxmlformats.org/officeDocument/2006/relationships/notesMaster" Target="../notesMasters/notesMaster1.xml"/>
</Relationships>
</file>

<file path=ppt/notesSlides/_rels/notesSlide112.xml.rels><?xml version="1.0" encoding="UTF-8"?>
<Relationships xmlns="http://schemas.openxmlformats.org/package/2006/relationships"><Relationship Id="rId1" Type="http://schemas.openxmlformats.org/officeDocument/2006/relationships/slide" Target="../slides/slide112.xml"/><Relationship Id="rId2" Type="http://schemas.openxmlformats.org/officeDocument/2006/relationships/notesMaster" Target="../notesMasters/notesMaster1.xml"/>
</Relationships>
</file>

<file path=ppt/notesSlides/_rels/notesSlide113.xml.rels><?xml version="1.0" encoding="UTF-8"?>
<Relationships xmlns="http://schemas.openxmlformats.org/package/2006/relationships"><Relationship Id="rId1" Type="http://schemas.openxmlformats.org/officeDocument/2006/relationships/slide" Target="../slides/slide113.xml"/><Relationship Id="rId2" Type="http://schemas.openxmlformats.org/officeDocument/2006/relationships/notesMaster" Target="../notesMasters/notesMaster1.xml"/>
</Relationships>
</file>

<file path=ppt/notesSlides/_rels/notesSlide114.xml.rels><?xml version="1.0" encoding="UTF-8"?>
<Relationships xmlns="http://schemas.openxmlformats.org/package/2006/relationships"><Relationship Id="rId1" Type="http://schemas.openxmlformats.org/officeDocument/2006/relationships/slide" Target="../slides/slide114.xml"/><Relationship Id="rId2" Type="http://schemas.openxmlformats.org/officeDocument/2006/relationships/notesMaster" Target="../notesMasters/notesMaster1.xml"/>
</Relationships>
</file>

<file path=ppt/notesSlides/_rels/notesSlide115.xml.rels><?xml version="1.0" encoding="UTF-8"?>
<Relationships xmlns="http://schemas.openxmlformats.org/package/2006/relationships"><Relationship Id="rId1" Type="http://schemas.openxmlformats.org/officeDocument/2006/relationships/slide" Target="../slides/slide1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6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D680D7A-7352-46E3-90B3-B7350C95A9B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9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F00CF12-E251-4DB2-87F0-A1BE78375AC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2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99F3BAD-9E52-40BA-A243-ED52996FBCC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5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D4F45D8-3AF4-41DF-A725-644E08A1FFD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8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6EC6C0D-852B-4D53-AA1E-DD2767AD6B6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1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9612983-F5A6-4973-8A76-616DE4A1FF2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4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7159DAE-6D0D-4E04-A024-9F85CD1D6D8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7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94354DB-9007-4DB2-8FCD-17BC94273D1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0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ACE29B1-8B7F-4BB9-8896-6CA468815DC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3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552A8DE-F89F-4DF1-B1B4-4865078647F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6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763B20C-BBFF-4794-92B7-0ACCBE42CE2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9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1004291-F97B-41FB-B67C-36DDF3803C2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2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6D93023-1AC2-40FC-BC61-CD615684CAD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5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05593A8-8512-43AB-8036-EA2735D0385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8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6BE5911-408B-4145-8775-6958290EAA2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1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DEE080A-3714-48D6-A7DA-3B20FC4E96B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4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AC90946-A875-4F1E-831C-BB4EF93F5E5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7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F94AE3F-09F5-4091-A310-47743ED5C37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0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774C47A-99C8-470B-9AC9-8FA2B42C075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3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21BEA05-0F53-49C3-9E43-C201731BE5C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6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DD017EB-236E-451E-B70D-5B28F69795A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9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AE8BF1E-B633-4A8B-B2AE-EBFC721A73C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2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B200C60-55BC-4BDB-94FC-8D4E27E9817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5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F3D295C-A135-4B35-8A60-51F88FF2D46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8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FC82FF4-D7E8-426A-96D1-1555DEEE9C8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1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5D4A456-D863-43A2-AB9C-95B161559EB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4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BE026E0-6E4F-4001-8868-2D942EDF372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7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B0935F5-F56A-42F1-89B0-2162C727ACD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0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3FDB013-0F22-4AE0-9D5C-6CE08D454F4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3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0A12C99-22D4-49E8-AC4E-9611BB30AB1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6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4B88B29-B843-4D0E-A0A1-B5720C4BA78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9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8DB99C7-1159-4D98-8663-BE9326BA0D2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2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1A04978-0208-4FB4-8CDD-1134BB03794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5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C4B774A-1984-4818-80BE-6BA71676440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8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78FE105-B756-4341-AC30-563C33C0F93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1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E36FA3D-AF64-48C4-8AE9-90A03726CD3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4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9A484D1-586E-48EF-80D3-263AC649326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7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91AB595-1B3E-4FDE-B501-05567D090BE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0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A175A01-0813-4127-9B1B-105E2FA088E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3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6209122-73E8-4ED2-893C-08CED191198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6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64E978F-5BCC-43D8-8C30-5BCBD437DA3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9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92C9F9F-B163-464F-98DF-D230946646B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2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DBE1D19-7998-4FEA-ADED-413528E7A53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5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F2654EB-FB11-44CF-83D7-59EBF702F91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8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9170110-E414-4FDF-9026-073C4591A0D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1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329B099-6AB3-4490-916F-8F4D41267F5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4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E7A5D1E-383B-4FF5-A5A7-E88C75A5C8B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7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7791304-37AA-4322-9709-F53F39F7C7B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0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BE57E52-00D0-43E0-9561-FC6FEC40109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3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06AC9A7-14C8-4076-B4AF-65A41A5CC96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6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DF197D5-7050-4A7F-B8BE-B505F84E2D4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9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3BF863D-9FF4-4CAD-AD22-EDFA83E014A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2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BEFA023-E017-43AB-B36B-86C76C730FB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5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E80AD61-B874-454F-BF06-6BCCD2342FF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8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56BE966-FF08-4BF6-A799-40734ADCA00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1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608F468-6842-4CCE-B7C5-D38EB075CC6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4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87A0950-C09B-42E6-AE89-788E7B7B324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7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CA5963E-046C-4883-8986-AA3DB1291EB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0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AAAF545-6333-4262-8F63-CFAFDAB465E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3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F60D9A9-0284-49D3-8A80-C436DCDD8C5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6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EF5BCB6-301F-4AC8-BA7B-76EE385C6E4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9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182347A-ACC1-4C69-B736-8F4E7376E1B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2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984476A-2A2D-463E-8050-35A5BAE41D5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5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FFA95F0-4CC1-43A2-B862-FE9B73703D2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8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D592B89-AF7B-4F15-8D1B-17966F3D9D5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C3CB084-8D4D-4FAC-8FB0-0CC1920104E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4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E5BA491-526F-4B9A-B2D9-970F40F7AE0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7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4A56E91-7B45-402F-9E72-F135A4D5437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0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E8AE5C7-4096-4068-BDA5-7CE59CACED2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3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50B68F8-0331-40A9-8F63-E6A7857A110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6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55F3627-4317-47C0-A775-F2C7373E1B5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9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0A99718-5FAD-4AD7-B80B-28CBA1DF2A0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2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6FDC65F-E6C6-4367-B2C9-91DDD56B659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5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5412345-B965-433D-91A7-F6D42C3D67E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8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33E94DB-B412-47B4-9DBD-F40B3633750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1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F0A34C9-74D3-40BF-95F9-09F9F411CB6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4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B0E9D62-4058-4AEE-B14D-9E59DFA3792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7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6896B07-B96C-4BA4-BAF1-13429103C27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0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6BA438F-D6DB-4253-8657-063058409BB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3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3C10FE2-DD54-459C-9153-36F7C31EBED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6" name="PlaceHolder 3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58FFD82-14D5-4D36-8300-719936235A2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9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1D07FCA-2CFD-4AEF-A658-03AE890958C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2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3DC3118-0F95-4679-AD70-C8603F2B7F5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5" name="PlaceHolder 3"/>
          <p:cNvSpPr>
            <a:spLocks noGrp="1"/>
          </p:cNvSpPr>
          <p:nvPr>
            <p:ph type="sldNum" idx="8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C7CAA22-140C-41F3-B7CD-7744433FDEF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8" name="PlaceHolder 3"/>
          <p:cNvSpPr>
            <a:spLocks noGrp="1"/>
          </p:cNvSpPr>
          <p:nvPr>
            <p:ph type="sldNum" idx="8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A3C2BF9-01D9-4725-B5E5-0E293A60540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1" name="PlaceHolder 3"/>
          <p:cNvSpPr>
            <a:spLocks noGrp="1"/>
          </p:cNvSpPr>
          <p:nvPr>
            <p:ph type="sldNum" idx="8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F24DEDE-F32E-41C9-8AC9-D2547B52B13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4" name="PlaceHolder 3"/>
          <p:cNvSpPr>
            <a:spLocks noGrp="1"/>
          </p:cNvSpPr>
          <p:nvPr>
            <p:ph type="sldNum" idx="9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E57C7B1-94A1-4412-AE8A-99A98C742EA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7" name="PlaceHolder 3"/>
          <p:cNvSpPr>
            <a:spLocks noGrp="1"/>
          </p:cNvSpPr>
          <p:nvPr>
            <p:ph type="sldNum" idx="9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900F9CD-1361-40B0-A2D3-81AC08C0D85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0" name="PlaceHolder 3"/>
          <p:cNvSpPr>
            <a:spLocks noGrp="1"/>
          </p:cNvSpPr>
          <p:nvPr>
            <p:ph type="sldNum" idx="9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B12EF43-C597-41C1-A8DE-78D6C19338B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3" name="PlaceHolder 3"/>
          <p:cNvSpPr>
            <a:spLocks noGrp="1"/>
          </p:cNvSpPr>
          <p:nvPr>
            <p:ph type="sldNum" idx="9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2CC612F-168C-415F-9B65-44BAF7B1E2E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6" name="PlaceHolder 3"/>
          <p:cNvSpPr>
            <a:spLocks noGrp="1"/>
          </p:cNvSpPr>
          <p:nvPr>
            <p:ph type="sldNum" idx="9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EC1F64E-71B2-43F1-AFBE-0B1B94F1989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9" name="PlaceHolder 3"/>
          <p:cNvSpPr>
            <a:spLocks noGrp="1"/>
          </p:cNvSpPr>
          <p:nvPr>
            <p:ph type="sldNum" idx="9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8DCABE0-34AE-4580-B8C1-6173D328274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9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2" name="PlaceHolder 3"/>
          <p:cNvSpPr>
            <a:spLocks noGrp="1"/>
          </p:cNvSpPr>
          <p:nvPr>
            <p:ph type="sldNum" idx="9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E390E32-A279-4688-AB18-A77095FBB90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9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5" name="PlaceHolder 3"/>
          <p:cNvSpPr>
            <a:spLocks noGrp="1"/>
          </p:cNvSpPr>
          <p:nvPr>
            <p:ph type="sldNum" idx="9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6116C77-0725-4637-BB1F-C08DF169ED9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9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8" name="PlaceHolder 3"/>
          <p:cNvSpPr>
            <a:spLocks noGrp="1"/>
          </p:cNvSpPr>
          <p:nvPr>
            <p:ph type="sldNum" idx="9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66F4BD2-51DD-43A1-995E-B83C7361C1F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9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1" name="PlaceHolder 3"/>
          <p:cNvSpPr>
            <a:spLocks noGrp="1"/>
          </p:cNvSpPr>
          <p:nvPr>
            <p:ph type="sldNum" idx="9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5C8D84B-525B-4B43-897F-25F5EA042C5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9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4" name="PlaceHolder 3"/>
          <p:cNvSpPr>
            <a:spLocks noGrp="1"/>
          </p:cNvSpPr>
          <p:nvPr>
            <p:ph type="sldNum" idx="10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E5AB7B1-E95D-4EB9-8A57-8A523755942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9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7" name="PlaceHolder 3"/>
          <p:cNvSpPr>
            <a:spLocks noGrp="1"/>
          </p:cNvSpPr>
          <p:nvPr>
            <p:ph type="sldNum" idx="10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395AD78-C371-4DE3-9E0F-5596F425F90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9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0" name="PlaceHolder 3"/>
          <p:cNvSpPr>
            <a:spLocks noGrp="1"/>
          </p:cNvSpPr>
          <p:nvPr>
            <p:ph type="sldNum" idx="10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6867E78-11F7-4E8C-8D62-171D3B42063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9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3" name="PlaceHolder 3"/>
          <p:cNvSpPr>
            <a:spLocks noGrp="1"/>
          </p:cNvSpPr>
          <p:nvPr>
            <p:ph type="sldNum" idx="10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22A8F9F-DF5C-4DEF-B2E5-3741369006A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9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6" name="PlaceHolder 3"/>
          <p:cNvSpPr>
            <a:spLocks noGrp="1"/>
          </p:cNvSpPr>
          <p:nvPr>
            <p:ph type="sldNum" idx="10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DFD512F-A8BA-4CFC-AC2F-4057DD0CCCB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9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9" name="PlaceHolder 3"/>
          <p:cNvSpPr>
            <a:spLocks noGrp="1"/>
          </p:cNvSpPr>
          <p:nvPr>
            <p:ph type="sldNum" idx="10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760BAEB-5D2E-43D2-B2B1-B6508697A3E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9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2" name="PlaceHolder 3"/>
          <p:cNvSpPr>
            <a:spLocks noGrp="1"/>
          </p:cNvSpPr>
          <p:nvPr>
            <p:ph type="sldNum" idx="10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530F31B-8AEA-4DA4-9FDD-119A7D29123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9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5" name="PlaceHolder 3"/>
          <p:cNvSpPr>
            <a:spLocks noGrp="1"/>
          </p:cNvSpPr>
          <p:nvPr>
            <p:ph type="sldNum" idx="10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909F056-85AD-485E-955F-394145BE860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9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8" name="PlaceHolder 3"/>
          <p:cNvSpPr>
            <a:spLocks noGrp="1"/>
          </p:cNvSpPr>
          <p:nvPr>
            <p:ph type="sldNum" idx="10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CAB5069-A066-4F4A-8881-887C9948B57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9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1" name="PlaceHolder 3"/>
          <p:cNvSpPr>
            <a:spLocks noGrp="1"/>
          </p:cNvSpPr>
          <p:nvPr>
            <p:ph type="sldNum" idx="10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A19101D-F068-4F81-B78A-0387A9F644B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9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4" name="PlaceHolder 3"/>
          <p:cNvSpPr>
            <a:spLocks noGrp="1"/>
          </p:cNvSpPr>
          <p:nvPr>
            <p:ph type="sldNum" idx="11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D587B37-4088-4037-A775-E2B9D8762DF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9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7" name="PlaceHolder 3"/>
          <p:cNvSpPr>
            <a:spLocks noGrp="1"/>
          </p:cNvSpPr>
          <p:nvPr>
            <p:ph type="sldNum" idx="11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A54853E-2CC0-4D65-B481-9E11159296A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9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0" name="PlaceHolder 3"/>
          <p:cNvSpPr>
            <a:spLocks noGrp="1"/>
          </p:cNvSpPr>
          <p:nvPr>
            <p:ph type="sldNum" idx="11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F06D5C3-CE15-42A1-93D3-55D434CDBF4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9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3" name="PlaceHolder 3"/>
          <p:cNvSpPr>
            <a:spLocks noGrp="1"/>
          </p:cNvSpPr>
          <p:nvPr>
            <p:ph type="sldNum" idx="11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14B3042-CFC9-4AA6-AF9B-BABFD260227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9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6" name="PlaceHolder 3"/>
          <p:cNvSpPr>
            <a:spLocks noGrp="1"/>
          </p:cNvSpPr>
          <p:nvPr>
            <p:ph type="sldNum" idx="11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C414C77-CCA8-47FB-8AF9-D468DBC3940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9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9" name="PlaceHolder 3"/>
          <p:cNvSpPr>
            <a:spLocks noGrp="1"/>
          </p:cNvSpPr>
          <p:nvPr>
            <p:ph type="sldNum" idx="11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D8F607E-B97B-417B-BE0C-FDEA83A4F69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9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2" name="PlaceHolder 3"/>
          <p:cNvSpPr>
            <a:spLocks noGrp="1"/>
          </p:cNvSpPr>
          <p:nvPr>
            <p:ph type="sldNum" idx="11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1C063ED-C30B-406E-824B-62C0E76ACD3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9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5" name="PlaceHolder 3"/>
          <p:cNvSpPr>
            <a:spLocks noGrp="1"/>
          </p:cNvSpPr>
          <p:nvPr>
            <p:ph type="sldNum" idx="11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74B78B6-1568-49AC-90B2-86F779D6782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9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8" name="PlaceHolder 3"/>
          <p:cNvSpPr>
            <a:spLocks noGrp="1"/>
          </p:cNvSpPr>
          <p:nvPr>
            <p:ph type="sldNum" idx="11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830FAC5-9047-49AC-8D38-A91FEDC541E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oleObject" Target="../embeddings/oleObject1.bin"/><Relationship Id="rId3" Type="http://schemas.openxmlformats.org/officeDocument/2006/relationships/image" Target="../media/image1.wmf"/><Relationship Id="rId4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0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2" spid="">
              <p:embed/>
              <p:pic>
                <p:nvPicPr>
                  <p:cNvPr id="1" name="think-cell data - do not delete" descr=""/>
                  <p:cNvPicPr/>
                  <p:nvPr/>
                </p:nvPicPr>
                <p:blipFill>
                  <a:blip r:embed="rId3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37.wmf"/><Relationship Id="rId3" Type="http://schemas.openxmlformats.org/officeDocument/2006/relationships/image" Target="../media/image36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4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4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41.png"/><Relationship Id="rId2" Type="http://schemas.openxmlformats.org/officeDocument/2006/relationships/image" Target="../media/image4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43.png"/><Relationship Id="rId2" Type="http://schemas.openxmlformats.org/officeDocument/2006/relationships/image" Target="../media/image4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4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4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47.wmf"/><Relationship Id="rId3" Type="http://schemas.openxmlformats.org/officeDocument/2006/relationships/image" Target="../media/image48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4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5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5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52.wmf"/><Relationship Id="rId3" Type="http://schemas.openxmlformats.org/officeDocument/2006/relationships/image" Target="../media/image5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54.wmf"/><Relationship Id="rId3" Type="http://schemas.openxmlformats.org/officeDocument/2006/relationships/image" Target="../media/image5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56.wmf"/><Relationship Id="rId3" Type="http://schemas.openxmlformats.org/officeDocument/2006/relationships/image" Target="../media/image5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58.wmf"/><Relationship Id="rId3" Type="http://schemas.openxmlformats.org/officeDocument/2006/relationships/image" Target="../media/image59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60.wmf"/><Relationship Id="rId3" Type="http://schemas.openxmlformats.org/officeDocument/2006/relationships/image" Target="../media/image6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62.wmf"/><Relationship Id="rId3" Type="http://schemas.openxmlformats.org/officeDocument/2006/relationships/image" Target="../media/image6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64.wmf"/><Relationship Id="rId3" Type="http://schemas.openxmlformats.org/officeDocument/2006/relationships/image" Target="../media/image65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66.wmf"/><Relationship Id="rId3" Type="http://schemas.openxmlformats.org/officeDocument/2006/relationships/image" Target="../media/image67.png"/><Relationship Id="rId4" Type="http://schemas.openxmlformats.org/officeDocument/2006/relationships/image" Target="../media/image6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69.png"/><Relationship Id="rId2" Type="http://schemas.openxmlformats.org/officeDocument/2006/relationships/image" Target="../media/image7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71.wmf"/><Relationship Id="rId3" Type="http://schemas.openxmlformats.org/officeDocument/2006/relationships/image" Target="../media/image72.png"/><Relationship Id="rId4" Type="http://schemas.openxmlformats.org/officeDocument/2006/relationships/image" Target="../media/image7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74.wmf"/><Relationship Id="rId3" Type="http://schemas.openxmlformats.org/officeDocument/2006/relationships/image" Target="../media/image7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76.wmf"/><Relationship Id="rId3" Type="http://schemas.openxmlformats.org/officeDocument/2006/relationships/image" Target="../media/image7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image" Target="../media/image7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image" Target="../media/image7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image" Target="../media/image7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image" Target="../media/image8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image" Target="../media/image8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82.wmf"/><Relationship Id="rId3" Type="http://schemas.openxmlformats.org/officeDocument/2006/relationships/image" Target="../media/image8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4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84.wmf"/><Relationship Id="rId3" Type="http://schemas.openxmlformats.org/officeDocument/2006/relationships/image" Target="../media/image50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5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85.wmf"/><Relationship Id="rId3" Type="http://schemas.openxmlformats.org/officeDocument/2006/relationships/image" Target="../media/image86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87.wmf"/><Relationship Id="rId3" Type="http://schemas.openxmlformats.org/officeDocument/2006/relationships/image" Target="../media/image88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89.wmf"/><Relationship Id="rId3" Type="http://schemas.openxmlformats.org/officeDocument/2006/relationships/image" Target="../media/image88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8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90.wmf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9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93.wmf"/><Relationship Id="rId3" Type="http://schemas.openxmlformats.org/officeDocument/2006/relationships/image" Target="../media/image6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0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94.wmf"/><Relationship Id="rId3" Type="http://schemas.openxmlformats.org/officeDocument/2006/relationships/image" Target="../media/image6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1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95.wmf"/><Relationship Id="rId3" Type="http://schemas.openxmlformats.org/officeDocument/2006/relationships/image" Target="../media/image6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2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96.wmf"/><Relationship Id="rId3" Type="http://schemas.openxmlformats.org/officeDocument/2006/relationships/image" Target="../media/image9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3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98.wmf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4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99.wmf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5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100.wmf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6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101.wmf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7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102.wmf"/><Relationship Id="rId3" Type="http://schemas.openxmlformats.org/officeDocument/2006/relationships/image" Target="../media/image10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8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104.wmf"/><Relationship Id="rId3" Type="http://schemas.openxmlformats.org/officeDocument/2006/relationships/image" Target="../media/image10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9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105.wmf"/><Relationship Id="rId3" Type="http://schemas.openxmlformats.org/officeDocument/2006/relationships/image" Target="../media/image10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0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106.wmf"/><Relationship Id="rId3" Type="http://schemas.openxmlformats.org/officeDocument/2006/relationships/image" Target="../media/image10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1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107.wmf"/><Relationship Id="rId3" Type="http://schemas.openxmlformats.org/officeDocument/2006/relationships/image" Target="../media/image108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2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109.wmf"/><Relationship Id="rId3" Type="http://schemas.openxmlformats.org/officeDocument/2006/relationships/image" Target="../media/image6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3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110.wmf"/><Relationship Id="rId3" Type="http://schemas.openxmlformats.org/officeDocument/2006/relationships/image" Target="../media/image6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4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111.wmf"/><Relationship Id="rId3" Type="http://schemas.openxmlformats.org/officeDocument/2006/relationships/image" Target="../media/image11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5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113.wmf"/><Relationship Id="rId3" Type="http://schemas.openxmlformats.org/officeDocument/2006/relationships/image" Target="../media/image114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6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115.wmf"/><Relationship Id="rId3" Type="http://schemas.openxmlformats.org/officeDocument/2006/relationships/image" Target="../media/image1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7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image" Target="../media/image11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image" Target="../media/image1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
</Relationships>
</file>

<file path=ppt/slides/_rels/slide100.xml.rels><?xml version="1.0" encoding="UTF-8"?>
<Relationships xmlns="http://schemas.openxmlformats.org/package/2006/relationships"><Relationship Id="rId1" Type="http://schemas.openxmlformats.org/officeDocument/2006/relationships/image" Target="../media/image11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
</Relationships>
</file>

<file path=ppt/slides/_rels/slide101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119.wmf"/><Relationship Id="rId3" Type="http://schemas.openxmlformats.org/officeDocument/2006/relationships/image" Target="../media/image118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1.xml"/>
</Relationships>
</file>

<file path=ppt/slides/_rels/slide102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120.wmf"/><Relationship Id="rId3" Type="http://schemas.openxmlformats.org/officeDocument/2006/relationships/image" Target="../media/image6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2.xml"/>
</Relationships>
</file>

<file path=ppt/slides/_rels/slide103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121.wmf"/><Relationship Id="rId3" Type="http://schemas.openxmlformats.org/officeDocument/2006/relationships/image" Target="../media/image12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3.xml"/>
</Relationships>
</file>

<file path=ppt/slides/_rels/slide104.xml.rels><?xml version="1.0" encoding="UTF-8"?>
<Relationships xmlns="http://schemas.openxmlformats.org/package/2006/relationships"><Relationship Id="rId1" Type="http://schemas.openxmlformats.org/officeDocument/2006/relationships/image" Target="../media/image65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
</Relationships>
</file>

<file path=ppt/slides/_rels/slide105.xml.rels><?xml version="1.0" encoding="UTF-8"?>
<Relationships xmlns="http://schemas.openxmlformats.org/package/2006/relationships"><Relationship Id="rId1" Type="http://schemas.openxmlformats.org/officeDocument/2006/relationships/image" Target="../media/image12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
</Relationships>
</file>

<file path=ppt/slides/_rels/slide106.xml.rels><?xml version="1.0" encoding="UTF-8"?>
<Relationships xmlns="http://schemas.openxmlformats.org/package/2006/relationships"><Relationship Id="rId1" Type="http://schemas.openxmlformats.org/officeDocument/2006/relationships/image" Target="../media/image12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
</Relationships>
</file>

<file path=ppt/slides/_rels/slide107.xml.rels><?xml version="1.0" encoding="UTF-8"?>
<Relationships xmlns="http://schemas.openxmlformats.org/package/2006/relationships"><Relationship Id="rId1" Type="http://schemas.openxmlformats.org/officeDocument/2006/relationships/image" Target="../media/image12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
</Relationships>
</file>

<file path=ppt/slides/_rels/slide108.xml.rels><?xml version="1.0" encoding="UTF-8"?>
<Relationships xmlns="http://schemas.openxmlformats.org/package/2006/relationships"><Relationship Id="rId1" Type="http://schemas.openxmlformats.org/officeDocument/2006/relationships/image" Target="../media/image12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
</Relationships>
</file>

<file path=ppt/slides/_rels/slide109.xml.rels><?xml version="1.0" encoding="UTF-8"?>
<Relationships xmlns="http://schemas.openxmlformats.org/package/2006/relationships"><Relationship Id="rId1" Type="http://schemas.openxmlformats.org/officeDocument/2006/relationships/image" Target="../media/image12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
</Relationships>
</file>

<file path=ppt/slides/_rels/slide110.xml.rels><?xml version="1.0" encoding="UTF-8"?>
<Relationships xmlns="http://schemas.openxmlformats.org/package/2006/relationships"><Relationship Id="rId1" Type="http://schemas.openxmlformats.org/officeDocument/2006/relationships/image" Target="../media/image12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
</Relationships>
</file>

<file path=ppt/slides/_rels/slide111.xml.rels><?xml version="1.0" encoding="UTF-8"?>
<Relationships xmlns="http://schemas.openxmlformats.org/package/2006/relationships"><Relationship Id="rId1" Type="http://schemas.openxmlformats.org/officeDocument/2006/relationships/image" Target="../media/image12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
</Relationships>
</file>

<file path=ppt/slides/_rels/slide112.xml.rels><?xml version="1.0" encoding="UTF-8"?>
<Relationships xmlns="http://schemas.openxmlformats.org/package/2006/relationships"><Relationship Id="rId1" Type="http://schemas.openxmlformats.org/officeDocument/2006/relationships/image" Target="../media/image12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
</Relationships>
</file>

<file path=ppt/slides/_rels/slide113.xml.rels><?xml version="1.0" encoding="UTF-8"?>
<Relationships xmlns="http://schemas.openxmlformats.org/package/2006/relationships"><Relationship Id="rId1" Type="http://schemas.openxmlformats.org/officeDocument/2006/relationships/image" Target="../media/image12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
</Relationships>
</file>

<file path=ppt/slides/_rels/slide114.xml.rels><?xml version="1.0" encoding="UTF-8"?>
<Relationships xmlns="http://schemas.openxmlformats.org/package/2006/relationships"><Relationship Id="rId1" Type="http://schemas.openxmlformats.org/officeDocument/2006/relationships/image" Target="../media/image12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
</Relationships>
</file>

<file path=ppt/slides/_rels/slide115.xml.rels><?xml version="1.0" encoding="UTF-8"?>
<Relationships xmlns="http://schemas.openxmlformats.org/package/2006/relationships"><Relationship Id="rId1" Type="http://schemas.openxmlformats.org/officeDocument/2006/relationships/image" Target="../media/image12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457200" y="731520"/>
            <a:ext cx="82278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800" spc="-1" strike="noStrike">
                <a:solidFill>
                  <a:srgbClr val="00e5a0"/>
                </a:solidFill>
                <a:latin typeface="Georgia"/>
                <a:ea typeface="Georgia"/>
              </a:rPr>
              <a:t>MEMORY PALACE</a:t>
            </a:r>
            <a:endParaRPr b="0" lang="en-US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457200" y="1645920"/>
            <a:ext cx="82278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e8ecf1"/>
                </a:solidFill>
                <a:latin typeface="Calibri"/>
                <a:ea typeface="Calibri"/>
              </a:rPr>
              <a:t>Chemical Engineering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457200" y="2286000"/>
            <a:ext cx="8227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7b8ca8"/>
                </a:solidFill>
                <a:latin typeface="Calibri"/>
                <a:ea typeface="Calibri"/>
              </a:rPr>
              <a:t>Object → Concept → Equation → Recall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1828800" y="3108960"/>
            <a:ext cx="1644120" cy="912600"/>
          </a:xfrm>
          <a:prstGeom prst="rect">
            <a:avLst/>
          </a:prstGeom>
          <a:solidFill>
            <a:srgbClr val="141c2f"/>
          </a:solidFill>
          <a:ln w="1270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1828800" y="3154680"/>
            <a:ext cx="164412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000" spc="-1" strike="noStrike">
                <a:solidFill>
                  <a:srgbClr val="00e5a0"/>
                </a:solidFill>
                <a:latin typeface="Arial Black"/>
                <a:ea typeface="Arial Black"/>
              </a:rPr>
              <a:t>114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1828800" y="3611880"/>
            <a:ext cx="1644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b8ca8"/>
                </a:solidFill>
                <a:latin typeface="Calibri"/>
                <a:ea typeface="Calibri"/>
              </a:rPr>
              <a:t>Concepts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3657600" y="3108960"/>
            <a:ext cx="1644120" cy="912600"/>
          </a:xfrm>
          <a:prstGeom prst="rect">
            <a:avLst/>
          </a:prstGeom>
          <a:solidFill>
            <a:srgbClr val="141c2f"/>
          </a:solidFill>
          <a:ln w="1270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3657600" y="3154680"/>
            <a:ext cx="164412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000" spc="-1" strike="noStrike">
                <a:solidFill>
                  <a:srgbClr val="00e5a0"/>
                </a:solidFill>
                <a:latin typeface="Arial Black"/>
                <a:ea typeface="Arial Black"/>
              </a:rPr>
              <a:t>114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3657600" y="3611880"/>
            <a:ext cx="1644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b8ca8"/>
                </a:solidFill>
                <a:latin typeface="Calibri"/>
                <a:ea typeface="Calibri"/>
              </a:rPr>
              <a:t>Objects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9"/>
          <p:cNvSpPr/>
          <p:nvPr/>
        </p:nvSpPr>
        <p:spPr>
          <a:xfrm>
            <a:off x="5486400" y="3108960"/>
            <a:ext cx="1644120" cy="912600"/>
          </a:xfrm>
          <a:prstGeom prst="rect">
            <a:avLst/>
          </a:prstGeom>
          <a:solidFill>
            <a:srgbClr val="141c2f"/>
          </a:solidFill>
          <a:ln w="1270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5486400" y="3154680"/>
            <a:ext cx="164412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000" spc="-1" strike="noStrike">
                <a:solidFill>
                  <a:srgbClr val="00e5a0"/>
                </a:solidFill>
                <a:latin typeface="Arial Black"/>
                <a:ea typeface="Arial Black"/>
              </a:rPr>
              <a:t>9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5486400" y="3611880"/>
            <a:ext cx="1644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b8ca8"/>
                </a:solidFill>
                <a:latin typeface="Calibri"/>
                <a:ea typeface="Calibri"/>
              </a:rPr>
              <a:t>Subjects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Text 12"/>
          <p:cNvSpPr/>
          <p:nvPr/>
        </p:nvSpPr>
        <p:spPr>
          <a:xfrm>
            <a:off x="457200" y="4389120"/>
            <a:ext cx="8227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7b8ca8"/>
                </a:solidFill>
                <a:latin typeface="Calibri"/>
                <a:ea typeface="Calibri"/>
              </a:rPr>
              <a:t>Each slide: Object image + labeled visual metaphor + ONE key equation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Iterative Solutions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🎮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Table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8" name="Image 0" descr="preencoded.png"/>
          <p:cNvPicPr/>
          <p:nvPr/>
        </p:nvPicPr>
        <p:blipFill>
          <a:blip r:embed="rId1"/>
          <a:stretch/>
        </p:blipFill>
        <p:spPr>
          <a:xfrm>
            <a:off x="3200400" y="822960"/>
            <a:ext cx="2284200" cy="2284200"/>
          </a:xfrm>
          <a:prstGeom prst="rect">
            <a:avLst/>
          </a:prstGeom>
          <a:ln w="0">
            <a:noFill/>
          </a:ln>
        </p:spPr>
      </p:pic>
      <p:sp>
        <p:nvSpPr>
          <p:cNvPr id="29" name="Shape 5"/>
          <p:cNvSpPr/>
          <p:nvPr/>
        </p:nvSpPr>
        <p:spPr>
          <a:xfrm>
            <a:off x="457200" y="324612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Text 6"/>
          <p:cNvSpPr/>
          <p:nvPr/>
        </p:nvSpPr>
        <p:spPr>
          <a:xfrm>
            <a:off x="548640" y="324612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xₙ</a:t>
            </a:r>
            <a:r>
              <a:rPr b="1" lang="en-US" sz="1500" spc="-1" strike="noStrike">
                <a:solidFill>
                  <a:srgbClr val="ffd93d"/>
                </a:solidFill>
                <a:latin typeface="Consolas"/>
                <a:ea typeface="Consolas"/>
              </a:rPr>
              <a:t>+</a:t>
            </a: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₁ = xₙ − f(xₙ) / f'(xₙ)   [Newton-Raphson]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7"/>
          <p:cNvSpPr/>
          <p:nvPr/>
        </p:nvSpPr>
        <p:spPr>
          <a:xfrm>
            <a:off x="274320" y="374904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Text 8"/>
          <p:cNvSpPr/>
          <p:nvPr/>
        </p:nvSpPr>
        <p:spPr>
          <a:xfrm>
            <a:off x="365760" y="374904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2000" spc="-1" strike="noStrike">
                <a:solidFill>
                  <a:srgbClr val="00e5a0"/>
                </a:solidFill>
                <a:latin typeface="Calibri"/>
                <a:ea typeface="Calibri"/>
              </a:rPr>
              <a:t>TABLE adjusts its legs (</a:t>
            </a:r>
            <a:r>
              <a:rPr b="1" i="1" lang="en-US" sz="2000" spc="-1" strike="noStrike">
                <a:solidFill>
                  <a:srgbClr val="00e5a0"/>
                </a:solidFill>
                <a:latin typeface="Calibri"/>
                <a:ea typeface="Calibri"/>
              </a:rPr>
              <a:t>iterations</a:t>
            </a:r>
            <a:r>
              <a:rPr b="0" i="1" lang="en-US" sz="2000" spc="-1" strike="noStrike">
                <a:solidFill>
                  <a:srgbClr val="00e5a0"/>
                </a:solidFill>
                <a:latin typeface="Calibri"/>
                <a:ea typeface="Calibri"/>
              </a:rPr>
              <a:t>) until perfectly level (</a:t>
            </a:r>
            <a:r>
              <a:rPr b="1" i="1" lang="en-US" sz="2000" spc="-1" strike="noStrike">
                <a:solidFill>
                  <a:srgbClr val="00e5a0"/>
                </a:solidFill>
                <a:latin typeface="Calibri"/>
                <a:ea typeface="Calibri"/>
              </a:rPr>
              <a:t>residual → 0</a:t>
            </a:r>
            <a:r>
              <a:rPr b="0" i="1" lang="en-US" sz="2000" spc="-1" strike="noStrike">
                <a:solidFill>
                  <a:srgbClr val="00e5a0"/>
                </a:solidFill>
                <a:latin typeface="Calibri"/>
                <a:ea typeface="Calibri"/>
              </a:rPr>
              <a:t>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9"/>
          <p:cNvSpPr/>
          <p:nvPr/>
        </p:nvSpPr>
        <p:spPr>
          <a:xfrm>
            <a:off x="3337560" y="224028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Shape 10"/>
          <p:cNvSpPr/>
          <p:nvPr/>
        </p:nvSpPr>
        <p:spPr>
          <a:xfrm>
            <a:off x="2468880" y="1206720"/>
            <a:ext cx="914400" cy="107928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Leg 1 = iteration 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Each table leg adjustment is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one N-R iteration step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13"/>
          <p:cNvSpPr/>
          <p:nvPr/>
        </p:nvSpPr>
        <p:spPr>
          <a:xfrm>
            <a:off x="3611880" y="251460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Shape 14"/>
          <p:cNvSpPr/>
          <p:nvPr/>
        </p:nvSpPr>
        <p:spPr>
          <a:xfrm>
            <a:off x="2468880" y="1938240"/>
            <a:ext cx="1188720" cy="62208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Text 15"/>
          <p:cNvSpPr/>
          <p:nvPr/>
        </p:nvSpPr>
        <p:spPr>
          <a:xfrm>
            <a:off x="274320" y="182880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Leg 2 = iteration 2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Text 16"/>
          <p:cNvSpPr/>
          <p:nvPr/>
        </p:nvSpPr>
        <p:spPr>
          <a:xfrm>
            <a:off x="274320" y="204840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Refine root estimate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with each step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17"/>
          <p:cNvSpPr/>
          <p:nvPr/>
        </p:nvSpPr>
        <p:spPr>
          <a:xfrm>
            <a:off x="4983480" y="132588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Shape 18"/>
          <p:cNvSpPr/>
          <p:nvPr/>
        </p:nvSpPr>
        <p:spPr>
          <a:xfrm flipH="1">
            <a:off x="5029200" y="1206720"/>
            <a:ext cx="91440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19"/>
          <p:cNvSpPr/>
          <p:nvPr/>
        </p:nvSpPr>
        <p:spPr>
          <a:xfrm>
            <a:off x="594360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Flat top = converged!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Text 20"/>
          <p:cNvSpPr/>
          <p:nvPr/>
        </p:nvSpPr>
        <p:spPr>
          <a:xfrm>
            <a:off x="594360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Stable table = |xₙ</a:t>
            </a:r>
            <a:r>
              <a:rPr b="0" lang="en-US" sz="1000" spc="-1" strike="noStrike" baseline="-8000">
                <a:solidFill>
                  <a:srgbClr val="e8ecf1"/>
                </a:solidFill>
                <a:latin typeface="Calibri"/>
                <a:ea typeface="Calibri"/>
              </a:rPr>
              <a:t>+</a:t>
            </a: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₁ − xₙ| &lt; ε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Residual reached zero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Manometry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🛁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Bathtub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50" name="Image 0" descr="preencoded.png"/>
          <p:cNvPicPr/>
          <p:nvPr/>
        </p:nvPicPr>
        <p:blipFill>
          <a:blip r:embed="rId1"/>
          <a:stretch/>
        </p:blipFill>
        <p:spPr>
          <a:xfrm>
            <a:off x="2743200" y="777240"/>
            <a:ext cx="3198600" cy="2558520"/>
          </a:xfrm>
          <a:prstGeom prst="rect">
            <a:avLst/>
          </a:prstGeom>
          <a:ln w="0">
            <a:noFill/>
          </a:ln>
        </p:spPr>
      </p:pic>
      <p:sp>
        <p:nvSpPr>
          <p:cNvPr id="51" name="Shape 5"/>
          <p:cNvSpPr/>
          <p:nvPr/>
        </p:nvSpPr>
        <p:spPr>
          <a:xfrm>
            <a:off x="457200" y="347472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6"/>
          <p:cNvSpPr/>
          <p:nvPr/>
        </p:nvSpPr>
        <p:spPr>
          <a:xfrm>
            <a:off x="548640" y="347472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d93d"/>
                </a:solidFill>
                <a:latin typeface="Consolas"/>
                <a:ea typeface="Consolas"/>
              </a:rPr>
              <a:t>ΔP = ρ·g·h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Shape 7"/>
          <p:cNvSpPr/>
          <p:nvPr/>
        </p:nvSpPr>
        <p:spPr>
          <a:xfrm>
            <a:off x="274320" y="397764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Text 8"/>
          <p:cNvSpPr/>
          <p:nvPr/>
        </p:nvSpPr>
        <p:spPr>
          <a:xfrm>
            <a:off x="365760" y="397764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BATHTUB tilted → water shifts sides →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height difference × ρg = pressure difference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Shape 9"/>
          <p:cNvSpPr/>
          <p:nvPr/>
        </p:nvSpPr>
        <p:spPr>
          <a:xfrm>
            <a:off x="3154680" y="16002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Water level LEFT = P₁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One side of the U-tube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manometer at pressure P₁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Shape 13"/>
          <p:cNvSpPr/>
          <p:nvPr/>
        </p:nvSpPr>
        <p:spPr>
          <a:xfrm>
            <a:off x="5440680" y="16002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Shape 14"/>
          <p:cNvSpPr/>
          <p:nvPr/>
        </p:nvSpPr>
        <p:spPr>
          <a:xfrm flipH="1">
            <a:off x="5486400" y="1206720"/>
            <a:ext cx="91440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Text 15"/>
          <p:cNvSpPr/>
          <p:nvPr/>
        </p:nvSpPr>
        <p:spPr>
          <a:xfrm>
            <a:off x="640080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Water level RIGHT = P₂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Text 16"/>
          <p:cNvSpPr/>
          <p:nvPr/>
        </p:nvSpPr>
        <p:spPr>
          <a:xfrm>
            <a:off x="640080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Other side balanced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at pressure P₂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Shape 17"/>
          <p:cNvSpPr/>
          <p:nvPr/>
        </p:nvSpPr>
        <p:spPr>
          <a:xfrm>
            <a:off x="4983480" y="25146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18"/>
          <p:cNvSpPr/>
          <p:nvPr/>
        </p:nvSpPr>
        <p:spPr>
          <a:xfrm flipH="1">
            <a:off x="5029200" y="2121120"/>
            <a:ext cx="1371600" cy="43920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Text 19"/>
          <p:cNvSpPr/>
          <p:nvPr/>
        </p:nvSpPr>
        <p:spPr>
          <a:xfrm>
            <a:off x="6400800" y="20116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Height diff 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 20"/>
          <p:cNvSpPr/>
          <p:nvPr/>
        </p:nvSpPr>
        <p:spPr>
          <a:xfrm>
            <a:off x="6400800" y="22312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The column height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difference gives ΔP = ρgh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Shape 21"/>
          <p:cNvSpPr/>
          <p:nvPr/>
        </p:nvSpPr>
        <p:spPr>
          <a:xfrm>
            <a:off x="3611880" y="288036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Shape 22"/>
          <p:cNvSpPr/>
          <p:nvPr/>
        </p:nvSpPr>
        <p:spPr>
          <a:xfrm>
            <a:off x="2468880" y="2395440"/>
            <a:ext cx="1188720" cy="5306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Text 23"/>
          <p:cNvSpPr/>
          <p:nvPr/>
        </p:nvSpPr>
        <p:spPr>
          <a:xfrm>
            <a:off x="274320" y="228600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Dense fluid sinks ↓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Text 24"/>
          <p:cNvSpPr/>
          <p:nvPr/>
        </p:nvSpPr>
        <p:spPr>
          <a:xfrm>
            <a:off x="274320" y="250560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Like soap settling at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bath bottom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Material Balances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Lamp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6" name="Image 0" descr="preencoded.png"/>
          <p:cNvPicPr/>
          <p:nvPr/>
        </p:nvPicPr>
        <p:blipFill>
          <a:blip r:embed="rId1"/>
          <a:stretch/>
        </p:blipFill>
        <p:spPr>
          <a:xfrm>
            <a:off x="3200400" y="777240"/>
            <a:ext cx="2558520" cy="2741400"/>
          </a:xfrm>
          <a:prstGeom prst="rect">
            <a:avLst/>
          </a:prstGeom>
          <a:ln w="0">
            <a:noFill/>
          </a:ln>
        </p:spPr>
      </p:pic>
      <p:sp>
        <p:nvSpPr>
          <p:cNvPr id="77" name="Shape 5"/>
          <p:cNvSpPr/>
          <p:nvPr/>
        </p:nvSpPr>
        <p:spPr>
          <a:xfrm>
            <a:off x="457200" y="365760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Text 6"/>
          <p:cNvSpPr/>
          <p:nvPr/>
        </p:nvSpPr>
        <p:spPr>
          <a:xfrm>
            <a:off x="548640" y="365760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Accumulation = In − Out + Gen − Consumption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Shape 7"/>
          <p:cNvSpPr/>
          <p:nvPr/>
        </p:nvSpPr>
        <p:spPr>
          <a:xfrm>
            <a:off x="274320" y="416052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Text 8"/>
          <p:cNvSpPr/>
          <p:nvPr/>
        </p:nvSpPr>
        <p:spPr>
          <a:xfrm>
            <a:off x="365760" y="416052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LAMP: electricity IN = light + heat OUT. Nothing disappears.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Atoms in = atoms out.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Shape 9"/>
          <p:cNvSpPr/>
          <p:nvPr/>
        </p:nvSpPr>
        <p:spPr>
          <a:xfrm>
            <a:off x="3337560" y="196596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Shape 10"/>
          <p:cNvSpPr/>
          <p:nvPr/>
        </p:nvSpPr>
        <p:spPr>
          <a:xfrm>
            <a:off x="2468880" y="1298160"/>
            <a:ext cx="914400" cy="71352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 11"/>
          <p:cNvSpPr/>
          <p:nvPr/>
        </p:nvSpPr>
        <p:spPr>
          <a:xfrm>
            <a:off x="27432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Electricity IN →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 12"/>
          <p:cNvSpPr/>
          <p:nvPr/>
        </p:nvSpPr>
        <p:spPr>
          <a:xfrm>
            <a:off x="27432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Feed streams entering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the system boundary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Shape 13"/>
          <p:cNvSpPr/>
          <p:nvPr/>
        </p:nvSpPr>
        <p:spPr>
          <a:xfrm>
            <a:off x="5440680" y="132588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14"/>
          <p:cNvSpPr/>
          <p:nvPr/>
        </p:nvSpPr>
        <p:spPr>
          <a:xfrm flipH="1">
            <a:off x="5486400" y="102384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Text 15"/>
          <p:cNvSpPr/>
          <p:nvPr/>
        </p:nvSpPr>
        <p:spPr>
          <a:xfrm>
            <a:off x="6400800" y="91440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← </a:t>
            </a: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Light OUT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Text 16"/>
          <p:cNvSpPr/>
          <p:nvPr/>
        </p:nvSpPr>
        <p:spPr>
          <a:xfrm>
            <a:off x="6400800" y="113400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Product streams exiting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the system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Shape 17"/>
          <p:cNvSpPr/>
          <p:nvPr/>
        </p:nvSpPr>
        <p:spPr>
          <a:xfrm>
            <a:off x="5440680" y="20574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Shape 18"/>
          <p:cNvSpPr/>
          <p:nvPr/>
        </p:nvSpPr>
        <p:spPr>
          <a:xfrm flipH="1">
            <a:off x="5486400" y="1755360"/>
            <a:ext cx="914400" cy="34776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 19"/>
          <p:cNvSpPr/>
          <p:nvPr/>
        </p:nvSpPr>
        <p:spPr>
          <a:xfrm>
            <a:off x="640080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← </a:t>
            </a: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Heat OUT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 20"/>
          <p:cNvSpPr/>
          <p:nvPr/>
        </p:nvSpPr>
        <p:spPr>
          <a:xfrm>
            <a:off x="640080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Waste/byproduct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streams leaving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Shape 21"/>
          <p:cNvSpPr/>
          <p:nvPr/>
        </p:nvSpPr>
        <p:spPr>
          <a:xfrm>
            <a:off x="3794760" y="114300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Shape 22"/>
          <p:cNvSpPr/>
          <p:nvPr/>
        </p:nvSpPr>
        <p:spPr>
          <a:xfrm flipV="1">
            <a:off x="2468880" y="1188720"/>
            <a:ext cx="1371600" cy="102384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 23"/>
          <p:cNvSpPr/>
          <p:nvPr/>
        </p:nvSpPr>
        <p:spPr>
          <a:xfrm>
            <a:off x="274320" y="21031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Shade = boundary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 24"/>
          <p:cNvSpPr/>
          <p:nvPr/>
        </p:nvSpPr>
        <p:spPr>
          <a:xfrm>
            <a:off x="274320" y="23227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System boundary: only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count flows crossing it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Degrees of Freedom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🚪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Door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2" name="Image 0" descr="preencoded.png"/>
          <p:cNvPicPr/>
          <p:nvPr/>
        </p:nvPicPr>
        <p:blipFill>
          <a:blip r:embed="rId1"/>
          <a:stretch/>
        </p:blipFill>
        <p:spPr>
          <a:xfrm>
            <a:off x="3474720" y="777240"/>
            <a:ext cx="2009880" cy="2009880"/>
          </a:xfrm>
          <a:prstGeom prst="rect">
            <a:avLst/>
          </a:prstGeom>
          <a:ln w="0">
            <a:noFill/>
          </a:ln>
        </p:spPr>
      </p:pic>
      <p:sp>
        <p:nvSpPr>
          <p:cNvPr id="103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DOF = Unknowns − Independent Equations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DOOR has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1 DOF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 (open angle).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Add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 a lock (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constraint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) →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DOF = 0, fully determined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Hinge = 1 DOF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One degree of motion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(angle of opening)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Shape 13"/>
          <p:cNvSpPr/>
          <p:nvPr/>
        </p:nvSpPr>
        <p:spPr>
          <a:xfrm>
            <a:off x="3794760" y="20574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Shape 14"/>
          <p:cNvSpPr/>
          <p:nvPr/>
        </p:nvSpPr>
        <p:spPr>
          <a:xfrm>
            <a:off x="2468880" y="1846800"/>
            <a:ext cx="1371600" cy="25632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 15"/>
          <p:cNvSpPr/>
          <p:nvPr/>
        </p:nvSpPr>
        <p:spPr>
          <a:xfrm>
            <a:off x="274320" y="173736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Lock = constraint (−1)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16"/>
          <p:cNvSpPr/>
          <p:nvPr/>
        </p:nvSpPr>
        <p:spPr>
          <a:xfrm>
            <a:off x="274320" y="195696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Each equation/spec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removes one DOF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Shape 17"/>
          <p:cNvSpPr/>
          <p:nvPr/>
        </p:nvSpPr>
        <p:spPr>
          <a:xfrm>
            <a:off x="525780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18"/>
          <p:cNvSpPr/>
          <p:nvPr/>
        </p:nvSpPr>
        <p:spPr>
          <a:xfrm flipH="1">
            <a:off x="5303520" y="1298160"/>
            <a:ext cx="109728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DOF = 0 → solvable!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Exactly specified: unique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solution exists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Text 21"/>
          <p:cNvSpPr/>
          <p:nvPr/>
        </p:nvSpPr>
        <p:spPr>
          <a:xfrm>
            <a:off x="3452400" y="4114800"/>
            <a:ext cx="2249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00e5a0"/>
                </a:solidFill>
                <a:latin typeface="Calibri"/>
              </a:rPr>
              <a:t>DOF &gt; 0 → under-specified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00e5a0"/>
                </a:solidFill>
                <a:latin typeface="Calibri"/>
              </a:rPr>
              <a:t>DOF &lt; 0 → over-specified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00e5a0"/>
                </a:solidFill>
                <a:latin typeface="Calibri"/>
              </a:rPr>
              <a:t>Check DOF BEFORE solving</a:t>
            </a:r>
            <a:r>
              <a:rPr b="1" i="1" lang="en-US" sz="1200" spc="-1" strike="noStrike">
                <a:solidFill>
                  <a:srgbClr val="00e5a0"/>
                </a:solidFill>
                <a:latin typeface="Calibri"/>
              </a:rPr>
              <a:t>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5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Recycle Mass Balances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🗑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Trash Can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5" name="Image 0" descr="preencoded.png"/>
          <p:cNvPicPr/>
          <p:nvPr/>
        </p:nvPicPr>
        <p:blipFill>
          <a:blip r:embed="rId1"/>
          <a:stretch/>
        </p:blipFill>
        <p:spPr>
          <a:xfrm>
            <a:off x="3017520" y="777240"/>
            <a:ext cx="2741400" cy="2284200"/>
          </a:xfrm>
          <a:prstGeom prst="rect">
            <a:avLst/>
          </a:prstGeom>
          <a:ln w="0">
            <a:noFill/>
          </a:ln>
        </p:spPr>
      </p:pic>
      <p:sp>
        <p:nvSpPr>
          <p:cNvPr id="126" name="Shape 5"/>
          <p:cNvSpPr/>
          <p:nvPr/>
        </p:nvSpPr>
        <p:spPr>
          <a:xfrm>
            <a:off x="457200" y="320040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Text 6"/>
          <p:cNvSpPr/>
          <p:nvPr/>
        </p:nvSpPr>
        <p:spPr>
          <a:xfrm>
            <a:off x="548640" y="320040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Overall: F = D + B  |  Recycle ratio R = recycle/product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Shape 7"/>
          <p:cNvSpPr/>
          <p:nvPr/>
        </p:nvSpPr>
        <p:spPr>
          <a:xfrm>
            <a:off x="274320" y="370332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Text 8"/>
          <p:cNvSpPr/>
          <p:nvPr/>
        </p:nvSpPr>
        <p:spPr>
          <a:xfrm>
            <a:off x="365760" y="370332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TRASH CAN: scraps returned to cooking =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recycle stream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! Overall balance first, then units.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Shape 9"/>
          <p:cNvSpPr/>
          <p:nvPr/>
        </p:nvSpPr>
        <p:spPr>
          <a:xfrm>
            <a:off x="3154680" y="16002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Feed F →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Fresh feed entering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the process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Shape 13"/>
          <p:cNvSpPr/>
          <p:nvPr/>
        </p:nvSpPr>
        <p:spPr>
          <a:xfrm>
            <a:off x="544068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14"/>
          <p:cNvSpPr/>
          <p:nvPr/>
        </p:nvSpPr>
        <p:spPr>
          <a:xfrm flipH="1">
            <a:off x="5486400" y="1206720"/>
            <a:ext cx="914400" cy="43920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 15"/>
          <p:cNvSpPr/>
          <p:nvPr/>
        </p:nvSpPr>
        <p:spPr>
          <a:xfrm>
            <a:off x="640080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Product D →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Text 16"/>
          <p:cNvSpPr/>
          <p:nvPr/>
        </p:nvSpPr>
        <p:spPr>
          <a:xfrm>
            <a:off x="640080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Desired product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leaving the system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Shape 17"/>
          <p:cNvSpPr/>
          <p:nvPr/>
        </p:nvSpPr>
        <p:spPr>
          <a:xfrm>
            <a:off x="4069080" y="269748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Shape 18"/>
          <p:cNvSpPr/>
          <p:nvPr/>
        </p:nvSpPr>
        <p:spPr>
          <a:xfrm>
            <a:off x="2468880" y="2395440"/>
            <a:ext cx="1645920" cy="34776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Text 19"/>
          <p:cNvSpPr/>
          <p:nvPr/>
        </p:nvSpPr>
        <p:spPr>
          <a:xfrm>
            <a:off x="274320" y="228600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Waste → recycle back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Text 20"/>
          <p:cNvSpPr/>
          <p:nvPr/>
        </p:nvSpPr>
        <p:spPr>
          <a:xfrm>
            <a:off x="274320" y="250560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Unconverted material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returned to reactor inlet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Chemical Reactions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🫙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Blender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7" name="Image 0" descr="preencoded.png"/>
          <p:cNvPicPr/>
          <p:nvPr/>
        </p:nvPicPr>
        <p:blipFill>
          <a:blip r:embed="rId1"/>
          <a:stretch/>
        </p:blipFill>
        <p:spPr>
          <a:xfrm>
            <a:off x="3474720" y="777240"/>
            <a:ext cx="2009880" cy="2558520"/>
          </a:xfrm>
          <a:prstGeom prst="rect">
            <a:avLst/>
          </a:prstGeom>
          <a:ln w="0">
            <a:noFill/>
          </a:ln>
        </p:spPr>
      </p:pic>
      <p:sp>
        <p:nvSpPr>
          <p:cNvPr id="148" name="Shape 5"/>
          <p:cNvSpPr/>
          <p:nvPr/>
        </p:nvSpPr>
        <p:spPr>
          <a:xfrm>
            <a:off x="457200" y="347472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Text 6"/>
          <p:cNvSpPr/>
          <p:nvPr/>
        </p:nvSpPr>
        <p:spPr>
          <a:xfrm>
            <a:off x="548640" y="347472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ξ = (nₐ − nₐ₀) / (−a)   |   nᵢ = nᵢ₀ + νᵢ·ξ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Shape 7"/>
          <p:cNvSpPr/>
          <p:nvPr/>
        </p:nvSpPr>
        <p:spPr>
          <a:xfrm>
            <a:off x="274320" y="397764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8"/>
          <p:cNvSpPr/>
          <p:nvPr/>
        </p:nvSpPr>
        <p:spPr>
          <a:xfrm>
            <a:off x="365760" y="397764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BLENDER mixes reactants → blades (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reaction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) →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products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. Can't get more smoothie than fruits!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Shape 10"/>
          <p:cNvSpPr/>
          <p:nvPr/>
        </p:nvSpPr>
        <p:spPr>
          <a:xfrm>
            <a:off x="2468880" y="1023840"/>
            <a:ext cx="1188720" cy="16488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Text 11"/>
          <p:cNvSpPr/>
          <p:nvPr/>
        </p:nvSpPr>
        <p:spPr>
          <a:xfrm>
            <a:off x="274320" y="91440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Fruits IN = reactants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Text 12"/>
          <p:cNvSpPr/>
          <p:nvPr/>
        </p:nvSpPr>
        <p:spPr>
          <a:xfrm>
            <a:off x="274320" y="113400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Initial moles nᵢ₀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fed into reactor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Shape 13"/>
          <p:cNvSpPr/>
          <p:nvPr/>
        </p:nvSpPr>
        <p:spPr>
          <a:xfrm>
            <a:off x="3794760" y="224028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Shape 14"/>
          <p:cNvSpPr/>
          <p:nvPr/>
        </p:nvSpPr>
        <p:spPr>
          <a:xfrm>
            <a:off x="2468880" y="1846800"/>
            <a:ext cx="137160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Text 15"/>
          <p:cNvSpPr/>
          <p:nvPr/>
        </p:nvSpPr>
        <p:spPr>
          <a:xfrm>
            <a:off x="274320" y="173736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Blades = reaction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 16"/>
          <p:cNvSpPr/>
          <p:nvPr/>
        </p:nvSpPr>
        <p:spPr>
          <a:xfrm>
            <a:off x="274320" y="195696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Stoichiometric conversion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via balanced equation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Shape 17"/>
          <p:cNvSpPr/>
          <p:nvPr/>
        </p:nvSpPr>
        <p:spPr>
          <a:xfrm>
            <a:off x="525780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Shape 18"/>
          <p:cNvSpPr/>
          <p:nvPr/>
        </p:nvSpPr>
        <p:spPr>
          <a:xfrm flipH="1">
            <a:off x="5303520" y="1206720"/>
            <a:ext cx="640080" cy="43920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 19"/>
          <p:cNvSpPr/>
          <p:nvPr/>
        </p:nvSpPr>
        <p:spPr>
          <a:xfrm>
            <a:off x="594360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Smoothie = products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Text 20"/>
          <p:cNvSpPr/>
          <p:nvPr/>
        </p:nvSpPr>
        <p:spPr>
          <a:xfrm>
            <a:off x="594360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8ecf1"/>
                </a:solidFill>
                <a:latin typeface="Calibri"/>
                <a:ea typeface="Calibri"/>
              </a:rPr>
              <a:t>Final</a:t>
            </a: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 moles calculated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from extent ξ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Shape 21"/>
          <p:cNvSpPr/>
          <p:nvPr/>
        </p:nvSpPr>
        <p:spPr>
          <a:xfrm>
            <a:off x="4983480" y="251460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Shape 22"/>
          <p:cNvSpPr/>
          <p:nvPr/>
        </p:nvSpPr>
        <p:spPr>
          <a:xfrm flipH="1">
            <a:off x="5029200" y="2121120"/>
            <a:ext cx="914400" cy="43920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Text 23"/>
          <p:cNvSpPr/>
          <p:nvPr/>
        </p:nvSpPr>
        <p:spPr>
          <a:xfrm>
            <a:off x="5943600" y="20116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Limiting = least fruit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Text 24"/>
          <p:cNvSpPr/>
          <p:nvPr/>
        </p:nvSpPr>
        <p:spPr>
          <a:xfrm>
            <a:off x="5943600" y="22312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Smallest nᵢ₀/|νᵢ|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determines max ξ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a0f1a"/>
                </a:solidFill>
                <a:latin typeface="Arial Black"/>
                <a:ea typeface="Arial Black"/>
              </a:rPr>
              <a:t>7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Georgia"/>
                <a:ea typeface="Georgia"/>
              </a:rPr>
              <a:t>Reactive Material Balances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0e5a0"/>
                </a:solidFill>
                <a:latin typeface="Calibri"/>
                <a:ea typeface="Calibri"/>
              </a:rPr>
              <a:t>☕ </a:t>
            </a:r>
            <a:r>
              <a:rPr b="0" i="1" lang="en-US" sz="1200" spc="-1" strike="noStrike">
                <a:solidFill>
                  <a:srgbClr val="00e5a0"/>
                </a:solidFill>
                <a:latin typeface="Calibri"/>
                <a:ea typeface="Calibri"/>
              </a:rPr>
              <a:t>Coffee Maker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73" name="Image 0" descr="preencoded.png"/>
          <p:cNvPicPr/>
          <p:nvPr/>
        </p:nvPicPr>
        <p:blipFill>
          <a:blip r:embed="rId1"/>
          <a:stretch/>
        </p:blipFill>
        <p:spPr>
          <a:xfrm>
            <a:off x="3200400" y="777240"/>
            <a:ext cx="2284200" cy="2558520"/>
          </a:xfrm>
          <a:prstGeom prst="rect">
            <a:avLst/>
          </a:prstGeom>
          <a:ln w="0">
            <a:noFill/>
          </a:ln>
        </p:spPr>
      </p:pic>
      <p:sp>
        <p:nvSpPr>
          <p:cNvPr id="174" name="Shape 5"/>
          <p:cNvSpPr/>
          <p:nvPr/>
        </p:nvSpPr>
        <p:spPr>
          <a:xfrm>
            <a:off x="457200" y="347472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Text 6"/>
          <p:cNvSpPr/>
          <p:nvPr/>
        </p:nvSpPr>
        <p:spPr>
          <a:xfrm>
            <a:off x="548640" y="347472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nᵢ,ₒᵤₜ = nᵢ,ᵢₙ + νᵢ · ξ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Shape 7"/>
          <p:cNvSpPr/>
          <p:nvPr/>
        </p:nvSpPr>
        <p:spPr>
          <a:xfrm>
            <a:off x="274320" y="397764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 8"/>
          <p:cNvSpPr/>
          <p:nvPr/>
        </p:nvSpPr>
        <p:spPr>
          <a:xfrm>
            <a:off x="365760" y="397764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COFFEE MAKER: water + grounds → extraction reaction → coffee.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Atoms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 always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conserved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Shape 9"/>
          <p:cNvSpPr/>
          <p:nvPr/>
        </p:nvSpPr>
        <p:spPr>
          <a:xfrm>
            <a:off x="3337560" y="123444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Shape 10"/>
          <p:cNvSpPr/>
          <p:nvPr/>
        </p:nvSpPr>
        <p:spPr>
          <a:xfrm>
            <a:off x="2468880" y="1115280"/>
            <a:ext cx="914400" cy="16488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0b4d8"/>
                </a:solidFill>
                <a:latin typeface="Calibri"/>
                <a:ea typeface="Calibri"/>
              </a:rPr>
              <a:t>Water + grounds 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8ecf1"/>
                </a:solidFill>
                <a:latin typeface="Calibri"/>
                <a:ea typeface="Calibri"/>
              </a:rPr>
              <a:t>Molecular species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8ecf1"/>
                </a:solidFill>
                <a:latin typeface="Calibri"/>
                <a:ea typeface="Calibri"/>
              </a:rPr>
              <a:t>entering the reactor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Shape 13"/>
          <p:cNvSpPr/>
          <p:nvPr/>
        </p:nvSpPr>
        <p:spPr>
          <a:xfrm>
            <a:off x="3611880" y="20574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Shape 14"/>
          <p:cNvSpPr/>
          <p:nvPr/>
        </p:nvSpPr>
        <p:spPr>
          <a:xfrm>
            <a:off x="2468880" y="1938240"/>
            <a:ext cx="118872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Text 15"/>
          <p:cNvSpPr/>
          <p:nvPr/>
        </p:nvSpPr>
        <p:spPr>
          <a:xfrm>
            <a:off x="274320" y="182880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6b6b"/>
                </a:solidFill>
                <a:latin typeface="Calibri"/>
                <a:ea typeface="Calibri"/>
              </a:rPr>
              <a:t>Extraction = reaction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 16"/>
          <p:cNvSpPr/>
          <p:nvPr/>
        </p:nvSpPr>
        <p:spPr>
          <a:xfrm>
            <a:off x="274320" y="204840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8ecf1"/>
                </a:solidFill>
                <a:latin typeface="Calibri"/>
                <a:ea typeface="Calibri"/>
              </a:rPr>
              <a:t>Extent ξ tracks how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8ecf1"/>
                </a:solidFill>
                <a:latin typeface="Calibri"/>
                <a:ea typeface="Calibri"/>
              </a:rPr>
              <a:t>far reaction proceeds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Shape 17"/>
          <p:cNvSpPr/>
          <p:nvPr/>
        </p:nvSpPr>
        <p:spPr>
          <a:xfrm>
            <a:off x="525780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>
              <a:lnSpc>
                <a:spcPct val="100000"/>
              </a:lnSpc>
            </a:pP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Shape 18"/>
          <p:cNvSpPr/>
          <p:nvPr/>
        </p:nvSpPr>
        <p:spPr>
          <a:xfrm flipH="1">
            <a:off x="5303520" y="1298160"/>
            <a:ext cx="64008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 19"/>
          <p:cNvSpPr/>
          <p:nvPr/>
        </p:nvSpPr>
        <p:spPr>
          <a:xfrm>
            <a:off x="59436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d93d"/>
                </a:solidFill>
                <a:latin typeface="Calibri"/>
                <a:ea typeface="Calibri"/>
              </a:rPr>
              <a:t>Coffee OUT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Text 20"/>
          <p:cNvSpPr/>
          <p:nvPr/>
        </p:nvSpPr>
        <p:spPr>
          <a:xfrm>
            <a:off x="59436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8ecf1"/>
                </a:solidFill>
                <a:latin typeface="Calibri"/>
                <a:ea typeface="Calibri"/>
              </a:rPr>
              <a:t>Product species: molecular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8ecf1"/>
                </a:solidFill>
                <a:latin typeface="Calibri"/>
                <a:ea typeface="Calibri"/>
              </a:rPr>
              <a:t>form changed, atoms conserved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8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Purge Stream in Recycle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🪣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Sink Cabinet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95" name="Image 0" descr="preencoded.png"/>
          <p:cNvPicPr/>
          <p:nvPr/>
        </p:nvPicPr>
        <p:blipFill>
          <a:blip r:embed="rId1"/>
          <a:stretch/>
        </p:blipFill>
        <p:spPr>
          <a:xfrm>
            <a:off x="2743200" y="731520"/>
            <a:ext cx="3198600" cy="2741400"/>
          </a:xfrm>
          <a:prstGeom prst="rect">
            <a:avLst/>
          </a:prstGeom>
          <a:ln w="0">
            <a:noFill/>
          </a:ln>
        </p:spPr>
      </p:pic>
      <p:sp>
        <p:nvSpPr>
          <p:cNvPr id="196" name="Shape 5"/>
          <p:cNvSpPr/>
          <p:nvPr/>
        </p:nvSpPr>
        <p:spPr>
          <a:xfrm>
            <a:off x="457200" y="36118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Text 6"/>
          <p:cNvSpPr/>
          <p:nvPr/>
        </p:nvSpPr>
        <p:spPr>
          <a:xfrm>
            <a:off x="548640" y="36118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d93d"/>
                </a:solidFill>
                <a:latin typeface="Consolas"/>
                <a:ea typeface="Consolas"/>
              </a:rPr>
              <a:t>F · yᵢ = P · yᵢ,ₚᵤᵣ</a:t>
            </a:r>
            <a:r>
              <a:rPr b="1" lang="en-US" sz="1300" spc="-1" strike="noStrike">
                <a:solidFill>
                  <a:srgbClr val="ffd93d"/>
                </a:solidFill>
                <a:latin typeface="Consolas"/>
                <a:ea typeface="Consolas"/>
              </a:rPr>
              <a:t>g</a:t>
            </a:r>
            <a:r>
              <a:rPr b="1" lang="en-US" sz="2100" spc="-1" strike="noStrike">
                <a:solidFill>
                  <a:srgbClr val="ffd93d"/>
                </a:solidFill>
                <a:latin typeface="Consolas"/>
                <a:ea typeface="Consolas"/>
              </a:rPr>
              <a:t>ₑ</a:t>
            </a: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   (inert balance at steady state)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Shape 7"/>
          <p:cNvSpPr/>
          <p:nvPr/>
        </p:nvSpPr>
        <p:spPr>
          <a:xfrm>
            <a:off x="274320" y="41148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Text 8"/>
          <p:cNvSpPr/>
          <p:nvPr/>
        </p:nvSpPr>
        <p:spPr>
          <a:xfrm>
            <a:off x="365760" y="41148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SINK CABINET: gunk builds up under the sink → drain (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purge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) removes it to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prevent overflow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Shape 9"/>
          <p:cNvSpPr/>
          <p:nvPr/>
        </p:nvSpPr>
        <p:spPr>
          <a:xfrm>
            <a:off x="3154680" y="196596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Shape 10"/>
          <p:cNvSpPr/>
          <p:nvPr/>
        </p:nvSpPr>
        <p:spPr>
          <a:xfrm>
            <a:off x="2377440" y="1298160"/>
            <a:ext cx="822960" cy="71352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Text 11"/>
          <p:cNvSpPr/>
          <p:nvPr/>
        </p:nvSpPr>
        <p:spPr>
          <a:xfrm>
            <a:off x="18288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Gunk = inerts accumulate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 12"/>
          <p:cNvSpPr/>
          <p:nvPr/>
        </p:nvSpPr>
        <p:spPr>
          <a:xfrm>
            <a:off x="18288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Without purge, inerts build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up in recycle loop indefinitely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Shape 13"/>
          <p:cNvSpPr/>
          <p:nvPr/>
        </p:nvSpPr>
        <p:spPr>
          <a:xfrm>
            <a:off x="3611880" y="288036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Shape 14"/>
          <p:cNvSpPr/>
          <p:nvPr/>
        </p:nvSpPr>
        <p:spPr>
          <a:xfrm>
            <a:off x="2377440" y="2212560"/>
            <a:ext cx="1280160" cy="71352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Text 15"/>
          <p:cNvSpPr/>
          <p:nvPr/>
        </p:nvSpPr>
        <p:spPr>
          <a:xfrm>
            <a:off x="182880" y="21031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Drain = PURGE stream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Text 16"/>
          <p:cNvSpPr/>
          <p:nvPr/>
        </p:nvSpPr>
        <p:spPr>
          <a:xfrm>
            <a:off x="182880" y="23227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Bleeds off accumulated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inerts to reach steady state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Shape 17"/>
          <p:cNvSpPr/>
          <p:nvPr/>
        </p:nvSpPr>
        <p:spPr>
          <a:xfrm>
            <a:off x="5440680" y="160020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Feed inerts in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8ecf1"/>
                </a:solidFill>
                <a:latin typeface="Calibri"/>
                <a:ea typeface="Calibri"/>
              </a:rPr>
              <a:t>Inerts enter with fresh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8ecf1"/>
                </a:solidFill>
                <a:latin typeface="Calibri"/>
                <a:ea typeface="Calibri"/>
              </a:rPr>
              <a:t>feed at mole fraction yᵢ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9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Transient Material Balances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🗿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Sculpture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17" name="Image 0" descr="preencoded.png"/>
          <p:cNvPicPr/>
          <p:nvPr/>
        </p:nvPicPr>
        <p:blipFill>
          <a:blip r:embed="rId1"/>
          <a:stretch/>
        </p:blipFill>
        <p:spPr>
          <a:xfrm>
            <a:off x="2926080" y="731520"/>
            <a:ext cx="2924280" cy="2558520"/>
          </a:xfrm>
          <a:prstGeom prst="rect">
            <a:avLst/>
          </a:prstGeom>
          <a:ln w="0">
            <a:noFill/>
          </a:ln>
        </p:spPr>
      </p:pic>
      <p:sp>
        <p:nvSpPr>
          <p:cNvPr id="218" name="Shape 5"/>
          <p:cNvSpPr/>
          <p:nvPr/>
        </p:nvSpPr>
        <p:spPr>
          <a:xfrm>
            <a:off x="457200" y="342900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Text 6"/>
          <p:cNvSpPr/>
          <p:nvPr/>
        </p:nvSpPr>
        <p:spPr>
          <a:xfrm>
            <a:off x="548640" y="342900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d93d"/>
                </a:solidFill>
                <a:latin typeface="Consolas"/>
                <a:ea typeface="Consolas"/>
              </a:rPr>
              <a:t>dM/dt = ṁᵢₙ − ṁₒᵤₜ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Shape 7"/>
          <p:cNvSpPr/>
          <p:nvPr/>
        </p:nvSpPr>
        <p:spPr>
          <a:xfrm>
            <a:off x="274320" y="393192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Text 8"/>
          <p:cNvSpPr/>
          <p:nvPr/>
        </p:nvSpPr>
        <p:spPr>
          <a:xfrm>
            <a:off x="365760" y="393192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SCULPTURE being carved: shape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changes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 over time (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transient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).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Finished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 statue =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steady state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Shape 9"/>
          <p:cNvSpPr/>
          <p:nvPr/>
        </p:nvSpPr>
        <p:spPr>
          <a:xfrm>
            <a:off x="3154680" y="160020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Chisel = ṁ in/out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Mass flow rates adding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or removing material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Shape 13"/>
          <p:cNvSpPr/>
          <p:nvPr/>
        </p:nvSpPr>
        <p:spPr>
          <a:xfrm>
            <a:off x="3611880" y="224028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Shape 14"/>
          <p:cNvSpPr/>
          <p:nvPr/>
        </p:nvSpPr>
        <p:spPr>
          <a:xfrm>
            <a:off x="2468880" y="2029680"/>
            <a:ext cx="1188720" cy="25632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Text 15"/>
          <p:cNvSpPr/>
          <p:nvPr/>
        </p:nvSpPr>
        <p:spPr>
          <a:xfrm>
            <a:off x="274320" y="19202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Shape changing = dM/dt ≠= 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Text 16"/>
          <p:cNvSpPr/>
          <p:nvPr/>
        </p:nvSpPr>
        <p:spPr>
          <a:xfrm>
            <a:off x="274320" y="21398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Accumulation term is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non-zero: ODE in time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Shape 17"/>
          <p:cNvSpPr/>
          <p:nvPr/>
        </p:nvSpPr>
        <p:spPr>
          <a:xfrm>
            <a:off x="544068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Finished = dM/dt → 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Steady state reached when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accumulation vanishes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Wet and Dry Basis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🚿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Sink Top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39" name="Image 0" descr="preencoded.png"/>
          <p:cNvPicPr/>
          <p:nvPr/>
        </p:nvPicPr>
        <p:blipFill>
          <a:blip r:embed="rId1"/>
          <a:stretch/>
        </p:blipFill>
        <p:spPr>
          <a:xfrm>
            <a:off x="2560320" y="777240"/>
            <a:ext cx="3838680" cy="1827000"/>
          </a:xfrm>
          <a:prstGeom prst="rect">
            <a:avLst/>
          </a:prstGeom>
          <a:ln w="0">
            <a:noFill/>
          </a:ln>
        </p:spPr>
      </p:pic>
      <p:sp>
        <p:nvSpPr>
          <p:cNvPr id="240" name="Shape 5"/>
          <p:cNvSpPr/>
          <p:nvPr/>
        </p:nvSpPr>
        <p:spPr>
          <a:xfrm>
            <a:off x="457200" y="274320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Text 6"/>
          <p:cNvSpPr/>
          <p:nvPr/>
        </p:nvSpPr>
        <p:spPr>
          <a:xfrm>
            <a:off x="548640" y="274320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yᵢ,</a:t>
            </a: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w</a:t>
            </a: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ₑ</a:t>
            </a: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ₜ</a:t>
            </a: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 = yᵢ,</a:t>
            </a:r>
            <a:r>
              <a:rPr b="1" lang="en-US" sz="1500" spc="-1" strike="noStrike">
                <a:solidFill>
                  <a:srgbClr val="ffd93d"/>
                </a:solidFill>
                <a:latin typeface="Consolas"/>
                <a:ea typeface="Consolas"/>
              </a:rPr>
              <a:t>d</a:t>
            </a: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ᵣ</a:t>
            </a:r>
            <a:r>
              <a:rPr b="1" lang="en-US" sz="1500" spc="-1" strike="noStrike">
                <a:solidFill>
                  <a:srgbClr val="ffd93d"/>
                </a:solidFill>
                <a:latin typeface="Consolas"/>
                <a:ea typeface="Consolas"/>
              </a:rPr>
              <a:t>y</a:t>
            </a: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 / (1 + moisture fraction)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Shape 7"/>
          <p:cNvSpPr/>
          <p:nvPr/>
        </p:nvSpPr>
        <p:spPr>
          <a:xfrm>
            <a:off x="274320" y="324612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Text 8"/>
          <p:cNvSpPr/>
          <p:nvPr/>
        </p:nvSpPr>
        <p:spPr>
          <a:xfrm>
            <a:off x="365760" y="324612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SINK TOP: wet surface = wet basis (water included). Wipe dry → only solids left = dry basis.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Shape 9"/>
          <p:cNvSpPr/>
          <p:nvPr/>
        </p:nvSpPr>
        <p:spPr>
          <a:xfrm>
            <a:off x="31546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Shape 10"/>
          <p:cNvSpPr/>
          <p:nvPr/>
        </p:nvSpPr>
        <p:spPr>
          <a:xfrm flipV="1">
            <a:off x="2468880" y="1188720"/>
            <a:ext cx="731520" cy="180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7000" bIns="-27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Wet surface = WET basis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Composition includes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all water content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Shape 13"/>
          <p:cNvSpPr/>
          <p:nvPr/>
        </p:nvSpPr>
        <p:spPr>
          <a:xfrm>
            <a:off x="5897880" y="11430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14"/>
          <p:cNvSpPr/>
          <p:nvPr/>
        </p:nvSpPr>
        <p:spPr>
          <a:xfrm flipH="1" flipV="1">
            <a:off x="5943600" y="1188720"/>
            <a:ext cx="457200" cy="1800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7000" bIns="-27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Text 15"/>
          <p:cNvSpPr/>
          <p:nvPr/>
        </p:nvSpPr>
        <p:spPr>
          <a:xfrm>
            <a:off x="640080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Wipe dry → DRY basis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Text 16"/>
          <p:cNvSpPr/>
          <p:nvPr/>
        </p:nvSpPr>
        <p:spPr>
          <a:xfrm>
            <a:off x="640080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Composition on water-free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basis (solids only)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Combustion Reactions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🔥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Stove Top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57" name="Image 0" descr="preencoded.png"/>
          <p:cNvPicPr/>
          <p:nvPr/>
        </p:nvPicPr>
        <p:blipFill>
          <a:blip r:embed="rId1"/>
          <a:stretch/>
        </p:blipFill>
        <p:spPr>
          <a:xfrm>
            <a:off x="2286000" y="777240"/>
            <a:ext cx="4113000" cy="2009880"/>
          </a:xfrm>
          <a:prstGeom prst="rect">
            <a:avLst/>
          </a:prstGeom>
          <a:ln w="0">
            <a:noFill/>
          </a:ln>
        </p:spPr>
      </p:pic>
      <p:sp>
        <p:nvSpPr>
          <p:cNvPr id="258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CₓHᵧ + (x+y/4)O₂ → xCO₂ + (y/2)H₂O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STOVE TOP burns gas: too little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O₂ → CO (incomplete)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. Too much air → dilute &amp; cool.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" name="Shape 9"/>
          <p:cNvSpPr/>
          <p:nvPr/>
        </p:nvSpPr>
        <p:spPr>
          <a:xfrm>
            <a:off x="26974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Shape 10"/>
          <p:cNvSpPr/>
          <p:nvPr/>
        </p:nvSpPr>
        <p:spPr>
          <a:xfrm>
            <a:off x="2377440" y="1115280"/>
            <a:ext cx="36576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" name="Text 11"/>
          <p:cNvSpPr/>
          <p:nvPr/>
        </p:nvSpPr>
        <p:spPr>
          <a:xfrm>
            <a:off x="18288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Fuel (CH₄) IN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Text 12"/>
          <p:cNvSpPr/>
          <p:nvPr/>
        </p:nvSpPr>
        <p:spPr>
          <a:xfrm>
            <a:off x="18288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Hydrocarbon fuel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entering combustion zone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Shape 13"/>
          <p:cNvSpPr/>
          <p:nvPr/>
        </p:nvSpPr>
        <p:spPr>
          <a:xfrm>
            <a:off x="4069080" y="16002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Shape 14"/>
          <p:cNvSpPr/>
          <p:nvPr/>
        </p:nvSpPr>
        <p:spPr>
          <a:xfrm flipV="1">
            <a:off x="2377440" y="1645920"/>
            <a:ext cx="1737360" cy="1094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" name="Text 15"/>
          <p:cNvSpPr/>
          <p:nvPr/>
        </p:nvSpPr>
        <p:spPr>
          <a:xfrm>
            <a:off x="18288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Flame = combustion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Text 16"/>
          <p:cNvSpPr/>
          <p:nvPr/>
        </p:nvSpPr>
        <p:spPr>
          <a:xfrm>
            <a:off x="18288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Rapid exothermic oxidation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of fuel with oxygen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Shape 17"/>
          <p:cNvSpPr/>
          <p:nvPr/>
        </p:nvSpPr>
        <p:spPr>
          <a:xfrm>
            <a:off x="5897880" y="11430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Shape 18"/>
          <p:cNvSpPr/>
          <p:nvPr/>
        </p:nvSpPr>
        <p:spPr>
          <a:xfrm flipH="1">
            <a:off x="5943600" y="1115280"/>
            <a:ext cx="640080" cy="73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Text 19"/>
          <p:cNvSpPr/>
          <p:nvPr/>
        </p:nvSpPr>
        <p:spPr>
          <a:xfrm>
            <a:off x="658368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CO₂ + H₂O OUT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 20"/>
          <p:cNvSpPr/>
          <p:nvPr/>
        </p:nvSpPr>
        <p:spPr>
          <a:xfrm>
            <a:off x="658368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Complete combustion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products (flue gas)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Shape 21"/>
          <p:cNvSpPr/>
          <p:nvPr/>
        </p:nvSpPr>
        <p:spPr>
          <a:xfrm>
            <a:off x="5440680" y="205740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" name="Shape 22"/>
          <p:cNvSpPr/>
          <p:nvPr/>
        </p:nvSpPr>
        <p:spPr>
          <a:xfrm flipH="1">
            <a:off x="5486400" y="1846800"/>
            <a:ext cx="1097280" cy="25632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" name="Text 23"/>
          <p:cNvSpPr/>
          <p:nvPr/>
        </p:nvSpPr>
        <p:spPr>
          <a:xfrm>
            <a:off x="6583680" y="173736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% Excess Air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Text 24"/>
          <p:cNvSpPr/>
          <p:nvPr/>
        </p:nvSpPr>
        <p:spPr>
          <a:xfrm>
            <a:off x="6583680" y="195696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(Airₐ</a:t>
            </a:r>
            <a:r>
              <a:rPr b="0" lang="en-US" sz="1000" spc="-1" strike="noStrike" baseline="-8000">
                <a:solidFill>
                  <a:srgbClr val="e8ecf1"/>
                </a:solidFill>
                <a:latin typeface="Calibri"/>
                <a:ea typeface="Calibri"/>
              </a:rPr>
              <a:t>ctual</a:t>
            </a: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 − Airₛ</a:t>
            </a:r>
            <a:r>
              <a:rPr b="0" lang="en-US" sz="1000" spc="-1" strike="noStrike" baseline="-8000">
                <a:solidFill>
                  <a:srgbClr val="e8ecf1"/>
                </a:solidFill>
                <a:latin typeface="Calibri"/>
                <a:ea typeface="Calibri"/>
              </a:rPr>
              <a:t>toich</a:t>
            </a: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) / Airₛ</a:t>
            </a:r>
            <a:r>
              <a:rPr b="0" lang="en-US" sz="1000" spc="-1" strike="noStrike" baseline="-8000">
                <a:solidFill>
                  <a:srgbClr val="e8ecf1"/>
                </a:solidFill>
                <a:latin typeface="Calibri"/>
                <a:ea typeface="Calibri"/>
              </a:rPr>
              <a:t>toich</a:t>
            </a: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 × 100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Ideal Gas Law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💨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Range Hood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83" name="Image 0" descr="preencoded.png"/>
          <p:cNvPicPr/>
          <p:nvPr/>
        </p:nvPicPr>
        <p:blipFill>
          <a:blip r:embed="rId1"/>
          <a:stretch/>
        </p:blipFill>
        <p:spPr>
          <a:xfrm>
            <a:off x="2011680" y="777240"/>
            <a:ext cx="5027400" cy="1644120"/>
          </a:xfrm>
          <a:prstGeom prst="rect">
            <a:avLst/>
          </a:prstGeom>
          <a:ln w="0">
            <a:noFill/>
          </a:ln>
        </p:spPr>
      </p:pic>
      <p:sp>
        <p:nvSpPr>
          <p:cNvPr id="284" name="Shape 5"/>
          <p:cNvSpPr/>
          <p:nvPr/>
        </p:nvSpPr>
        <p:spPr>
          <a:xfrm>
            <a:off x="457200" y="256032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Text 6"/>
          <p:cNvSpPr/>
          <p:nvPr/>
        </p:nvSpPr>
        <p:spPr>
          <a:xfrm>
            <a:off x="548640" y="256032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PV = nRT   (R = 8.314 J/mol·K)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Shape 7"/>
          <p:cNvSpPr/>
          <p:nvPr/>
        </p:nvSpPr>
        <p:spPr>
          <a:xfrm>
            <a:off x="274320" y="306324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Text 8"/>
          <p:cNvSpPr/>
          <p:nvPr/>
        </p:nvSpPr>
        <p:spPr>
          <a:xfrm>
            <a:off x="365760" y="306324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RANGE HOOD: hot cooking gases rise (</a:t>
            </a:r>
            <a:r>
              <a:rPr b="1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high T → high V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). Hood removes them — PV = nRT governs!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Shape 9"/>
          <p:cNvSpPr/>
          <p:nvPr/>
        </p:nvSpPr>
        <p:spPr>
          <a:xfrm>
            <a:off x="3154680" y="9601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Shape 10"/>
          <p:cNvSpPr/>
          <p:nvPr/>
        </p:nvSpPr>
        <p:spPr>
          <a:xfrm flipV="1">
            <a:off x="2468880" y="1005840"/>
            <a:ext cx="731520" cy="200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Hot gas rises (↑T → ↑V)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Temperature increase causes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volume expansion at const 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Shape 13"/>
          <p:cNvSpPr/>
          <p:nvPr/>
        </p:nvSpPr>
        <p:spPr>
          <a:xfrm>
            <a:off x="5897880" y="96012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Shape 14"/>
          <p:cNvSpPr/>
          <p:nvPr/>
        </p:nvSpPr>
        <p:spPr>
          <a:xfrm flipH="1" flipV="1">
            <a:off x="5943600" y="1005840"/>
            <a:ext cx="640080" cy="20088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Text 15"/>
          <p:cNvSpPr/>
          <p:nvPr/>
        </p:nvSpPr>
        <p:spPr>
          <a:xfrm>
            <a:off x="658368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Hood sucks gas out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Text 16"/>
          <p:cNvSpPr/>
          <p:nvPr/>
        </p:nvSpPr>
        <p:spPr>
          <a:xfrm>
            <a:off x="658368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8ecf1"/>
                </a:solidFill>
                <a:latin typeface="Calibri"/>
                <a:ea typeface="Calibri"/>
              </a:rPr>
              <a:t>Removes expanded hot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8ecf1"/>
                </a:solidFill>
                <a:latin typeface="Calibri"/>
                <a:ea typeface="Calibri"/>
              </a:rPr>
              <a:t>gases from kitchen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Text 17"/>
          <p:cNvSpPr/>
          <p:nvPr/>
        </p:nvSpPr>
        <p:spPr>
          <a:xfrm>
            <a:off x="3408480" y="3749400"/>
            <a:ext cx="26010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00e5a0"/>
                </a:solidFill>
                <a:latin typeface="Calibri"/>
              </a:rPr>
              <a:t>STP: 1 mol = 22.4 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00e5a0"/>
                </a:solidFill>
                <a:latin typeface="Calibri"/>
              </a:rPr>
              <a:t>Ideal: no forces, point particles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00e5a0"/>
                </a:solidFill>
                <a:latin typeface="Calibri"/>
              </a:rPr>
              <a:t>Valid: low P, high 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Equations of State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🗿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Sculpture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02" name="Image 0" descr="preencoded.png"/>
          <p:cNvPicPr/>
          <p:nvPr/>
        </p:nvPicPr>
        <p:blipFill>
          <a:blip r:embed="rId1"/>
          <a:stretch/>
        </p:blipFill>
        <p:spPr>
          <a:xfrm>
            <a:off x="2926080" y="731520"/>
            <a:ext cx="2924280" cy="2558520"/>
          </a:xfrm>
          <a:prstGeom prst="rect">
            <a:avLst/>
          </a:prstGeom>
          <a:ln w="0">
            <a:noFill/>
          </a:ln>
        </p:spPr>
      </p:pic>
      <p:sp>
        <p:nvSpPr>
          <p:cNvPr id="303" name="Shape 5"/>
          <p:cNvSpPr/>
          <p:nvPr/>
        </p:nvSpPr>
        <p:spPr>
          <a:xfrm>
            <a:off x="457200" y="342900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 6"/>
          <p:cNvSpPr/>
          <p:nvPr/>
        </p:nvSpPr>
        <p:spPr>
          <a:xfrm>
            <a:off x="548640" y="342900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(P + a/v²)(v − b) = RT   [van der Waals]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Shape 7"/>
          <p:cNvSpPr/>
          <p:nvPr/>
        </p:nvSpPr>
        <p:spPr>
          <a:xfrm>
            <a:off x="274320" y="393192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Text 8"/>
          <p:cNvSpPr/>
          <p:nvPr/>
        </p:nvSpPr>
        <p:spPr>
          <a:xfrm>
            <a:off x="365760" y="393192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SCULPTURE is REAL — </a:t>
            </a:r>
            <a:r>
              <a:rPr b="1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actual volume (b)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 and </a:t>
            </a:r>
            <a:r>
              <a:rPr b="1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surface attraction (a)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. Ideal gas = featureless ghost.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Shape 9"/>
          <p:cNvSpPr/>
          <p:nvPr/>
        </p:nvSpPr>
        <p:spPr>
          <a:xfrm>
            <a:off x="3154680" y="16002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Real volume → b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Parameter b: excluded volume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from finite molecular size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Shape 13"/>
          <p:cNvSpPr/>
          <p:nvPr/>
        </p:nvSpPr>
        <p:spPr>
          <a:xfrm>
            <a:off x="3611880" y="224028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Shape 14"/>
          <p:cNvSpPr/>
          <p:nvPr/>
        </p:nvSpPr>
        <p:spPr>
          <a:xfrm>
            <a:off x="2468880" y="2029680"/>
            <a:ext cx="1188720" cy="25632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Text 15"/>
          <p:cNvSpPr/>
          <p:nvPr/>
        </p:nvSpPr>
        <p:spPr>
          <a:xfrm>
            <a:off x="274320" y="19202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Surface attraction → a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" name="Text 16"/>
          <p:cNvSpPr/>
          <p:nvPr/>
        </p:nvSpPr>
        <p:spPr>
          <a:xfrm>
            <a:off x="274320" y="21398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Parameter a: intermolecular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attractive forces (a/v²)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Shape 17"/>
          <p:cNvSpPr/>
          <p:nvPr/>
        </p:nvSpPr>
        <p:spPr>
          <a:xfrm>
            <a:off x="544068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Z = Pv/RT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Compressibility factor: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Z=1 ideal, Z≠=1 real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Lever Rule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🪟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Glass Wall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24" name="Image 0" descr="preencoded.png"/>
          <p:cNvPicPr/>
          <p:nvPr/>
        </p:nvPicPr>
        <p:blipFill>
          <a:blip r:embed="rId1"/>
          <a:stretch/>
        </p:blipFill>
        <p:spPr>
          <a:xfrm>
            <a:off x="3474720" y="777240"/>
            <a:ext cx="2009880" cy="2009880"/>
          </a:xfrm>
          <a:prstGeom prst="rect">
            <a:avLst/>
          </a:prstGeom>
          <a:ln w="0">
            <a:noFill/>
          </a:ln>
        </p:spPr>
      </p:pic>
      <p:sp>
        <p:nvSpPr>
          <p:cNvPr id="325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V/(L+V) = (x</a:t>
            </a:r>
            <a:r>
              <a:rPr b="1" lang="en-US" sz="28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ₒᵥₑᵣₐₗₗ</a:t>
            </a: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−x</a:t>
            </a:r>
            <a:r>
              <a:rPr b="1" lang="en-US" sz="28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ₗᵢ</a:t>
            </a:r>
            <a:r>
              <a:rPr b="1" lang="en-US" sz="22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q</a:t>
            </a: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)/(x</a:t>
            </a:r>
            <a:r>
              <a:rPr b="1" lang="en-US" sz="32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ᵥₐₚ</a:t>
            </a: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−x</a:t>
            </a:r>
            <a:r>
              <a:rPr b="1" lang="en-US" sz="28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ₗᵢ</a:t>
            </a:r>
            <a:r>
              <a:rPr b="1" lang="en-US" sz="22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q</a:t>
            </a: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)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GLASS WALL: look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left (liquid)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 and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right (vapor)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. Seesaw —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distance to each phase = fraction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" name="Shape 9"/>
          <p:cNvSpPr/>
          <p:nvPr/>
        </p:nvSpPr>
        <p:spPr>
          <a:xfrm>
            <a:off x="3611880" y="132588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Shape 10"/>
          <p:cNvSpPr/>
          <p:nvPr/>
        </p:nvSpPr>
        <p:spPr>
          <a:xfrm>
            <a:off x="2468880" y="1206720"/>
            <a:ext cx="1188720" cy="16488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LEFT = liquid (xₗᵢ</a:t>
            </a:r>
            <a:r>
              <a:rPr b="1" lang="en-US" sz="800" spc="-1" strike="noStrike">
                <a:solidFill>
                  <a:srgbClr val="00b4d8"/>
                </a:solidFill>
                <a:latin typeface="Calibri"/>
                <a:ea typeface="Calibri"/>
              </a:rPr>
              <a:t>q</a:t>
            </a: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Liquid-phase composition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on the tie line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Shape 13"/>
          <p:cNvSpPr/>
          <p:nvPr/>
        </p:nvSpPr>
        <p:spPr>
          <a:xfrm>
            <a:off x="5257800" y="132588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Shape 14"/>
          <p:cNvSpPr/>
          <p:nvPr/>
        </p:nvSpPr>
        <p:spPr>
          <a:xfrm flipH="1">
            <a:off x="5303520" y="1206720"/>
            <a:ext cx="109728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Text 15"/>
          <p:cNvSpPr/>
          <p:nvPr/>
        </p:nvSpPr>
        <p:spPr>
          <a:xfrm>
            <a:off x="640080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RIGHT = vapor (xᵥₐₚ)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Text 16"/>
          <p:cNvSpPr/>
          <p:nvPr/>
        </p:nvSpPr>
        <p:spPr>
          <a:xfrm>
            <a:off x="640080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Vapor-phase composition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on the tie line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Shape 17"/>
          <p:cNvSpPr/>
          <p:nvPr/>
        </p:nvSpPr>
        <p:spPr>
          <a:xfrm>
            <a:off x="4069080" y="20574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Shape 18"/>
          <p:cNvSpPr/>
          <p:nvPr/>
        </p:nvSpPr>
        <p:spPr>
          <a:xfrm flipV="1">
            <a:off x="2468880" y="2103120"/>
            <a:ext cx="1645920" cy="1800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7000" bIns="-27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Text 19"/>
          <p:cNvSpPr/>
          <p:nvPr/>
        </p:nvSpPr>
        <p:spPr>
          <a:xfrm>
            <a:off x="274320" y="20116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YOU = overall comp.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" name="Text 20"/>
          <p:cNvSpPr/>
          <p:nvPr/>
        </p:nvSpPr>
        <p:spPr>
          <a:xfrm>
            <a:off x="274320" y="22312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Your position on the seesaw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determines phase fractions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15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Phase Equilibrium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🪑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Bench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46" name="Image 0" descr="preencoded.png"/>
          <p:cNvPicPr/>
          <p:nvPr/>
        </p:nvPicPr>
        <p:blipFill>
          <a:blip r:embed="rId1"/>
          <a:stretch/>
        </p:blipFill>
        <p:spPr>
          <a:xfrm>
            <a:off x="3474720" y="777240"/>
            <a:ext cx="2009880" cy="2009880"/>
          </a:xfrm>
          <a:prstGeom prst="rect">
            <a:avLst/>
          </a:prstGeom>
          <a:ln w="0">
            <a:noFill/>
          </a:ln>
        </p:spPr>
      </p:pic>
      <p:sp>
        <p:nvSpPr>
          <p:cNvPr id="347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d93d"/>
                </a:solidFill>
                <a:latin typeface="Consolas"/>
                <a:ea typeface="Consolas"/>
              </a:rPr>
              <a:t>Gibbs Phase Rule: F = C − P + 2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BENCH: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sit (liquid)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,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stand (gas)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,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 lie flat (solid)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.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Triple point = all 3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 simultaneously at one T,P.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Sit = LIQUID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4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One phase state: molecules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closely packed, fluid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" name="Shape 13"/>
          <p:cNvSpPr/>
          <p:nvPr/>
        </p:nvSpPr>
        <p:spPr>
          <a:xfrm>
            <a:off x="3794760" y="16002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Shape 14"/>
          <p:cNvSpPr/>
          <p:nvPr/>
        </p:nvSpPr>
        <p:spPr>
          <a:xfrm flipV="1">
            <a:off x="2468880" y="1645920"/>
            <a:ext cx="1371600" cy="1094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7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Stand = GAS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Low density, fills container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high kinetic energy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" name="Shape 17"/>
          <p:cNvSpPr/>
          <p:nvPr/>
        </p:nvSpPr>
        <p:spPr>
          <a:xfrm>
            <a:off x="5257800" y="11430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Shape 18"/>
          <p:cNvSpPr/>
          <p:nvPr/>
        </p:nvSpPr>
        <p:spPr>
          <a:xfrm flipH="1">
            <a:off x="5303520" y="1115280"/>
            <a:ext cx="1097280" cy="73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1" name="Text 19"/>
          <p:cNvSpPr/>
          <p:nvPr/>
        </p:nvSpPr>
        <p:spPr>
          <a:xfrm>
            <a:off x="640080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Lie = SOLID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Text 20"/>
          <p:cNvSpPr/>
          <p:nvPr/>
        </p:nvSpPr>
        <p:spPr>
          <a:xfrm>
            <a:off x="640080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Fixed lattice structure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lowest energy state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Text 21"/>
          <p:cNvSpPr/>
          <p:nvPr/>
        </p:nvSpPr>
        <p:spPr>
          <a:xfrm>
            <a:off x="3226320" y="4114800"/>
            <a:ext cx="296676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00e5a0"/>
                </a:solidFill>
                <a:latin typeface="Calibri"/>
              </a:rPr>
              <a:t>Triple pt: F = 0 (3 phases, 1 comp)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00e5a0"/>
                </a:solidFill>
                <a:latin typeface="Calibri"/>
              </a:rPr>
              <a:t>Critical pt: ∂ P/∂ V = 0, ∂ ² P/∂ V ² = 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6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Clausius-Clapeyron &amp; Antoine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📺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Screen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69" name="Image 0" descr="preencoded.png"/>
          <p:cNvPicPr/>
          <p:nvPr/>
        </p:nvPicPr>
        <p:blipFill>
          <a:blip r:embed="rId1"/>
          <a:stretch/>
        </p:blipFill>
        <p:spPr>
          <a:xfrm>
            <a:off x="2801520" y="777240"/>
            <a:ext cx="3160800" cy="2422800"/>
          </a:xfrm>
          <a:prstGeom prst="rect">
            <a:avLst/>
          </a:prstGeom>
          <a:ln w="0">
            <a:noFill/>
          </a:ln>
        </p:spPr>
      </p:pic>
      <p:sp>
        <p:nvSpPr>
          <p:cNvPr id="370" name="Shape 5"/>
          <p:cNvSpPr/>
          <p:nvPr/>
        </p:nvSpPr>
        <p:spPr>
          <a:xfrm>
            <a:off x="457200" y="344952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" name="Text 6"/>
          <p:cNvSpPr/>
          <p:nvPr/>
        </p:nvSpPr>
        <p:spPr>
          <a:xfrm>
            <a:off x="548640" y="341352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ln(P₂/P₁) = ΔHᵥₐₚ/R · (1/T₁ − 1/T₂)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2" name="Shape 7"/>
          <p:cNvSpPr/>
          <p:nvPr/>
        </p:nvSpPr>
        <p:spPr>
          <a:xfrm>
            <a:off x="274320" y="391644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" name="Text 8"/>
          <p:cNvSpPr/>
          <p:nvPr/>
        </p:nvSpPr>
        <p:spPr>
          <a:xfrm>
            <a:off x="365760" y="395244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SCREEN displays the </a:t>
            </a:r>
            <a:r>
              <a:rPr b="1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vapor pressure vs T curve — exponential rise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. Antoine: 3-parameter precision.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Shape 9"/>
          <p:cNvSpPr/>
          <p:nvPr/>
        </p:nvSpPr>
        <p:spPr>
          <a:xfrm>
            <a:off x="3154680" y="132588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" name="Shape 10"/>
          <p:cNvSpPr/>
          <p:nvPr/>
        </p:nvSpPr>
        <p:spPr>
          <a:xfrm>
            <a:off x="2468880" y="1206720"/>
            <a:ext cx="731520" cy="16488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Curve on screen = P* vs 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Vapor pressure increases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exponentially with 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Shape 13"/>
          <p:cNvSpPr/>
          <p:nvPr/>
        </p:nvSpPr>
        <p:spPr>
          <a:xfrm>
            <a:off x="544068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Shape 14"/>
          <p:cNvSpPr/>
          <p:nvPr/>
        </p:nvSpPr>
        <p:spPr>
          <a:xfrm flipH="1">
            <a:off x="5486400" y="1206720"/>
            <a:ext cx="914400" cy="43920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0" name="Text 15"/>
          <p:cNvSpPr/>
          <p:nvPr/>
        </p:nvSpPr>
        <p:spPr>
          <a:xfrm>
            <a:off x="640080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Slope = ΔHᵥₐₚ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1" name="Text 16"/>
          <p:cNvSpPr/>
          <p:nvPr/>
        </p:nvSpPr>
        <p:spPr>
          <a:xfrm>
            <a:off x="640080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Heat of vaporization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drives the P-T relationship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Text 17"/>
          <p:cNvSpPr/>
          <p:nvPr/>
        </p:nvSpPr>
        <p:spPr>
          <a:xfrm>
            <a:off x="2908080" y="4445640"/>
            <a:ext cx="269388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300" spc="-1" strike="noStrike">
                <a:solidFill>
                  <a:srgbClr val="00e5a0"/>
                </a:solidFill>
                <a:latin typeface="Calibri"/>
              </a:rPr>
              <a:t>Antoine: log ₁₀ (P*) = A − B / (C + T)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300" spc="-1" strike="noStrike">
                <a:solidFill>
                  <a:srgbClr val="00e5a0"/>
                </a:solidFill>
                <a:latin typeface="Calibri"/>
              </a:rPr>
              <a:t>Clapeyron: dP / dT = ΔH / (T · Δv)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83" name="" descr=""/>
          <p:cNvPicPr/>
          <p:nvPr/>
        </p:nvPicPr>
        <p:blipFill>
          <a:blip r:embed="rId2">
            <a:lum bright="70000" contrast="-70000"/>
          </a:blip>
          <a:stretch/>
        </p:blipFill>
        <p:spPr>
          <a:xfrm rot="21420000">
            <a:off x="3246840" y="855720"/>
            <a:ext cx="2194560" cy="1835640"/>
          </a:xfrm>
          <a:prstGeom prst="rect">
            <a:avLst/>
          </a:prstGeom>
          <a:ln w="648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17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7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Raoult's Law and VLE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🔊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Speaker Sub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89" name="Image 0" descr="preencoded.png"/>
          <p:cNvPicPr/>
          <p:nvPr/>
        </p:nvPicPr>
        <p:blipFill>
          <a:blip r:embed="rId1"/>
          <a:stretch/>
        </p:blipFill>
        <p:spPr>
          <a:xfrm>
            <a:off x="3474720" y="777240"/>
            <a:ext cx="2697120" cy="2508480"/>
          </a:xfrm>
          <a:prstGeom prst="rect">
            <a:avLst/>
          </a:prstGeom>
          <a:ln w="0">
            <a:noFill/>
          </a:ln>
        </p:spPr>
      </p:pic>
      <p:sp>
        <p:nvSpPr>
          <p:cNvPr id="390" name="Shape 5"/>
          <p:cNvSpPr/>
          <p:nvPr/>
        </p:nvSpPr>
        <p:spPr>
          <a:xfrm>
            <a:off x="457200" y="328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" name="Text 6"/>
          <p:cNvSpPr/>
          <p:nvPr/>
        </p:nvSpPr>
        <p:spPr>
          <a:xfrm>
            <a:off x="548640" y="328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pᵢ = xᵢ·Pᵢ*  |  yᵢ = pᵢ/Pₜₒₜₐₗ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" name="Shape 7"/>
          <p:cNvSpPr/>
          <p:nvPr/>
        </p:nvSpPr>
        <p:spPr>
          <a:xfrm>
            <a:off x="274320" y="378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" name="Text 8"/>
          <p:cNvSpPr/>
          <p:nvPr/>
        </p:nvSpPr>
        <p:spPr>
          <a:xfrm>
            <a:off x="365760" y="378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SPEAKER blends sound channels. </a:t>
            </a:r>
            <a:r>
              <a:rPr b="1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Raoult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: each component contributes </a:t>
            </a:r>
            <a:r>
              <a:rPr b="1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xᵢ × Pᵢ* to total pressure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5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Channel 1 = comp. 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Component 1 contributes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partial pressure x₁·P₁*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8" name="Shape 13"/>
          <p:cNvSpPr/>
          <p:nvPr/>
        </p:nvSpPr>
        <p:spPr>
          <a:xfrm>
            <a:off x="3794760" y="18745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9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Channel 2 = comp. 2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1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Component 2 contributes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partial pressure x₂·P₂*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Shape 17"/>
          <p:cNvSpPr/>
          <p:nvPr/>
        </p:nvSpPr>
        <p:spPr>
          <a:xfrm>
            <a:off x="3601800" y="24613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Shape 18"/>
          <p:cNvSpPr/>
          <p:nvPr/>
        </p:nvSpPr>
        <p:spPr>
          <a:xfrm flipV="1">
            <a:off x="2514600" y="251460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 19"/>
          <p:cNvSpPr/>
          <p:nvPr/>
        </p:nvSpPr>
        <p:spPr>
          <a:xfrm>
            <a:off x="228600" y="243360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Mixed sound = Pₜₒₜₐₗ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5" name="Text 20"/>
          <p:cNvSpPr/>
          <p:nvPr/>
        </p:nvSpPr>
        <p:spPr>
          <a:xfrm>
            <a:off x="228600" y="265320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Total P = sum of all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partial pressures (Dalton)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6" name="Text 21"/>
          <p:cNvSpPr/>
          <p:nvPr/>
        </p:nvSpPr>
        <p:spPr>
          <a:xfrm>
            <a:off x="3774960" y="4475160"/>
            <a:ext cx="1868040" cy="45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500" spc="-1" strike="noStrike">
                <a:solidFill>
                  <a:srgbClr val="00e5a0"/>
                </a:solidFill>
                <a:latin typeface="Calibri"/>
              </a:rPr>
              <a:t>Bubble P: P = Σxᵢ · Pᵢ*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500" spc="-1" strike="noStrike">
                <a:solidFill>
                  <a:srgbClr val="00e5a0"/>
                </a:solidFill>
                <a:latin typeface="Calibri"/>
              </a:rPr>
              <a:t>Dew P: 1/P = Σyᵢ / Pᵢ*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7" name=""/>
          <p:cNvSpPr/>
          <p:nvPr/>
        </p:nvSpPr>
        <p:spPr>
          <a:xfrm>
            <a:off x="5428080" y="1107720"/>
            <a:ext cx="613080" cy="1635120"/>
          </a:xfrm>
          <a:prstGeom prst="rect">
            <a:avLst/>
          </a:prstGeom>
          <a:solidFill>
            <a:srgbClr val="0a0f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08" name="" descr=""/>
          <p:cNvPicPr/>
          <p:nvPr/>
        </p:nvPicPr>
        <p:blipFill>
          <a:blip r:embed="rId2">
            <a:lum bright="70000" contrast="-70000"/>
          </a:blip>
          <a:stretch/>
        </p:blipFill>
        <p:spPr>
          <a:xfrm>
            <a:off x="5403600" y="894960"/>
            <a:ext cx="3054240" cy="2151720"/>
          </a:xfrm>
          <a:prstGeom prst="rect">
            <a:avLst/>
          </a:prstGeom>
          <a:ln w="0">
            <a:noFill/>
          </a:ln>
        </p:spPr>
      </p:pic>
      <p:sp>
        <p:nvSpPr>
          <p:cNvPr id="409" name=""/>
          <p:cNvSpPr/>
          <p:nvPr/>
        </p:nvSpPr>
        <p:spPr>
          <a:xfrm>
            <a:off x="4672080" y="721800"/>
            <a:ext cx="813960" cy="372600"/>
          </a:xfrm>
          <a:prstGeom prst="rect">
            <a:avLst/>
          </a:prstGeom>
          <a:solidFill>
            <a:srgbClr val="0a0f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0" name=""/>
          <p:cNvSpPr/>
          <p:nvPr/>
        </p:nvSpPr>
        <p:spPr>
          <a:xfrm rot="1200000">
            <a:off x="3901320" y="2904120"/>
            <a:ext cx="722520" cy="177120"/>
          </a:xfrm>
          <a:prstGeom prst="rect">
            <a:avLst/>
          </a:prstGeom>
          <a:solidFill>
            <a:srgbClr val="0a0f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3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18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Colligative Properties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🍽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Stacked Plates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16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4280" cy="2375640"/>
          </a:xfrm>
          <a:prstGeom prst="rect">
            <a:avLst/>
          </a:prstGeom>
          <a:ln w="0">
            <a:noFill/>
          </a:ln>
        </p:spPr>
      </p:pic>
      <p:sp>
        <p:nvSpPr>
          <p:cNvPr id="417" name="Shape 5"/>
          <p:cNvSpPr/>
          <p:nvPr/>
        </p:nvSpPr>
        <p:spPr>
          <a:xfrm>
            <a:off x="457200" y="329184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" name="Text 6"/>
          <p:cNvSpPr/>
          <p:nvPr/>
        </p:nvSpPr>
        <p:spPr>
          <a:xfrm>
            <a:off x="548640" y="329184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ΔTb = Kb·m  |  ΔTf = Kf·m  |  π = MRT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Shape 7"/>
          <p:cNvSpPr/>
          <p:nvPr/>
        </p:nvSpPr>
        <p:spPr>
          <a:xfrm>
            <a:off x="274320" y="379476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" name="Text 8"/>
          <p:cNvSpPr/>
          <p:nvPr/>
        </p:nvSpPr>
        <p:spPr>
          <a:xfrm>
            <a:off x="365760" y="379476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Each PLATE added (mole of solute) raises boiling point. More plates = more colligative effect!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1" name="Shape 9"/>
          <p:cNvSpPr/>
          <p:nvPr/>
        </p:nvSpPr>
        <p:spPr>
          <a:xfrm>
            <a:off x="3154680" y="150876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Shape 10"/>
          <p:cNvSpPr/>
          <p:nvPr/>
        </p:nvSpPr>
        <p:spPr>
          <a:xfrm>
            <a:off x="2468880" y="1206720"/>
            <a:ext cx="731520" cy="34776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Each plate = 1 mol solute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Colligative: depends only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on number of particles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" name="Shape 13"/>
          <p:cNvSpPr/>
          <p:nvPr/>
        </p:nvSpPr>
        <p:spPr>
          <a:xfrm>
            <a:off x="3611880" y="23317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Shape 14"/>
          <p:cNvSpPr/>
          <p:nvPr/>
        </p:nvSpPr>
        <p:spPr>
          <a:xfrm>
            <a:off x="2468880" y="2029680"/>
            <a:ext cx="1188720" cy="34776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" name="Text 15"/>
          <p:cNvSpPr/>
          <p:nvPr/>
        </p:nvSpPr>
        <p:spPr>
          <a:xfrm>
            <a:off x="274320" y="19202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More plates → ↑Tb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Text 16"/>
          <p:cNvSpPr/>
          <p:nvPr/>
        </p:nvSpPr>
        <p:spPr>
          <a:xfrm>
            <a:off x="274320" y="21398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Boiling point elevation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proportional to molality 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Shape 17"/>
          <p:cNvSpPr/>
          <p:nvPr/>
        </p:nvSpPr>
        <p:spPr>
          <a:xfrm>
            <a:off x="544068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Osmotic π = MRT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2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Osmotic pressure from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dilute solution theory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5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19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6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Ternary Phase Diagrams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🔧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Oven Grate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38" name="Image 0" descr="preencoded.png"/>
          <p:cNvPicPr/>
          <p:nvPr/>
        </p:nvPicPr>
        <p:blipFill>
          <a:blip r:embed="rId1"/>
          <a:stretch/>
        </p:blipFill>
        <p:spPr>
          <a:xfrm>
            <a:off x="2926080" y="921240"/>
            <a:ext cx="2924280" cy="2375640"/>
          </a:xfrm>
          <a:prstGeom prst="rect">
            <a:avLst/>
          </a:prstGeom>
          <a:ln w="0">
            <a:noFill/>
          </a:ln>
        </p:spPr>
      </p:pic>
      <p:sp>
        <p:nvSpPr>
          <p:cNvPr id="439" name="Shape 5"/>
          <p:cNvSpPr/>
          <p:nvPr/>
        </p:nvSpPr>
        <p:spPr>
          <a:xfrm>
            <a:off x="457200" y="375984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" name="Text 6"/>
          <p:cNvSpPr/>
          <p:nvPr/>
        </p:nvSpPr>
        <p:spPr>
          <a:xfrm>
            <a:off x="548640" y="375984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xₐ + xᵦ + x꜀ = 1  (triangle vertices = pure components)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" name="Shape 7"/>
          <p:cNvSpPr/>
          <p:nvPr/>
        </p:nvSpPr>
        <p:spPr>
          <a:xfrm>
            <a:off x="274320" y="426276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Text 8"/>
          <p:cNvSpPr/>
          <p:nvPr/>
        </p:nvSpPr>
        <p:spPr>
          <a:xfrm>
            <a:off x="365760" y="426276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OVEN GRATE: three bars, three components. Each </a:t>
            </a:r>
            <a:r>
              <a:rPr b="1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junction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 on </a:t>
            </a:r>
            <a:r>
              <a:rPr b="1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triangular grid = ternary mixture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" name="Shape 9"/>
          <p:cNvSpPr/>
          <p:nvPr/>
        </p:nvSpPr>
        <p:spPr>
          <a:xfrm>
            <a:off x="31546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4" name="Shape 10"/>
          <p:cNvSpPr/>
          <p:nvPr/>
        </p:nvSpPr>
        <p:spPr>
          <a:xfrm>
            <a:off x="2468880" y="1115280"/>
            <a:ext cx="7315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Vertex A = pure A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Each triangle corner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represents 100% of one comp.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7" name="Shape 13"/>
          <p:cNvSpPr/>
          <p:nvPr/>
        </p:nvSpPr>
        <p:spPr>
          <a:xfrm>
            <a:off x="3611880" y="224028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Shape 14"/>
          <p:cNvSpPr/>
          <p:nvPr/>
        </p:nvSpPr>
        <p:spPr>
          <a:xfrm>
            <a:off x="2468880" y="1938240"/>
            <a:ext cx="1188720" cy="34776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9" name="Text 15"/>
          <p:cNvSpPr/>
          <p:nvPr/>
        </p:nvSpPr>
        <p:spPr>
          <a:xfrm>
            <a:off x="274320" y="182880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Vertex C = pure C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0" name="Text 16"/>
          <p:cNvSpPr/>
          <p:nvPr/>
        </p:nvSpPr>
        <p:spPr>
          <a:xfrm>
            <a:off x="274320" y="204840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Interior points are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mixtures of all three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" name="Shape 17"/>
          <p:cNvSpPr/>
          <p:nvPr/>
        </p:nvSpPr>
        <p:spPr>
          <a:xfrm>
            <a:off x="3208680" y="268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Shape 18"/>
          <p:cNvSpPr/>
          <p:nvPr/>
        </p:nvSpPr>
        <p:spPr>
          <a:xfrm flipH="1">
            <a:off x="2286000" y="274320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3" name="Text 19"/>
          <p:cNvSpPr/>
          <p:nvPr/>
        </p:nvSpPr>
        <p:spPr>
          <a:xfrm>
            <a:off x="228600" y="274320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Tie line = 2 phases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" name="Text 20"/>
          <p:cNvSpPr/>
          <p:nvPr/>
        </p:nvSpPr>
        <p:spPr>
          <a:xfrm>
            <a:off x="228600" y="296280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Connects equilibrium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compositions of two phases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55" name="" descr=""/>
          <p:cNvPicPr/>
          <p:nvPr/>
        </p:nvPicPr>
        <p:blipFill>
          <a:blip r:embed="rId2">
            <a:lum bright="70000" contrast="-70000"/>
          </a:blip>
          <a:stretch/>
        </p:blipFill>
        <p:spPr>
          <a:xfrm>
            <a:off x="5838840" y="928440"/>
            <a:ext cx="2716200" cy="24804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8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20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9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Psychrometric Chart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🚽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Toilet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61" name="Image 0" descr="preencoded.png"/>
          <p:cNvPicPr/>
          <p:nvPr/>
        </p:nvPicPr>
        <p:blipFill>
          <a:blip r:embed="rId1"/>
          <a:stretch/>
        </p:blipFill>
        <p:spPr>
          <a:xfrm>
            <a:off x="2816280" y="758880"/>
            <a:ext cx="2924280" cy="2375640"/>
          </a:xfrm>
          <a:prstGeom prst="rect">
            <a:avLst/>
          </a:prstGeom>
          <a:ln w="0">
            <a:noFill/>
          </a:ln>
        </p:spPr>
      </p:pic>
      <p:sp>
        <p:nvSpPr>
          <p:cNvPr id="462" name="Shape 5"/>
          <p:cNvSpPr/>
          <p:nvPr/>
        </p:nvSpPr>
        <p:spPr>
          <a:xfrm>
            <a:off x="457200" y="386784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" name="Text 6"/>
          <p:cNvSpPr/>
          <p:nvPr/>
        </p:nvSpPr>
        <p:spPr>
          <a:xfrm>
            <a:off x="548640" y="386784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ω = 0.622·Pw/(P−Pw) | φ = Pw/Pₛₐₜ(T)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Shape 7"/>
          <p:cNvSpPr/>
          <p:nvPr/>
        </p:nvSpPr>
        <p:spPr>
          <a:xfrm>
            <a:off x="274320" y="437076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5" name="Text 8"/>
          <p:cNvSpPr/>
          <p:nvPr/>
        </p:nvSpPr>
        <p:spPr>
          <a:xfrm>
            <a:off x="365760" y="437076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TOILET in bathroom: moisture everywhere. Condensation on bowl = dew point reached!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" name="Shape 9"/>
          <p:cNvSpPr/>
          <p:nvPr/>
        </p:nvSpPr>
        <p:spPr>
          <a:xfrm>
            <a:off x="3154680" y="16002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Moisture = humidity ω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9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Humidity ratio: kg water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per kg dry air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" name="Shape 13"/>
          <p:cNvSpPr/>
          <p:nvPr/>
        </p:nvSpPr>
        <p:spPr>
          <a:xfrm>
            <a:off x="3611880" y="25146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" name="Shape 14"/>
          <p:cNvSpPr/>
          <p:nvPr/>
        </p:nvSpPr>
        <p:spPr>
          <a:xfrm>
            <a:off x="2468880" y="2121120"/>
            <a:ext cx="11887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2" name="Text 15"/>
          <p:cNvSpPr/>
          <p:nvPr/>
        </p:nvSpPr>
        <p:spPr>
          <a:xfrm>
            <a:off x="274320" y="20116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Bowl condensation = dew pt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3" name="Text 16"/>
          <p:cNvSpPr/>
          <p:nvPr/>
        </p:nvSpPr>
        <p:spPr>
          <a:xfrm>
            <a:off x="274320" y="22312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Temperature at which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φ reaches 100%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Shape 17"/>
          <p:cNvSpPr/>
          <p:nvPr/>
        </p:nvSpPr>
        <p:spPr>
          <a:xfrm>
            <a:off x="2956680" y="2716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Shape 18"/>
          <p:cNvSpPr/>
          <p:nvPr/>
        </p:nvSpPr>
        <p:spPr>
          <a:xfrm flipH="1">
            <a:off x="2057400" y="277920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6" name="Text 19"/>
          <p:cNvSpPr/>
          <p:nvPr/>
        </p:nvSpPr>
        <p:spPr>
          <a:xfrm>
            <a:off x="285480" y="289980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φ = Pw/Pₛₐₜ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7" name="Text 20"/>
          <p:cNvSpPr/>
          <p:nvPr/>
        </p:nvSpPr>
        <p:spPr>
          <a:xfrm>
            <a:off x="285480" y="311940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Relative humidity: actual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vs saturation vapor pressure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78" name="" descr=""/>
          <p:cNvPicPr/>
          <p:nvPr/>
        </p:nvPicPr>
        <p:blipFill>
          <a:blip r:embed="rId2">
            <a:lum bright="70000" contrast="-70000"/>
          </a:blip>
          <a:stretch/>
        </p:blipFill>
        <p:spPr>
          <a:xfrm>
            <a:off x="5128200" y="1094400"/>
            <a:ext cx="3680640" cy="2406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21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Adsorption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3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🪞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Wall Mirror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4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5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Langmuir: q = qₘₐₓ·KC / (1 + KC)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7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MIRROR surface collects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dust (adsorbate)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 on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glass (adsorbent)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.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Wipe off = desorption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Glass = adsorbent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1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Solid surface with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finite adsorption sites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Shape 13"/>
          <p:cNvSpPr/>
          <p:nvPr/>
        </p:nvSpPr>
        <p:spPr>
          <a:xfrm>
            <a:off x="3794760" y="18745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Dust = adsorbate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5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Gas/liquid molecules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adhering to surface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" name="Shape 17"/>
          <p:cNvSpPr/>
          <p:nvPr/>
        </p:nvSpPr>
        <p:spPr>
          <a:xfrm>
            <a:off x="5257800" y="14173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Finite sites → qₘₐₓ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9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Monolayer saturation: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all sites occupied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 21"/>
          <p:cNvSpPr/>
          <p:nvPr/>
        </p:nvSpPr>
        <p:spPr>
          <a:xfrm>
            <a:off x="3507840" y="4114800"/>
            <a:ext cx="254484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600" spc="-1" strike="noStrike">
                <a:solidFill>
                  <a:srgbClr val="00e5a0"/>
                </a:solidFill>
                <a:latin typeface="Calibri"/>
              </a:rPr>
              <a:t>Freundlich: q = K·C¹</a:t>
            </a:r>
            <a:r>
              <a:rPr b="1" i="1" lang="en-US" sz="1600" spc="-1" strike="noStrike" baseline="33000">
                <a:solidFill>
                  <a:srgbClr val="00e5a0"/>
                </a:solidFill>
                <a:latin typeface="Calibri"/>
              </a:rPr>
              <a:t>/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</a:rPr>
              <a:t>ⁿ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600" spc="-1" strike="noStrike">
                <a:solidFill>
                  <a:srgbClr val="00e5a0"/>
                </a:solidFill>
                <a:latin typeface="Calibri"/>
              </a:rPr>
              <a:t>BET: multilayer adsorption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501" name="Image 0" descr="preencoded.png"/>
          <p:cNvPicPr/>
          <p:nvPr/>
        </p:nvPicPr>
        <p:blipFill>
          <a:blip r:embed="rId1"/>
          <a:stretch/>
        </p:blipFill>
        <p:spPr>
          <a:xfrm>
            <a:off x="3474720" y="777240"/>
            <a:ext cx="2009880" cy="2009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3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22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State Functions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♟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Chess Board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507" name="Image 0" descr="preencoded.png"/>
          <p:cNvPicPr/>
          <p:nvPr/>
        </p:nvPicPr>
        <p:blipFill>
          <a:blip r:embed="rId1"/>
          <a:stretch/>
        </p:blipFill>
        <p:spPr>
          <a:xfrm>
            <a:off x="3017520" y="777240"/>
            <a:ext cx="2741400" cy="2284200"/>
          </a:xfrm>
          <a:prstGeom prst="rect">
            <a:avLst/>
          </a:prstGeom>
          <a:ln w="0">
            <a:noFill/>
          </a:ln>
        </p:spPr>
      </p:pic>
      <p:sp>
        <p:nvSpPr>
          <p:cNvPr id="508" name="Shape 5"/>
          <p:cNvSpPr/>
          <p:nvPr/>
        </p:nvSpPr>
        <p:spPr>
          <a:xfrm>
            <a:off x="457200" y="320040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" name="Text 6"/>
          <p:cNvSpPr/>
          <p:nvPr/>
        </p:nvSpPr>
        <p:spPr>
          <a:xfrm>
            <a:off x="548640" y="320040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State: U, H, S, G, V | Path: q, w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0" name="Shape 7"/>
          <p:cNvSpPr/>
          <p:nvPr/>
        </p:nvSpPr>
        <p:spPr>
          <a:xfrm>
            <a:off x="274320" y="370332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1" name="Text 8"/>
          <p:cNvSpPr/>
          <p:nvPr/>
        </p:nvSpPr>
        <p:spPr>
          <a:xfrm>
            <a:off x="365760" y="370332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CHESS: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king's position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 =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state function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 (doesn't matter which moves got it there).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Shape 9"/>
          <p:cNvSpPr/>
          <p:nvPr/>
        </p:nvSpPr>
        <p:spPr>
          <a:xfrm>
            <a:off x="3154680" y="150876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Shape 10"/>
          <p:cNvSpPr/>
          <p:nvPr/>
        </p:nvSpPr>
        <p:spPr>
          <a:xfrm>
            <a:off x="2468880" y="1206720"/>
            <a:ext cx="73152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4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Position = STATE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U, H, S, G, V depend only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on current T, P, composition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Shape 13"/>
          <p:cNvSpPr/>
          <p:nvPr/>
        </p:nvSpPr>
        <p:spPr>
          <a:xfrm>
            <a:off x="4069080" y="242316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7" name="Shape 14"/>
          <p:cNvSpPr/>
          <p:nvPr/>
        </p:nvSpPr>
        <p:spPr>
          <a:xfrm>
            <a:off x="2468880" y="2029680"/>
            <a:ext cx="16459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Text 15"/>
          <p:cNvSpPr/>
          <p:nvPr/>
        </p:nvSpPr>
        <p:spPr>
          <a:xfrm>
            <a:off x="274320" y="19202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Moves = PATH (q, w)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Text 16"/>
          <p:cNvSpPr/>
          <p:nvPr/>
        </p:nvSpPr>
        <p:spPr>
          <a:xfrm>
            <a:off x="274320" y="21398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Heat q and work w depend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on the process path taken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Shape 17"/>
          <p:cNvSpPr/>
          <p:nvPr/>
        </p:nvSpPr>
        <p:spPr>
          <a:xfrm>
            <a:off x="5440680" y="160020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2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Hess's Law: ΔH path-free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Enthalpy change same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regardless of route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5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23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Steam Tables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8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⌨️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Keyboard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529" name="Image 0" descr="preencoded.png"/>
          <p:cNvPicPr/>
          <p:nvPr/>
        </p:nvPicPr>
        <p:blipFill>
          <a:blip r:embed="rId1"/>
          <a:stretch/>
        </p:blipFill>
        <p:spPr>
          <a:xfrm>
            <a:off x="3474720" y="777240"/>
            <a:ext cx="2009880" cy="2009880"/>
          </a:xfrm>
          <a:prstGeom prst="rect">
            <a:avLst/>
          </a:prstGeom>
          <a:ln w="0">
            <a:noFill/>
          </a:ln>
        </p:spPr>
      </p:pic>
      <p:sp>
        <p:nvSpPr>
          <p:cNvPr id="530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H = H</a:t>
            </a:r>
            <a:r>
              <a:rPr b="1" lang="en-US" sz="28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f</a:t>
            </a: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 + x·H</a:t>
            </a:r>
            <a:r>
              <a:rPr b="1" lang="en-US" sz="28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fg</a:t>
            </a: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 | x = (H − H</a:t>
            </a:r>
            <a:r>
              <a:rPr b="1" lang="en-US" sz="28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f</a:t>
            </a: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) / H</a:t>
            </a:r>
            <a:r>
              <a:rPr b="1" lang="en-US" sz="28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fg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KEYBOARD lookup: press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T or P key → get H, S, v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. Steam tables = the keyboard of thermo.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5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6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Press T key → get 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7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Input temperature to find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enthalpy from sat. tables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" name="Shape 13"/>
          <p:cNvSpPr/>
          <p:nvPr/>
        </p:nvSpPr>
        <p:spPr>
          <a:xfrm>
            <a:off x="3794760" y="18745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9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0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Press P key → get 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Input pressure for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entropy, specific volume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" name="Shape 17"/>
          <p:cNvSpPr/>
          <p:nvPr/>
        </p:nvSpPr>
        <p:spPr>
          <a:xfrm>
            <a:off x="5257800" y="14173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Quality x = vapor frac.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x = fraction vapor in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two-phase region (0→1)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8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24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Mechanical Energy Balance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⚙️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Mech Device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551" name="Image 0" descr="preencoded.png"/>
          <p:cNvPicPr/>
          <p:nvPr/>
        </p:nvPicPr>
        <p:blipFill>
          <a:blip r:embed="rId1"/>
          <a:stretch/>
        </p:blipFill>
        <p:spPr>
          <a:xfrm>
            <a:off x="2560320" y="777240"/>
            <a:ext cx="3655800" cy="2284200"/>
          </a:xfrm>
          <a:prstGeom prst="rect">
            <a:avLst/>
          </a:prstGeom>
          <a:ln w="0">
            <a:noFill/>
          </a:ln>
        </p:spPr>
      </p:pic>
      <p:sp>
        <p:nvSpPr>
          <p:cNvPr id="552" name="Shape 5"/>
          <p:cNvSpPr/>
          <p:nvPr/>
        </p:nvSpPr>
        <p:spPr>
          <a:xfrm>
            <a:off x="457200" y="320040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3" name="Text 6"/>
          <p:cNvSpPr/>
          <p:nvPr/>
        </p:nvSpPr>
        <p:spPr>
          <a:xfrm>
            <a:off x="548640" y="320040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ΔP/ρ + Δ(v²)/2 + g·Δz + F = Wₛ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4" name="Shape 7"/>
          <p:cNvSpPr/>
          <p:nvPr/>
        </p:nvSpPr>
        <p:spPr>
          <a:xfrm>
            <a:off x="274320" y="370332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5" name="Text 8"/>
          <p:cNvSpPr/>
          <p:nvPr/>
        </p:nvSpPr>
        <p:spPr>
          <a:xfrm>
            <a:off x="365760" y="370332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MECHANICAL device: pump adds energy, turbine extracts. </a:t>
            </a:r>
            <a:r>
              <a:rPr b="1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Extended Bernoulli + friction + shaft work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Shape 9"/>
          <p:cNvSpPr/>
          <p:nvPr/>
        </p:nvSpPr>
        <p:spPr>
          <a:xfrm>
            <a:off x="288036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" name="Shape 10"/>
          <p:cNvSpPr/>
          <p:nvPr/>
        </p:nvSpPr>
        <p:spPr>
          <a:xfrm>
            <a:off x="2468880" y="1115280"/>
            <a:ext cx="45720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Pressure ΔP/ρ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Pressure energy per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unit mass of fluid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" name="Shape 13"/>
          <p:cNvSpPr/>
          <p:nvPr/>
        </p:nvSpPr>
        <p:spPr>
          <a:xfrm>
            <a:off x="3154680" y="178308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1" name="Shape 14"/>
          <p:cNvSpPr/>
          <p:nvPr/>
        </p:nvSpPr>
        <p:spPr>
          <a:xfrm>
            <a:off x="2468880" y="1755360"/>
            <a:ext cx="731520" cy="734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2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Kinetic Δv²/2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3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Change in kinetic energy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due to velocity change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" name="Shape 17"/>
          <p:cNvSpPr/>
          <p:nvPr/>
        </p:nvSpPr>
        <p:spPr>
          <a:xfrm>
            <a:off x="5715000" y="11430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Shape 18"/>
          <p:cNvSpPr/>
          <p:nvPr/>
        </p:nvSpPr>
        <p:spPr>
          <a:xfrm flipH="1">
            <a:off x="5760720" y="1115280"/>
            <a:ext cx="640080" cy="73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6" name="Text 19"/>
          <p:cNvSpPr/>
          <p:nvPr/>
        </p:nvSpPr>
        <p:spPr>
          <a:xfrm>
            <a:off x="640080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Potential gΔz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" name="Text 20"/>
          <p:cNvSpPr/>
          <p:nvPr/>
        </p:nvSpPr>
        <p:spPr>
          <a:xfrm>
            <a:off x="640080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Elevation change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gravitational PE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" name="Shape 21"/>
          <p:cNvSpPr/>
          <p:nvPr/>
        </p:nvSpPr>
        <p:spPr>
          <a:xfrm>
            <a:off x="5440680" y="205740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9" name="Shape 22"/>
          <p:cNvSpPr/>
          <p:nvPr/>
        </p:nvSpPr>
        <p:spPr>
          <a:xfrm flipH="1">
            <a:off x="5486400" y="1755360"/>
            <a:ext cx="914400" cy="34776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" name="Text 23"/>
          <p:cNvSpPr/>
          <p:nvPr/>
        </p:nvSpPr>
        <p:spPr>
          <a:xfrm>
            <a:off x="640080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Friction F (Darcy)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" name="Text 24"/>
          <p:cNvSpPr/>
          <p:nvPr/>
        </p:nvSpPr>
        <p:spPr>
          <a:xfrm>
            <a:off x="640080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Frictional losses from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Darcy-Weisbach: f·L/D·v²/2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4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25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Heat Capacities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6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Table Lamp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577" name="Image 0" descr="preencoded.png"/>
          <p:cNvPicPr/>
          <p:nvPr/>
        </p:nvPicPr>
        <p:blipFill>
          <a:blip r:embed="rId1"/>
          <a:stretch/>
        </p:blipFill>
        <p:spPr>
          <a:xfrm>
            <a:off x="2926080" y="731520"/>
            <a:ext cx="2924280" cy="2558520"/>
          </a:xfrm>
          <a:prstGeom prst="rect">
            <a:avLst/>
          </a:prstGeom>
          <a:ln w="0">
            <a:noFill/>
          </a:ln>
        </p:spPr>
      </p:pic>
      <p:sp>
        <p:nvSpPr>
          <p:cNvPr id="578" name="Shape 5"/>
          <p:cNvSpPr/>
          <p:nvPr/>
        </p:nvSpPr>
        <p:spPr>
          <a:xfrm>
            <a:off x="457200" y="342900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9" name="Text 6"/>
          <p:cNvSpPr/>
          <p:nvPr/>
        </p:nvSpPr>
        <p:spPr>
          <a:xfrm>
            <a:off x="548640" y="342900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Q = n·Cₚ·ΔT  |  Cₚ − Cᵥ = R (ideal gas)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0" name="Shape 7"/>
          <p:cNvSpPr/>
          <p:nvPr/>
        </p:nvSpPr>
        <p:spPr>
          <a:xfrm>
            <a:off x="274320" y="393192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1" name="Text 8"/>
          <p:cNvSpPr/>
          <p:nvPr/>
        </p:nvSpPr>
        <p:spPr>
          <a:xfrm>
            <a:off x="365760" y="393192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TABLE LAMP heats up: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Q = nCₚΔT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 joules.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Cₚ &gt; Cᵥ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 because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constant-P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 allows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expansion work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Shape 9"/>
          <p:cNvSpPr/>
          <p:nvPr/>
        </p:nvSpPr>
        <p:spPr>
          <a:xfrm>
            <a:off x="3154680" y="16002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3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Touch → hot! Q = nCₚΔT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Heat needed to raise 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at constant pressure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" name="Shape 13"/>
          <p:cNvSpPr/>
          <p:nvPr/>
        </p:nvSpPr>
        <p:spPr>
          <a:xfrm>
            <a:off x="544068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Shape 14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8" name="Text 15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γ = Cₚ/Cᵥ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9" name="Text 16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Heat capacity ratio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for isentropic processes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" name="Shape 17"/>
          <p:cNvSpPr/>
          <p:nvPr/>
        </p:nvSpPr>
        <p:spPr>
          <a:xfrm>
            <a:off x="5257800" y="233172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1" name="Shape 18"/>
          <p:cNvSpPr/>
          <p:nvPr/>
        </p:nvSpPr>
        <p:spPr>
          <a:xfrm flipH="1">
            <a:off x="5303520" y="2029680"/>
            <a:ext cx="1097280" cy="34776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2" name="Text 19"/>
          <p:cNvSpPr/>
          <p:nvPr/>
        </p:nvSpPr>
        <p:spPr>
          <a:xfrm>
            <a:off x="6400800" y="19202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Cₚ polynomial: a + bT + cT²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" name="Text 20"/>
          <p:cNvSpPr/>
          <p:nvPr/>
        </p:nvSpPr>
        <p:spPr>
          <a:xfrm>
            <a:off x="6400800" y="21398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Shomate equation fits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Cₚ vs T data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5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26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7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Energy Balance + Phase Change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✨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Glow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599" name="Image 0" descr="preencoded.png"/>
          <p:cNvPicPr/>
          <p:nvPr/>
        </p:nvPicPr>
        <p:blipFill>
          <a:blip r:embed="rId1"/>
          <a:stretch/>
        </p:blipFill>
        <p:spPr>
          <a:xfrm>
            <a:off x="2926080" y="731520"/>
            <a:ext cx="2924280" cy="2558520"/>
          </a:xfrm>
          <a:prstGeom prst="rect">
            <a:avLst/>
          </a:prstGeom>
          <a:ln w="0">
            <a:noFill/>
          </a:ln>
        </p:spPr>
      </p:pic>
      <p:sp>
        <p:nvSpPr>
          <p:cNvPr id="600" name="Shape 5"/>
          <p:cNvSpPr/>
          <p:nvPr/>
        </p:nvSpPr>
        <p:spPr>
          <a:xfrm>
            <a:off x="457200" y="342900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1" name="Text 6"/>
          <p:cNvSpPr/>
          <p:nvPr/>
        </p:nvSpPr>
        <p:spPr>
          <a:xfrm>
            <a:off x="548640" y="342900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Qₜₒₜₐₗ = Qₛₑₙₛᵢ</a:t>
            </a:r>
            <a:r>
              <a:rPr b="1" lang="en-US" sz="1400" spc="-1" strike="noStrike">
                <a:solidFill>
                  <a:srgbClr val="ffd93d"/>
                </a:solidFill>
                <a:latin typeface="Consolas"/>
                <a:ea typeface="Consolas"/>
              </a:rPr>
              <a:t>b</a:t>
            </a: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ₗₑ + Qₗₐₜₑₙₜ = ∫Cₚ dT + ΣΔHₚₕₐₛₑ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2" name="Shape 7"/>
          <p:cNvSpPr/>
          <p:nvPr/>
        </p:nvSpPr>
        <p:spPr>
          <a:xfrm>
            <a:off x="274320" y="393192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3" name="Text 8"/>
          <p:cNvSpPr/>
          <p:nvPr/>
        </p:nvSpPr>
        <p:spPr>
          <a:xfrm>
            <a:off x="365760" y="393192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GLOWING: add heat → T rises (sensible), then GLOWS at transition (latent heat, isothermal).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4" name="Shape 9"/>
          <p:cNvSpPr/>
          <p:nvPr/>
        </p:nvSpPr>
        <p:spPr>
          <a:xfrm>
            <a:off x="3154680" y="16002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5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6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Heat → T rises (sensible)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7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Temperature increases while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phase remains the same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8" name="Shape 13"/>
          <p:cNvSpPr/>
          <p:nvPr/>
        </p:nvSpPr>
        <p:spPr>
          <a:xfrm>
            <a:off x="3611880" y="25146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9" name="Shape 14"/>
          <p:cNvSpPr/>
          <p:nvPr/>
        </p:nvSpPr>
        <p:spPr>
          <a:xfrm>
            <a:off x="2468880" y="2121120"/>
            <a:ext cx="11887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0" name="Text 15"/>
          <p:cNvSpPr/>
          <p:nvPr/>
        </p:nvSpPr>
        <p:spPr>
          <a:xfrm>
            <a:off x="274320" y="20116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GLOW = phase change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1" name="Text 16"/>
          <p:cNvSpPr/>
          <p:nvPr/>
        </p:nvSpPr>
        <p:spPr>
          <a:xfrm>
            <a:off x="274320" y="22312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Latent heat absorbed at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constant T during transition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2" name="Shape 17"/>
          <p:cNvSpPr/>
          <p:nvPr/>
        </p:nvSpPr>
        <p:spPr>
          <a:xfrm>
            <a:off x="544068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4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ΔHᵥₐₚ, ΔHfᵤₛ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5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Enthalpies of vaporization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and fusion respectively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7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8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27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Flash Separations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0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Ceiling Lamp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21" name="Image 0" descr="preencoded.png"/>
          <p:cNvPicPr/>
          <p:nvPr/>
        </p:nvPicPr>
        <p:blipFill>
          <a:blip r:embed="rId1"/>
          <a:stretch/>
        </p:blipFill>
        <p:spPr>
          <a:xfrm>
            <a:off x="2926080" y="731520"/>
            <a:ext cx="2924280" cy="2558520"/>
          </a:xfrm>
          <a:prstGeom prst="rect">
            <a:avLst/>
          </a:prstGeom>
          <a:ln w="0">
            <a:noFill/>
          </a:ln>
        </p:spPr>
      </p:pic>
      <p:sp>
        <p:nvSpPr>
          <p:cNvPr id="622" name="Shape 5"/>
          <p:cNvSpPr/>
          <p:nvPr/>
        </p:nvSpPr>
        <p:spPr>
          <a:xfrm>
            <a:off x="457200" y="342900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3" name="Text 6"/>
          <p:cNvSpPr/>
          <p:nvPr/>
        </p:nvSpPr>
        <p:spPr>
          <a:xfrm>
            <a:off x="548640" y="342900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Σ zᵢ(Kᵢ−1)/(1 + V/F·(Kᵢ−1)) = 0  [Rachford-Rice]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Shape 7"/>
          <p:cNvSpPr/>
          <p:nvPr/>
        </p:nvSpPr>
        <p:spPr>
          <a:xfrm>
            <a:off x="274320" y="393192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5" name="Text 8"/>
          <p:cNvSpPr/>
          <p:nvPr/>
        </p:nvSpPr>
        <p:spPr>
          <a:xfrm>
            <a:off x="365760" y="393192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CEILING LAMP illuminates two phases below: vapor rises UP (light), liquid falls DOWN (heavy).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6" name="Shape 9"/>
          <p:cNvSpPr/>
          <p:nvPr/>
        </p:nvSpPr>
        <p:spPr>
          <a:xfrm>
            <a:off x="31546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7" name="Shape 10"/>
          <p:cNvSpPr/>
          <p:nvPr/>
        </p:nvSpPr>
        <p:spPr>
          <a:xfrm>
            <a:off x="2468880" y="1115280"/>
            <a:ext cx="7315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8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Vapor rises ↑ (light)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9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More volatile components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enriched in vapor phase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0" name="Shape 13"/>
          <p:cNvSpPr/>
          <p:nvPr/>
        </p:nvSpPr>
        <p:spPr>
          <a:xfrm>
            <a:off x="3611880" y="25146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1" name="Shape 14"/>
          <p:cNvSpPr/>
          <p:nvPr/>
        </p:nvSpPr>
        <p:spPr>
          <a:xfrm>
            <a:off x="2468880" y="2121120"/>
            <a:ext cx="11887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2" name="Text 15"/>
          <p:cNvSpPr/>
          <p:nvPr/>
        </p:nvSpPr>
        <p:spPr>
          <a:xfrm>
            <a:off x="274320" y="20116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Liquid falls ↓ (heavy)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3" name="Text 16"/>
          <p:cNvSpPr/>
          <p:nvPr/>
        </p:nvSpPr>
        <p:spPr>
          <a:xfrm>
            <a:off x="274320" y="22312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Less volatile components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concentrate in liquid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4" name="Shape 17"/>
          <p:cNvSpPr/>
          <p:nvPr/>
        </p:nvSpPr>
        <p:spPr>
          <a:xfrm>
            <a:off x="544068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6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Kᵢ = yᵢ/xᵢ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7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Equilibrium ratio: volatility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of each component (Raoult: Pᵢ*/P)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9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0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28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1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Heats of Reaction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2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🔦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Floor Lamp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43" name="Image 0" descr="preencoded.png"/>
          <p:cNvPicPr/>
          <p:nvPr/>
        </p:nvPicPr>
        <p:blipFill>
          <a:blip r:embed="rId1"/>
          <a:stretch/>
        </p:blipFill>
        <p:spPr>
          <a:xfrm>
            <a:off x="3200400" y="731520"/>
            <a:ext cx="2558520" cy="2558520"/>
          </a:xfrm>
          <a:prstGeom prst="rect">
            <a:avLst/>
          </a:prstGeom>
          <a:ln w="0">
            <a:noFill/>
          </a:ln>
        </p:spPr>
      </p:pic>
      <p:sp>
        <p:nvSpPr>
          <p:cNvPr id="644" name="Shape 5"/>
          <p:cNvSpPr/>
          <p:nvPr/>
        </p:nvSpPr>
        <p:spPr>
          <a:xfrm>
            <a:off x="457200" y="342900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5" name="Text 6"/>
          <p:cNvSpPr/>
          <p:nvPr/>
        </p:nvSpPr>
        <p:spPr>
          <a:xfrm>
            <a:off x="548640" y="342900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ΔH°ᵣₓₙ = Σνᵢ·ΔH°f,ₚᵣₒ</a:t>
            </a: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d</a:t>
            </a: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 − Σνᵢ·ΔH°f,ᵣₑₐ</a:t>
            </a: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c</a:t>
            </a: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ₜ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6" name="Shape 7"/>
          <p:cNvSpPr/>
          <p:nvPr/>
        </p:nvSpPr>
        <p:spPr>
          <a:xfrm>
            <a:off x="274320" y="393192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7" name="Text 8"/>
          <p:cNvSpPr/>
          <p:nvPr/>
        </p:nvSpPr>
        <p:spPr>
          <a:xfrm>
            <a:off x="365760" y="393192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FLOOR LAMP: plug in reactants → energy released as light (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exothermic, −ΔH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).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Hess's Law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!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8" name="Shape 9"/>
          <p:cNvSpPr/>
          <p:nvPr/>
        </p:nvSpPr>
        <p:spPr>
          <a:xfrm>
            <a:off x="3337560" y="269748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9" name="Shape 10"/>
          <p:cNvSpPr/>
          <p:nvPr/>
        </p:nvSpPr>
        <p:spPr>
          <a:xfrm>
            <a:off x="2468880" y="1206720"/>
            <a:ext cx="914400" cy="153648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Plug in = reactants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1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Starting materials with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known heats of formation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2" name="Shape 13"/>
          <p:cNvSpPr/>
          <p:nvPr/>
        </p:nvSpPr>
        <p:spPr>
          <a:xfrm>
            <a:off x="5257800" y="11430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Shape 14"/>
          <p:cNvSpPr/>
          <p:nvPr/>
        </p:nvSpPr>
        <p:spPr>
          <a:xfrm flipH="1">
            <a:off x="5303520" y="1115280"/>
            <a:ext cx="1097280" cy="73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4" name="Text 15"/>
          <p:cNvSpPr/>
          <p:nvPr/>
        </p:nvSpPr>
        <p:spPr>
          <a:xfrm>
            <a:off x="640080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Light out = −ΔH (exo)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5" name="Text 16"/>
          <p:cNvSpPr/>
          <p:nvPr/>
        </p:nvSpPr>
        <p:spPr>
          <a:xfrm>
            <a:off x="640080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Negative ΔH releases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energy to surroundings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6" name="Shape 17"/>
          <p:cNvSpPr/>
          <p:nvPr/>
        </p:nvSpPr>
        <p:spPr>
          <a:xfrm>
            <a:off x="4983480" y="16002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7" name="Shape 18"/>
          <p:cNvSpPr/>
          <p:nvPr/>
        </p:nvSpPr>
        <p:spPr>
          <a:xfrm flipH="1" flipV="1">
            <a:off x="5029200" y="1645920"/>
            <a:ext cx="1371600" cy="1094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8" name="Text 19"/>
          <p:cNvSpPr/>
          <p:nvPr/>
        </p:nvSpPr>
        <p:spPr>
          <a:xfrm>
            <a:off x="640080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+ΔH = endothermic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9" name="Text 20"/>
          <p:cNvSpPr/>
          <p:nvPr/>
        </p:nvSpPr>
        <p:spPr>
          <a:xfrm>
            <a:off x="640080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Positive ΔH absorbs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energy from surroundings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1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2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29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3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Energy Balance + Reaction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4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🔆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Lamp Shade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65" name="Image 0" descr="preencoded.png"/>
          <p:cNvPicPr/>
          <p:nvPr/>
        </p:nvPicPr>
        <p:blipFill>
          <a:blip r:embed="rId1"/>
          <a:stretch/>
        </p:blipFill>
        <p:spPr>
          <a:xfrm>
            <a:off x="2926080" y="731520"/>
            <a:ext cx="2924280" cy="2558520"/>
          </a:xfrm>
          <a:prstGeom prst="rect">
            <a:avLst/>
          </a:prstGeom>
          <a:ln w="0">
            <a:noFill/>
          </a:ln>
        </p:spPr>
      </p:pic>
      <p:sp>
        <p:nvSpPr>
          <p:cNvPr id="666" name="Shape 5"/>
          <p:cNvSpPr/>
          <p:nvPr/>
        </p:nvSpPr>
        <p:spPr>
          <a:xfrm>
            <a:off x="457200" y="342900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7" name="Text 6"/>
          <p:cNvSpPr/>
          <p:nvPr/>
        </p:nvSpPr>
        <p:spPr>
          <a:xfrm>
            <a:off x="548640" y="342900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Q = ΔHᵣₓₙ · ξ + ΔHₛₑₙₛᵢ</a:t>
            </a: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b</a:t>
            </a: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ₗₑ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8" name="Shape 7"/>
          <p:cNvSpPr/>
          <p:nvPr/>
        </p:nvSpPr>
        <p:spPr>
          <a:xfrm>
            <a:off x="274320" y="393192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9" name="Text 8"/>
          <p:cNvSpPr/>
          <p:nvPr/>
        </p:nvSpPr>
        <p:spPr>
          <a:xfrm>
            <a:off x="365760" y="393192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SHADE controls how much heat/light escapes the reactor. Balances generation vs removal.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0" name="Shape 9"/>
          <p:cNvSpPr/>
          <p:nvPr/>
        </p:nvSpPr>
        <p:spPr>
          <a:xfrm>
            <a:off x="3154680" y="160020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1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Shade = heat exchanger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3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Controls heat transfer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between reactor and surroundings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4" name="Shape 13"/>
          <p:cNvSpPr/>
          <p:nvPr/>
        </p:nvSpPr>
        <p:spPr>
          <a:xfrm>
            <a:off x="544068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Shape 14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6" name="Text 15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Light = ΔHᵣₓₙ·ξ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7" name="Text 16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Heat generated/consumed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proportional to extent ξ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8" name="Shape 17"/>
          <p:cNvSpPr/>
          <p:nvPr/>
        </p:nvSpPr>
        <p:spPr>
          <a:xfrm>
            <a:off x="5257800" y="23317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9" name="Shape 18"/>
          <p:cNvSpPr/>
          <p:nvPr/>
        </p:nvSpPr>
        <p:spPr>
          <a:xfrm flipH="1">
            <a:off x="5303520" y="2029680"/>
            <a:ext cx="1097280" cy="34776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0" name="Text 19"/>
          <p:cNvSpPr/>
          <p:nvPr/>
        </p:nvSpPr>
        <p:spPr>
          <a:xfrm>
            <a:off x="6400800" y="19202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Adiabatic: Q=0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1" name="Text 20"/>
          <p:cNvSpPr/>
          <p:nvPr/>
        </p:nvSpPr>
        <p:spPr>
          <a:xfrm>
            <a:off x="6400800" y="21398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No heat exchange: all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rxn heat stays in system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3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4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30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5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Adiabatic Flame Temperature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6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🕯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Table Lamp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87" name="Image 0" descr="preencoded.png"/>
          <p:cNvPicPr/>
          <p:nvPr/>
        </p:nvPicPr>
        <p:blipFill>
          <a:blip r:embed="rId1"/>
          <a:stretch/>
        </p:blipFill>
        <p:spPr>
          <a:xfrm>
            <a:off x="2926080" y="731520"/>
            <a:ext cx="2924280" cy="2558520"/>
          </a:xfrm>
          <a:prstGeom prst="rect">
            <a:avLst/>
          </a:prstGeom>
          <a:ln w="0">
            <a:noFill/>
          </a:ln>
        </p:spPr>
      </p:pic>
      <p:sp>
        <p:nvSpPr>
          <p:cNvPr id="688" name="Shape 5"/>
          <p:cNvSpPr/>
          <p:nvPr/>
        </p:nvSpPr>
        <p:spPr>
          <a:xfrm>
            <a:off x="457200" y="342900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9" name="Text 6"/>
          <p:cNvSpPr/>
          <p:nvPr/>
        </p:nvSpPr>
        <p:spPr>
          <a:xfrm>
            <a:off x="548640" y="342900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ΔHᵣₓₙ + ∫(Tᵣₑ</a:t>
            </a:r>
            <a:r>
              <a:rPr b="1" lang="en-US" sz="1400" spc="-1" strike="noStrike">
                <a:solidFill>
                  <a:srgbClr val="ffd93d"/>
                </a:solidFill>
                <a:latin typeface="Consolas"/>
                <a:ea typeface="Consolas"/>
              </a:rPr>
              <a:t>f </a:t>
            </a: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→ Tₐ</a:t>
            </a:r>
            <a:r>
              <a:rPr b="1" lang="en-US" sz="1500" spc="-1" strike="noStrike">
                <a:solidFill>
                  <a:srgbClr val="ffd93d"/>
                </a:solidFill>
                <a:latin typeface="Consolas"/>
                <a:ea typeface="Consolas"/>
              </a:rPr>
              <a:t>d</a:t>
            </a: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) n·Cₚ dT = 0   (Q = 0)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0" name="Shape 7"/>
          <p:cNvSpPr/>
          <p:nvPr/>
        </p:nvSpPr>
        <p:spPr>
          <a:xfrm>
            <a:off x="274320" y="393192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1" name="Text 8"/>
          <p:cNvSpPr/>
          <p:nvPr/>
        </p:nvSpPr>
        <p:spPr>
          <a:xfrm>
            <a:off x="365760" y="393192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800" spc="-1" strike="noStrike">
                <a:solidFill>
                  <a:srgbClr val="00e5a0"/>
                </a:solidFill>
                <a:latin typeface="Calibri"/>
                <a:ea typeface="Calibri"/>
              </a:rPr>
              <a:t>LAMP sealed in insulating box: all energy → heat → maximum temperature T</a:t>
            </a:r>
            <a:r>
              <a:rPr b="0" i="1" lang="en-US" sz="1800" spc="-1" strike="noStrike" baseline="-8000">
                <a:solidFill>
                  <a:srgbClr val="00e5a0"/>
                </a:solidFill>
                <a:latin typeface="Calibri"/>
                <a:ea typeface="Calibri"/>
              </a:rPr>
              <a:t>ad</a:t>
            </a:r>
            <a:r>
              <a:rPr b="0" i="1" lang="en-US" sz="1800" spc="-1" strike="noStrike">
                <a:solidFill>
                  <a:srgbClr val="00e5a0"/>
                </a:solidFill>
                <a:latin typeface="Calibri"/>
                <a:ea typeface="Calibri"/>
              </a:rPr>
              <a:t>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2" name="Shape 9"/>
          <p:cNvSpPr/>
          <p:nvPr/>
        </p:nvSpPr>
        <p:spPr>
          <a:xfrm>
            <a:off x="3154680" y="16002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3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4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Sealed box = adiabatic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5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No heat escapes: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perfect insulation (Q=0)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6" name="Shape 13"/>
          <p:cNvSpPr/>
          <p:nvPr/>
        </p:nvSpPr>
        <p:spPr>
          <a:xfrm>
            <a:off x="544068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Shape 14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8" name="Text 15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Max T = T</a:t>
            </a:r>
            <a:r>
              <a:rPr b="1" lang="en-US" sz="1100" spc="-1" strike="noStrike" baseline="-8000">
                <a:solidFill>
                  <a:srgbClr val="ffd93d"/>
                </a:solidFill>
                <a:latin typeface="Calibri"/>
                <a:ea typeface="Calibri"/>
              </a:rPr>
              <a:t>adiabatic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9" name="Text 16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Highest possible flame 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achieved with zero heat loss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0" name="Shape 17"/>
          <p:cNvSpPr/>
          <p:nvPr/>
        </p:nvSpPr>
        <p:spPr>
          <a:xfrm>
            <a:off x="5257800" y="233172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Shape 18"/>
          <p:cNvSpPr/>
          <p:nvPr/>
        </p:nvSpPr>
        <p:spPr>
          <a:xfrm flipH="1">
            <a:off x="5303520" y="2029680"/>
            <a:ext cx="1097280" cy="34776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Text 19"/>
          <p:cNvSpPr/>
          <p:nvPr/>
        </p:nvSpPr>
        <p:spPr>
          <a:xfrm>
            <a:off x="6400800" y="19202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Less excess air → higher T</a:t>
            </a:r>
            <a:r>
              <a:rPr b="1" lang="en-US" sz="1100" spc="-1" strike="noStrike" baseline="-8000">
                <a:solidFill>
                  <a:srgbClr val="00e5a0"/>
                </a:solidFill>
                <a:latin typeface="Calibri"/>
                <a:ea typeface="Calibri"/>
              </a:rPr>
              <a:t>ad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3" name="Text 20"/>
          <p:cNvSpPr/>
          <p:nvPr/>
        </p:nvSpPr>
        <p:spPr>
          <a:xfrm>
            <a:off x="6400800" y="21398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Extra air dilutes products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and absorbs heat → lower 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5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6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31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7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1st Law – Closed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8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🍷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Wine Bottle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09" name="Image 0" descr="preencoded.png"/>
          <p:cNvPicPr/>
          <p:nvPr/>
        </p:nvPicPr>
        <p:blipFill>
          <a:blip r:embed="rId1"/>
          <a:stretch/>
        </p:blipFill>
        <p:spPr>
          <a:xfrm>
            <a:off x="3474720" y="731520"/>
            <a:ext cx="2009880" cy="2741400"/>
          </a:xfrm>
          <a:prstGeom prst="rect">
            <a:avLst/>
          </a:prstGeom>
          <a:ln w="0">
            <a:noFill/>
          </a:ln>
        </p:spPr>
      </p:pic>
      <p:sp>
        <p:nvSpPr>
          <p:cNvPr id="710" name="Shape 5"/>
          <p:cNvSpPr/>
          <p:nvPr/>
        </p:nvSpPr>
        <p:spPr>
          <a:xfrm>
            <a:off x="457200" y="36118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1" name="Text 6"/>
          <p:cNvSpPr/>
          <p:nvPr/>
        </p:nvSpPr>
        <p:spPr>
          <a:xfrm>
            <a:off x="548640" y="36118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ΔU = Q − W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2" name="Shape 7"/>
          <p:cNvSpPr/>
          <p:nvPr/>
        </p:nvSpPr>
        <p:spPr>
          <a:xfrm>
            <a:off x="274320" y="41148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3" name="Text 8"/>
          <p:cNvSpPr/>
          <p:nvPr/>
        </p:nvSpPr>
        <p:spPr>
          <a:xfrm>
            <a:off x="365760" y="41148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WINE BOTTLE sealed (closed system).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Heat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 wine (Q) →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expands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 → cork pops (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W = P·ΔV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).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4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5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6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Sealed = closed system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7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No mass crosses the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system boundary</a:t>
            </a: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	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8" name="Shape 13"/>
          <p:cNvSpPr/>
          <p:nvPr/>
        </p:nvSpPr>
        <p:spPr>
          <a:xfrm>
            <a:off x="3611880" y="20574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9" name="Shape 14"/>
          <p:cNvSpPr/>
          <p:nvPr/>
        </p:nvSpPr>
        <p:spPr>
          <a:xfrm>
            <a:off x="2468880" y="1755360"/>
            <a:ext cx="1188720" cy="34776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0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Heat Q in →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1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Energy added as heat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(positive Q into system)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2" name="Shape 17"/>
          <p:cNvSpPr/>
          <p:nvPr/>
        </p:nvSpPr>
        <p:spPr>
          <a:xfrm>
            <a:off x="5257800" y="9601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Shape 18"/>
          <p:cNvSpPr/>
          <p:nvPr/>
        </p:nvSpPr>
        <p:spPr>
          <a:xfrm flipH="1" flipV="1">
            <a:off x="5303520" y="1005840"/>
            <a:ext cx="1097280" cy="109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4" name="Text 19"/>
          <p:cNvSpPr/>
          <p:nvPr/>
        </p:nvSpPr>
        <p:spPr>
          <a:xfrm>
            <a:off x="640080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Cork pops = W out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5" name="Text 20"/>
          <p:cNvSpPr/>
          <p:nvPr/>
        </p:nvSpPr>
        <p:spPr>
          <a:xfrm>
            <a:off x="640080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Boundary work done by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system: W = ∫P dV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6" name="Shape 21"/>
          <p:cNvSpPr/>
          <p:nvPr/>
        </p:nvSpPr>
        <p:spPr>
          <a:xfrm>
            <a:off x="4983480" y="205740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7" name="Shape 22"/>
          <p:cNvSpPr/>
          <p:nvPr/>
        </p:nvSpPr>
        <p:spPr>
          <a:xfrm flipH="1">
            <a:off x="5029200" y="1755360"/>
            <a:ext cx="1371600" cy="34776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8" name="Text 23"/>
          <p:cNvSpPr/>
          <p:nvPr/>
        </p:nvSpPr>
        <p:spPr>
          <a:xfrm>
            <a:off x="640080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ΔU stored internally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9" name="Text 24"/>
          <p:cNvSpPr/>
          <p:nvPr/>
        </p:nvSpPr>
        <p:spPr>
          <a:xfrm>
            <a:off x="640080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Whatever isn't work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changes internal energy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1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2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32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3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Buoyancy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4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🥂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Wine Glass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35" name="Image 0" descr="preencoded.png"/>
          <p:cNvPicPr/>
          <p:nvPr/>
        </p:nvPicPr>
        <p:blipFill>
          <a:blip r:embed="rId1"/>
          <a:stretch/>
        </p:blipFill>
        <p:spPr>
          <a:xfrm>
            <a:off x="3657600" y="731520"/>
            <a:ext cx="1644120" cy="2558520"/>
          </a:xfrm>
          <a:prstGeom prst="rect">
            <a:avLst/>
          </a:prstGeom>
          <a:ln w="0">
            <a:noFill/>
          </a:ln>
        </p:spPr>
      </p:pic>
      <p:sp>
        <p:nvSpPr>
          <p:cNvPr id="736" name="Shape 5"/>
          <p:cNvSpPr/>
          <p:nvPr/>
        </p:nvSpPr>
        <p:spPr>
          <a:xfrm>
            <a:off x="457200" y="342900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7" name="Text 6"/>
          <p:cNvSpPr/>
          <p:nvPr/>
        </p:nvSpPr>
        <p:spPr>
          <a:xfrm>
            <a:off x="548640" y="342900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Fb = ρ</a:t>
            </a: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f</a:t>
            </a: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ₗᵤᵢ</a:t>
            </a: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d</a:t>
            </a: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 · g · Vₛᵤ</a:t>
            </a: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b</a:t>
            </a: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ₘₑᵣ</a:t>
            </a: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g</a:t>
            </a: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ₑ</a:t>
            </a: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8" name="Shape 7"/>
          <p:cNvSpPr/>
          <p:nvPr/>
        </p:nvSpPr>
        <p:spPr>
          <a:xfrm>
            <a:off x="274320" y="393192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9" name="Text 8"/>
          <p:cNvSpPr/>
          <p:nvPr/>
        </p:nvSpPr>
        <p:spPr>
          <a:xfrm>
            <a:off x="365760" y="393192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WINE GLASS in water: does it float?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ρ</a:t>
            </a:r>
            <a:r>
              <a:rPr b="1" i="1" lang="en-US" sz="1800" spc="-1" strike="noStrike" baseline="-8000">
                <a:solidFill>
                  <a:srgbClr val="00e5a0"/>
                </a:solidFill>
                <a:latin typeface="Calibri"/>
                <a:ea typeface="Calibri"/>
              </a:rPr>
              <a:t>glass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 &gt; ρ</a:t>
            </a:r>
            <a:r>
              <a:rPr b="1" i="1" lang="en-US" sz="1800" spc="-1" strike="noStrike" baseline="-8000">
                <a:solidFill>
                  <a:srgbClr val="00e5a0"/>
                </a:solidFill>
                <a:latin typeface="Calibri"/>
                <a:ea typeface="Calibri"/>
              </a:rPr>
              <a:t>water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 →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sinks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!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Archimedes' principle.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0" name="Shape 9"/>
          <p:cNvSpPr/>
          <p:nvPr/>
        </p:nvSpPr>
        <p:spPr>
          <a:xfrm>
            <a:off x="3794760" y="16002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1" name="Shape 10"/>
          <p:cNvSpPr/>
          <p:nvPr/>
        </p:nvSpPr>
        <p:spPr>
          <a:xfrm>
            <a:off x="2468880" y="1206720"/>
            <a:ext cx="137160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2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Buoyant force ↑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3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Upward force = weight of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displaced fluid volume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4" name="Shape 13"/>
          <p:cNvSpPr/>
          <p:nvPr/>
        </p:nvSpPr>
        <p:spPr>
          <a:xfrm>
            <a:off x="4069080" y="25146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5" name="Shape 14"/>
          <p:cNvSpPr/>
          <p:nvPr/>
        </p:nvSpPr>
        <p:spPr>
          <a:xfrm>
            <a:off x="2468880" y="1938240"/>
            <a:ext cx="1645920" cy="6220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6" name="Text 15"/>
          <p:cNvSpPr/>
          <p:nvPr/>
        </p:nvSpPr>
        <p:spPr>
          <a:xfrm>
            <a:off x="274320" y="182880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Weight ↓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7" name="Text 16"/>
          <p:cNvSpPr/>
          <p:nvPr/>
        </p:nvSpPr>
        <p:spPr>
          <a:xfrm>
            <a:off x="274320" y="204840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Gravity pulling object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downward by its mass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8" name="Shape 17"/>
          <p:cNvSpPr/>
          <p:nvPr/>
        </p:nvSpPr>
        <p:spPr>
          <a:xfrm>
            <a:off x="507492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Shape 18"/>
          <p:cNvSpPr/>
          <p:nvPr/>
        </p:nvSpPr>
        <p:spPr>
          <a:xfrm flipH="1">
            <a:off x="5120640" y="1298160"/>
            <a:ext cx="128016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0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Float if ρ</a:t>
            </a:r>
            <a:r>
              <a:rPr b="1" lang="en-US" sz="1100" spc="-1" strike="noStrike" baseline="-8000">
                <a:solidFill>
                  <a:srgbClr val="ffd93d"/>
                </a:solidFill>
                <a:latin typeface="Calibri"/>
                <a:ea typeface="Calibri"/>
              </a:rPr>
              <a:t>obj</a:t>
            </a: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 &lt; ρ</a:t>
            </a:r>
            <a:r>
              <a:rPr b="1" lang="en-US" sz="1100" spc="-1" strike="noStrike" baseline="-8000">
                <a:solidFill>
                  <a:srgbClr val="ffd93d"/>
                </a:solidFill>
                <a:latin typeface="Calibri"/>
                <a:ea typeface="Calibri"/>
              </a:rPr>
              <a:t>fluid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1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Object less dense than fluid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will be buoyed upward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3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4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33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5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Properties of Fluids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6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🥃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White Wine Glass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7" name="Shape 5"/>
          <p:cNvSpPr/>
          <p:nvPr/>
        </p:nvSpPr>
        <p:spPr>
          <a:xfrm>
            <a:off x="457200" y="342900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8" name="Text 6"/>
          <p:cNvSpPr/>
          <p:nvPr/>
        </p:nvSpPr>
        <p:spPr>
          <a:xfrm>
            <a:off x="548640" y="342900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μ = τ / (du/dy) | ν = μ/ρ | σ = F/L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9" name="Shape 7"/>
          <p:cNvSpPr/>
          <p:nvPr/>
        </p:nvSpPr>
        <p:spPr>
          <a:xfrm>
            <a:off x="274320" y="393192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0" name="Text 8"/>
          <p:cNvSpPr/>
          <p:nvPr/>
        </p:nvSpPr>
        <p:spPr>
          <a:xfrm>
            <a:off x="365760" y="393192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WHITE WINE pours easily (low μ). Oil is thick (high μ). Meniscus in glass = surface tension σ.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1" name="Shape 9"/>
          <p:cNvSpPr/>
          <p:nvPr/>
        </p:nvSpPr>
        <p:spPr>
          <a:xfrm>
            <a:off x="379476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2" name="Shape 10"/>
          <p:cNvSpPr/>
          <p:nvPr/>
        </p:nvSpPr>
        <p:spPr>
          <a:xfrm flipV="1">
            <a:off x="2468880" y="1188720"/>
            <a:ext cx="1371600" cy="180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7000" bIns="-27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3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Pour → viscosity μ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4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Dynamic viscosity: resistance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to shear deformation (Pa·s)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5" name="Shape 13"/>
          <p:cNvSpPr/>
          <p:nvPr/>
        </p:nvSpPr>
        <p:spPr>
          <a:xfrm>
            <a:off x="4069080" y="20574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6" name="Shape 14"/>
          <p:cNvSpPr/>
          <p:nvPr/>
        </p:nvSpPr>
        <p:spPr>
          <a:xfrm>
            <a:off x="2468880" y="1938240"/>
            <a:ext cx="164592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7" name="Text 15"/>
          <p:cNvSpPr/>
          <p:nvPr/>
        </p:nvSpPr>
        <p:spPr>
          <a:xfrm>
            <a:off x="274320" y="182880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Meniscus = σ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8" name="Text 16"/>
          <p:cNvSpPr/>
          <p:nvPr/>
        </p:nvSpPr>
        <p:spPr>
          <a:xfrm>
            <a:off x="274320" y="204840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Surface tension: force per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unit length at interface (N/m)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9" name="Shape 17"/>
          <p:cNvSpPr/>
          <p:nvPr/>
        </p:nvSpPr>
        <p:spPr>
          <a:xfrm>
            <a:off x="507492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Shape 18"/>
          <p:cNvSpPr/>
          <p:nvPr/>
        </p:nvSpPr>
        <p:spPr>
          <a:xfrm flipH="1">
            <a:off x="5120640" y="1298160"/>
            <a:ext cx="128016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1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ρ = m/V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2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Density: mass per unit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volume (kg/m³)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73" name="Image 0" descr="preencoded.png"/>
          <p:cNvPicPr/>
          <p:nvPr/>
        </p:nvPicPr>
        <p:blipFill>
          <a:blip r:embed="rId1"/>
          <a:stretch/>
        </p:blipFill>
        <p:spPr>
          <a:xfrm>
            <a:off x="3657600" y="731520"/>
            <a:ext cx="1644120" cy="2558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74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775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776" name="Image 0" descr="preencoded.png"/>
          <p:cNvPicPr/>
          <p:nvPr/>
        </p:nvPicPr>
        <p:blipFill>
          <a:blip r:embed="rId3"/>
          <a:stretch/>
        </p:blipFill>
        <p:spPr>
          <a:xfrm>
            <a:off x="3657600" y="731520"/>
            <a:ext cx="1644120" cy="2558520"/>
          </a:xfrm>
          <a:prstGeom prst="rect">
            <a:avLst/>
          </a:prstGeom>
          <a:ln w="0">
            <a:noFill/>
          </a:ln>
        </p:spPr>
      </p:pic>
      <p:sp>
        <p:nvSpPr>
          <p:cNvPr id="777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8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34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Hydrostatic Pressure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1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🍷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Wine Glass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2" name="Shape 5"/>
          <p:cNvSpPr/>
          <p:nvPr/>
        </p:nvSpPr>
        <p:spPr>
          <a:xfrm>
            <a:off x="457200" y="342900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3" name="Text 6"/>
          <p:cNvSpPr/>
          <p:nvPr/>
        </p:nvSpPr>
        <p:spPr>
          <a:xfrm>
            <a:off x="548640" y="342900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P = P₀ + ρ·g·h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4" name="Shape 7"/>
          <p:cNvSpPr/>
          <p:nvPr/>
        </p:nvSpPr>
        <p:spPr>
          <a:xfrm>
            <a:off x="274320" y="393192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5" name="Text 8"/>
          <p:cNvSpPr/>
          <p:nvPr/>
        </p:nvSpPr>
        <p:spPr>
          <a:xfrm>
            <a:off x="365760" y="393192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WINE GLASS: pressure at bottom &gt; top. Deeper wine = more weight pressing down = higher P.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6" name="Shape 9"/>
          <p:cNvSpPr/>
          <p:nvPr/>
        </p:nvSpPr>
        <p:spPr>
          <a:xfrm>
            <a:off x="40690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7" name="Shape 10"/>
          <p:cNvSpPr/>
          <p:nvPr/>
        </p:nvSpPr>
        <p:spPr>
          <a:xfrm>
            <a:off x="2468880" y="1115280"/>
            <a:ext cx="16459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8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Top: P₀ (atmospheric)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9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Surface exposed to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atmospheric pressure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0" name="Shape 13"/>
          <p:cNvSpPr/>
          <p:nvPr/>
        </p:nvSpPr>
        <p:spPr>
          <a:xfrm>
            <a:off x="4069080" y="288036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1" name="Shape 14"/>
          <p:cNvSpPr/>
          <p:nvPr/>
        </p:nvSpPr>
        <p:spPr>
          <a:xfrm>
            <a:off x="2468880" y="2395440"/>
            <a:ext cx="1645920" cy="5306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2" name="Text 15"/>
          <p:cNvSpPr/>
          <p:nvPr/>
        </p:nvSpPr>
        <p:spPr>
          <a:xfrm>
            <a:off x="274320" y="228600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Bottom: P₀ + ρgh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3" name="Text 16"/>
          <p:cNvSpPr/>
          <p:nvPr/>
        </p:nvSpPr>
        <p:spPr>
          <a:xfrm>
            <a:off x="274320" y="250560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Pressure increases linearly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with depth 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4" name="Shape 17"/>
          <p:cNvSpPr/>
          <p:nvPr/>
        </p:nvSpPr>
        <p:spPr>
          <a:xfrm>
            <a:off x="5074920" y="20574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Shape 18"/>
          <p:cNvSpPr/>
          <p:nvPr/>
        </p:nvSpPr>
        <p:spPr>
          <a:xfrm flipH="1">
            <a:off x="5120640" y="1755360"/>
            <a:ext cx="128016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6" name="Text 19"/>
          <p:cNvSpPr/>
          <p:nvPr/>
        </p:nvSpPr>
        <p:spPr>
          <a:xfrm>
            <a:off x="640080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h = depth ↓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7" name="Text 20"/>
          <p:cNvSpPr/>
          <p:nvPr/>
        </p:nvSpPr>
        <p:spPr>
          <a:xfrm>
            <a:off x="640080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Measured downward from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free surface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9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0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35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1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Submerged Gates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2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🚪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Door (underwater)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3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4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Fᵣ = ρg·ȳ·A | ycₚ = ȳ + Iɢ/(ȳ·A)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5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6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UNDERWATER DOOR: water pushes harder at bottom. Center of pressure always below centroid.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7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8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9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Force Fᵣ = ρg·ȳ·A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0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Resultant hydrostatic force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on the submerged surface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1" name="Shape 13"/>
          <p:cNvSpPr/>
          <p:nvPr/>
        </p:nvSpPr>
        <p:spPr>
          <a:xfrm>
            <a:off x="4069080" y="160020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2" name="Shape 14"/>
          <p:cNvSpPr/>
          <p:nvPr/>
        </p:nvSpPr>
        <p:spPr>
          <a:xfrm flipV="1">
            <a:off x="2468880" y="1645920"/>
            <a:ext cx="1645920" cy="10944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3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Centroid ȳ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4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Depth of geometric center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of the submerged area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5" name="Shape 17"/>
          <p:cNvSpPr/>
          <p:nvPr/>
        </p:nvSpPr>
        <p:spPr>
          <a:xfrm>
            <a:off x="5257800" y="18745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6" name="Shape 18"/>
          <p:cNvSpPr/>
          <p:nvPr/>
        </p:nvSpPr>
        <p:spPr>
          <a:xfrm flipH="1">
            <a:off x="5303520" y="1298160"/>
            <a:ext cx="1097280" cy="6220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7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Center of pressure ycₚ ↓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8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Point where resultant acts: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always below centroid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19" name="Image 0" descr="preencoded.png"/>
          <p:cNvPicPr/>
          <p:nvPr/>
        </p:nvPicPr>
        <p:blipFill>
          <a:blip r:embed="rId1"/>
          <a:stretch/>
        </p:blipFill>
        <p:spPr>
          <a:xfrm>
            <a:off x="3474720" y="777240"/>
            <a:ext cx="2009880" cy="2009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1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2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36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3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Bernoulli's Equation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4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🚿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Shower Head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25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4280" cy="2284200"/>
          </a:xfrm>
          <a:prstGeom prst="rect">
            <a:avLst/>
          </a:prstGeom>
          <a:ln w="0">
            <a:noFill/>
          </a:ln>
        </p:spPr>
      </p:pic>
      <p:sp>
        <p:nvSpPr>
          <p:cNvPr id="826" name="Shape 5"/>
          <p:cNvSpPr/>
          <p:nvPr/>
        </p:nvSpPr>
        <p:spPr>
          <a:xfrm>
            <a:off x="457200" y="320040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7" name="Text 6"/>
          <p:cNvSpPr/>
          <p:nvPr/>
        </p:nvSpPr>
        <p:spPr>
          <a:xfrm>
            <a:off x="548640" y="320040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P + ½ρv² + ρgz = constant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8" name="Shape 7"/>
          <p:cNvSpPr/>
          <p:nvPr/>
        </p:nvSpPr>
        <p:spPr>
          <a:xfrm>
            <a:off x="274320" y="370332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9" name="Text 8"/>
          <p:cNvSpPr/>
          <p:nvPr/>
        </p:nvSpPr>
        <p:spPr>
          <a:xfrm>
            <a:off x="365760" y="370332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SHOWER HEAD: narrow holes → fast stream (↑v, ↓P by Bernoulli). Wide pipe = slow, high P.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0" name="Shape 9"/>
          <p:cNvSpPr/>
          <p:nvPr/>
        </p:nvSpPr>
        <p:spPr>
          <a:xfrm>
            <a:off x="3154680" y="16002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1" name="Shape 10"/>
          <p:cNvSpPr/>
          <p:nvPr/>
        </p:nvSpPr>
        <p:spPr>
          <a:xfrm>
            <a:off x="2468880" y="1115280"/>
            <a:ext cx="731520" cy="5306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2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Wide pipe: slow, high 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3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Large cross-section: low velocity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high static pressure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4" name="Shape 13"/>
          <p:cNvSpPr/>
          <p:nvPr/>
        </p:nvSpPr>
        <p:spPr>
          <a:xfrm>
            <a:off x="4069080" y="242316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5" name="Shape 14"/>
          <p:cNvSpPr/>
          <p:nvPr/>
        </p:nvSpPr>
        <p:spPr>
          <a:xfrm>
            <a:off x="2468880" y="1938240"/>
            <a:ext cx="1645920" cy="5306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6" name="Text 15"/>
          <p:cNvSpPr/>
          <p:nvPr/>
        </p:nvSpPr>
        <p:spPr>
          <a:xfrm>
            <a:off x="274320" y="182880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Narrow nozzle: fast, low 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7" name="Text 16"/>
          <p:cNvSpPr/>
          <p:nvPr/>
        </p:nvSpPr>
        <p:spPr>
          <a:xfrm>
            <a:off x="274320" y="204840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Constriction accelerates flow: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venturi effect drops pressure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8" name="Shape 17"/>
          <p:cNvSpPr/>
          <p:nvPr/>
        </p:nvSpPr>
        <p:spPr>
          <a:xfrm>
            <a:off x="544068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0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P + ½ρv² + ρgz = const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1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Energy conservation along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 streamline (inviscid, steady)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3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4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37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5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Viscosity &amp; Shear Stress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6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🔧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Shower Handle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47" name="Image 0" descr="preencoded.png"/>
          <p:cNvPicPr/>
          <p:nvPr/>
        </p:nvPicPr>
        <p:blipFill>
          <a:blip r:embed="rId1"/>
          <a:stretch/>
        </p:blipFill>
        <p:spPr>
          <a:xfrm>
            <a:off x="3200400" y="777240"/>
            <a:ext cx="2284200" cy="2101320"/>
          </a:xfrm>
          <a:prstGeom prst="rect">
            <a:avLst/>
          </a:prstGeom>
          <a:ln w="0">
            <a:noFill/>
          </a:ln>
        </p:spPr>
      </p:pic>
      <p:sp>
        <p:nvSpPr>
          <p:cNvPr id="848" name="Shape 5"/>
          <p:cNvSpPr/>
          <p:nvPr/>
        </p:nvSpPr>
        <p:spPr>
          <a:xfrm>
            <a:off x="457200" y="301752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9" name="Text 6"/>
          <p:cNvSpPr/>
          <p:nvPr/>
        </p:nvSpPr>
        <p:spPr>
          <a:xfrm>
            <a:off x="548640" y="301752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τ = μ · (du/dy)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0" name="Shape 7"/>
          <p:cNvSpPr/>
          <p:nvPr/>
        </p:nvSpPr>
        <p:spPr>
          <a:xfrm>
            <a:off x="274320" y="352044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1" name="Text 8"/>
          <p:cNvSpPr/>
          <p:nvPr/>
        </p:nvSpPr>
        <p:spPr>
          <a:xfrm>
            <a:off x="365760" y="352044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SHOWER HANDLE: twist = shear stress τ. Hard to turn (honey) = high μ. Easy (water) = low μ.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2" name="Shape 9"/>
          <p:cNvSpPr/>
          <p:nvPr/>
        </p:nvSpPr>
        <p:spPr>
          <a:xfrm>
            <a:off x="3337560" y="132588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3" name="Shape 10"/>
          <p:cNvSpPr/>
          <p:nvPr/>
        </p:nvSpPr>
        <p:spPr>
          <a:xfrm>
            <a:off x="2468880" y="1206720"/>
            <a:ext cx="914400" cy="16488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4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Twist = shear stress τ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5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Force per unit area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parallel to surface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6" name="Shape 13"/>
          <p:cNvSpPr/>
          <p:nvPr/>
        </p:nvSpPr>
        <p:spPr>
          <a:xfrm>
            <a:off x="3611880" y="20574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7" name="Shape 14"/>
          <p:cNvSpPr/>
          <p:nvPr/>
        </p:nvSpPr>
        <p:spPr>
          <a:xfrm>
            <a:off x="2468880" y="1938240"/>
            <a:ext cx="118872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8" name="Text 15"/>
          <p:cNvSpPr/>
          <p:nvPr/>
        </p:nvSpPr>
        <p:spPr>
          <a:xfrm>
            <a:off x="274320" y="182880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Resistance = viscosity μ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9" name="Text 16"/>
          <p:cNvSpPr/>
          <p:nvPr/>
        </p:nvSpPr>
        <p:spPr>
          <a:xfrm>
            <a:off x="274320" y="204840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Newton's law: proportionality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constant between τ and du/dy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0" name="Shape 17"/>
          <p:cNvSpPr/>
          <p:nvPr/>
        </p:nvSpPr>
        <p:spPr>
          <a:xfrm>
            <a:off x="525780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Shape 18"/>
          <p:cNvSpPr/>
          <p:nvPr/>
        </p:nvSpPr>
        <p:spPr>
          <a:xfrm flipH="1">
            <a:off x="5303520" y="1298160"/>
            <a:ext cx="109728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2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Re = ρvD/μ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3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Reynolds number: ratio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of inertial to viscous forces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5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6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38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7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Conservation of Mass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8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🗄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Wall Cabinet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69" name="Image 0" descr="preencoded.png"/>
          <p:cNvPicPr/>
          <p:nvPr/>
        </p:nvPicPr>
        <p:blipFill>
          <a:blip r:embed="rId1"/>
          <a:stretch/>
        </p:blipFill>
        <p:spPr>
          <a:xfrm>
            <a:off x="2743200" y="731520"/>
            <a:ext cx="3198600" cy="2558520"/>
          </a:xfrm>
          <a:prstGeom prst="rect">
            <a:avLst/>
          </a:prstGeom>
          <a:ln w="0">
            <a:noFill/>
          </a:ln>
        </p:spPr>
      </p:pic>
      <p:sp>
        <p:nvSpPr>
          <p:cNvPr id="870" name="Shape 5"/>
          <p:cNvSpPr/>
          <p:nvPr/>
        </p:nvSpPr>
        <p:spPr>
          <a:xfrm>
            <a:off x="457200" y="342900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1" name="Text 6"/>
          <p:cNvSpPr/>
          <p:nvPr/>
        </p:nvSpPr>
        <p:spPr>
          <a:xfrm>
            <a:off x="548640" y="342900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ρ₁A₁v₁ = ρ₂A₂v₂ (incompressible: A₁v₁ = A₂v₂)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2" name="Shape 7"/>
          <p:cNvSpPr/>
          <p:nvPr/>
        </p:nvSpPr>
        <p:spPr>
          <a:xfrm>
            <a:off x="274320" y="393192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3" name="Text 8"/>
          <p:cNvSpPr/>
          <p:nvPr/>
        </p:nvSpPr>
        <p:spPr>
          <a:xfrm>
            <a:off x="365760" y="393192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WALL CABINET: nothing appears or disappears inside. What goes in must come out!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4" name="Shape 9"/>
          <p:cNvSpPr/>
          <p:nvPr/>
        </p:nvSpPr>
        <p:spPr>
          <a:xfrm>
            <a:off x="2971800" y="16002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5" name="Shape 10"/>
          <p:cNvSpPr/>
          <p:nvPr/>
        </p:nvSpPr>
        <p:spPr>
          <a:xfrm>
            <a:off x="2468880" y="1206720"/>
            <a:ext cx="54864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6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IN: ρ₁A₁v₁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7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Mass flow rate entering: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density × area × velocity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8" name="Shape 13"/>
          <p:cNvSpPr/>
          <p:nvPr/>
        </p:nvSpPr>
        <p:spPr>
          <a:xfrm>
            <a:off x="562356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Shape 14"/>
          <p:cNvSpPr/>
          <p:nvPr/>
        </p:nvSpPr>
        <p:spPr>
          <a:xfrm flipH="1">
            <a:off x="5669280" y="1206720"/>
            <a:ext cx="731520" cy="43920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0" name="Text 15"/>
          <p:cNvSpPr/>
          <p:nvPr/>
        </p:nvSpPr>
        <p:spPr>
          <a:xfrm>
            <a:off x="640080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OUT: ρ₂A₂v₂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1" name="Text 16"/>
          <p:cNvSpPr/>
          <p:nvPr/>
        </p:nvSpPr>
        <p:spPr>
          <a:xfrm>
            <a:off x="640080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Mass flow rate leaving: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must equal inlet at SS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2" name="Shape 17"/>
          <p:cNvSpPr/>
          <p:nvPr/>
        </p:nvSpPr>
        <p:spPr>
          <a:xfrm>
            <a:off x="5257800" y="25146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3" name="Shape 18"/>
          <p:cNvSpPr/>
          <p:nvPr/>
        </p:nvSpPr>
        <p:spPr>
          <a:xfrm flipH="1">
            <a:off x="5303520" y="2121120"/>
            <a:ext cx="109728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4" name="Text 19"/>
          <p:cNvSpPr/>
          <p:nvPr/>
        </p:nvSpPr>
        <p:spPr>
          <a:xfrm>
            <a:off x="6400800" y="20116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Area ↓ → velocity ↑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5" name="Text 20"/>
          <p:cNvSpPr/>
          <p:nvPr/>
        </p:nvSpPr>
        <p:spPr>
          <a:xfrm>
            <a:off x="6400800" y="22312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Continuity: pipe narrows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→ </a:t>
            </a: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flow speeds up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7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8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39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9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Intro to Pipe Flow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0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🚿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Faucet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91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4280" cy="2375640"/>
          </a:xfrm>
          <a:prstGeom prst="rect">
            <a:avLst/>
          </a:prstGeom>
          <a:ln w="0">
            <a:noFill/>
          </a:ln>
        </p:spPr>
      </p:pic>
      <p:sp>
        <p:nvSpPr>
          <p:cNvPr id="892" name="Shape 5"/>
          <p:cNvSpPr/>
          <p:nvPr/>
        </p:nvSpPr>
        <p:spPr>
          <a:xfrm>
            <a:off x="457200" y="329184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3" name="Text 6"/>
          <p:cNvSpPr/>
          <p:nvPr/>
        </p:nvSpPr>
        <p:spPr>
          <a:xfrm>
            <a:off x="548640" y="329184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d93d"/>
                </a:solidFill>
                <a:latin typeface="Consolas"/>
                <a:ea typeface="Consolas"/>
              </a:rPr>
              <a:t>Re = ρvD/μ   |   Laminar: Re&lt;2100  |  Turbulent: Re&gt;4000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4" name="Shape 7"/>
          <p:cNvSpPr/>
          <p:nvPr/>
        </p:nvSpPr>
        <p:spPr>
          <a:xfrm>
            <a:off x="274320" y="379476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5" name="Text 8"/>
          <p:cNvSpPr/>
          <p:nvPr/>
        </p:nvSpPr>
        <p:spPr>
          <a:xfrm>
            <a:off x="365760" y="379476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200" spc="-1" strike="noStrike">
                <a:solidFill>
                  <a:srgbClr val="00e5a0"/>
                </a:solidFill>
                <a:latin typeface="Calibri"/>
                <a:ea typeface="Calibri"/>
              </a:rPr>
              <a:t>FAUCET: low flow = smooth laminar stream. Full blast = splashing turbulent chaos!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6" name="Shape 9"/>
          <p:cNvSpPr/>
          <p:nvPr/>
        </p:nvSpPr>
        <p:spPr>
          <a:xfrm>
            <a:off x="3154680" y="16002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7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8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Gentle = LAMINAR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9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 &lt; 2100: smooth ordered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layers, predictable flow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0" name="Shape 13"/>
          <p:cNvSpPr/>
          <p:nvPr/>
        </p:nvSpPr>
        <p:spPr>
          <a:xfrm>
            <a:off x="3611880" y="25146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1" name="Shape 14"/>
          <p:cNvSpPr/>
          <p:nvPr/>
        </p:nvSpPr>
        <p:spPr>
          <a:xfrm>
            <a:off x="2468880" y="2121120"/>
            <a:ext cx="11887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2" name="Text 15"/>
          <p:cNvSpPr/>
          <p:nvPr/>
        </p:nvSpPr>
        <p:spPr>
          <a:xfrm>
            <a:off x="274320" y="20116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Full blast = TURBULENT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3" name="Text 16"/>
          <p:cNvSpPr/>
          <p:nvPr/>
        </p:nvSpPr>
        <p:spPr>
          <a:xfrm>
            <a:off x="274320" y="22312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 &gt; 4000: chaotic mixing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eddies, enhanced transport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4" name="Shape 17"/>
          <p:cNvSpPr/>
          <p:nvPr/>
        </p:nvSpPr>
        <p:spPr>
          <a:xfrm>
            <a:off x="544068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6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Re = ρvD/μ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7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Dimensionless ratio: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inertial forces / viscous forces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9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0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40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1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Velocity Profiles in Pipe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2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🚰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Faucet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13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4280" cy="2375640"/>
          </a:xfrm>
          <a:prstGeom prst="rect">
            <a:avLst/>
          </a:prstGeom>
          <a:ln w="0">
            <a:noFill/>
          </a:ln>
        </p:spPr>
      </p:pic>
      <p:sp>
        <p:nvSpPr>
          <p:cNvPr id="914" name="Shape 5"/>
          <p:cNvSpPr/>
          <p:nvPr/>
        </p:nvSpPr>
        <p:spPr>
          <a:xfrm>
            <a:off x="457200" y="386784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5" name="Text 6"/>
          <p:cNvSpPr/>
          <p:nvPr/>
        </p:nvSpPr>
        <p:spPr>
          <a:xfrm>
            <a:off x="548640" y="386784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Laminar: v(r) = vₘₐₓ(1−(r/R)²)  |  vₐᵥ</a:t>
            </a:r>
            <a:r>
              <a:rPr b="1" lang="en-US" sz="1200" spc="-1" strike="noStrike">
                <a:solidFill>
                  <a:srgbClr val="ffd93d"/>
                </a:solidFill>
                <a:latin typeface="Consolas"/>
                <a:ea typeface="Consolas"/>
              </a:rPr>
              <a:t>g</a:t>
            </a: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 = vₘₐₓ/2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6" name="Shape 7"/>
          <p:cNvSpPr/>
          <p:nvPr/>
        </p:nvSpPr>
        <p:spPr>
          <a:xfrm>
            <a:off x="274320" y="437076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7" name="Text 8"/>
          <p:cNvSpPr/>
          <p:nvPr/>
        </p:nvSpPr>
        <p:spPr>
          <a:xfrm>
            <a:off x="365760" y="437076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FAUCET: center flows fastest, zero at wall (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no-slip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).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Parabolic profile = laminar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8" name="Shape 9"/>
          <p:cNvSpPr/>
          <p:nvPr/>
        </p:nvSpPr>
        <p:spPr>
          <a:xfrm>
            <a:off x="4069080" y="132588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Shape 10"/>
          <p:cNvSpPr/>
          <p:nvPr/>
        </p:nvSpPr>
        <p:spPr>
          <a:xfrm>
            <a:off x="2468880" y="1206720"/>
            <a:ext cx="164592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0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Center = fastest vₘₐₓ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1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Maximum velocity at the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centerline of the pipe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2" name="Shape 13"/>
          <p:cNvSpPr/>
          <p:nvPr/>
        </p:nvSpPr>
        <p:spPr>
          <a:xfrm>
            <a:off x="3262680" y="22986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3" name="Shape 14"/>
          <p:cNvSpPr/>
          <p:nvPr/>
        </p:nvSpPr>
        <p:spPr>
          <a:xfrm>
            <a:off x="2408040" y="2333160"/>
            <a:ext cx="853200" cy="1512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9880" bIns="-2988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4" name="Text 15"/>
          <p:cNvSpPr/>
          <p:nvPr/>
        </p:nvSpPr>
        <p:spPr>
          <a:xfrm>
            <a:off x="274320" y="20116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Wall = zero (no-slip)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5" name="Text 16"/>
          <p:cNvSpPr/>
          <p:nvPr/>
        </p:nvSpPr>
        <p:spPr>
          <a:xfrm>
            <a:off x="274320" y="22312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Fluid sticks to pipe wall: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 = 0 at r = 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6" name="Shape 17"/>
          <p:cNvSpPr/>
          <p:nvPr/>
        </p:nvSpPr>
        <p:spPr>
          <a:xfrm>
            <a:off x="3172680" y="275220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7" name="Shape 18"/>
          <p:cNvSpPr/>
          <p:nvPr/>
        </p:nvSpPr>
        <p:spPr>
          <a:xfrm flipH="1">
            <a:off x="2286000" y="2805480"/>
            <a:ext cx="914400" cy="34776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8" name="Text 19"/>
          <p:cNvSpPr/>
          <p:nvPr/>
        </p:nvSpPr>
        <p:spPr>
          <a:xfrm>
            <a:off x="285480" y="289080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Parabolic profile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9" name="Text 20"/>
          <p:cNvSpPr/>
          <p:nvPr/>
        </p:nvSpPr>
        <p:spPr>
          <a:xfrm>
            <a:off x="285480" y="311040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Laminar: parabola shape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Turbulent: flatter (1/7 law)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30" name="" descr=""/>
          <p:cNvPicPr/>
          <p:nvPr/>
        </p:nvPicPr>
        <p:blipFill>
          <a:blip r:embed="rId2">
            <a:lum bright="70000" contrast="-70000"/>
          </a:blip>
          <a:stretch/>
        </p:blipFill>
        <p:spPr>
          <a:xfrm>
            <a:off x="3881880" y="520920"/>
            <a:ext cx="5362560" cy="2931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2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3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41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4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Boundary Layer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5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🧻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TP Holder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6" name="Shape 5"/>
          <p:cNvSpPr/>
          <p:nvPr/>
        </p:nvSpPr>
        <p:spPr>
          <a:xfrm>
            <a:off x="457200" y="329184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7" name="Text 6"/>
          <p:cNvSpPr/>
          <p:nvPr/>
        </p:nvSpPr>
        <p:spPr>
          <a:xfrm>
            <a:off x="548640" y="329184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δ = 5x/√Reₓ (laminar)  |  Transition: Reₓ ≈ 5×10⁵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8" name="Shape 7"/>
          <p:cNvSpPr/>
          <p:nvPr/>
        </p:nvSpPr>
        <p:spPr>
          <a:xfrm>
            <a:off x="274320" y="379476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9" name="Text 8"/>
          <p:cNvSpPr/>
          <p:nvPr/>
        </p:nvSpPr>
        <p:spPr>
          <a:xfrm>
            <a:off x="365760" y="379476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TOILET PAPER unrolling: boundary layer builds as you pull. Near pin = thin δ, further = thick.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0" name="Shape 9"/>
          <p:cNvSpPr/>
          <p:nvPr/>
        </p:nvSpPr>
        <p:spPr>
          <a:xfrm>
            <a:off x="2542680" y="15282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1" name="Shape 10"/>
          <p:cNvSpPr/>
          <p:nvPr/>
        </p:nvSpPr>
        <p:spPr>
          <a:xfrm>
            <a:off x="1856880" y="1134720"/>
            <a:ext cx="73152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42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4280" cy="2375640"/>
          </a:xfrm>
          <a:prstGeom prst="rect">
            <a:avLst/>
          </a:prstGeom>
          <a:ln w="0">
            <a:noFill/>
          </a:ln>
        </p:spPr>
      </p:pic>
      <p:sp>
        <p:nvSpPr>
          <p:cNvPr id="943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Pin = leading edge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4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δ starts at zero at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the leading edge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5" name="Shape 13"/>
          <p:cNvSpPr/>
          <p:nvPr/>
        </p:nvSpPr>
        <p:spPr>
          <a:xfrm>
            <a:off x="4069080" y="242316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6" name="Shape 14"/>
          <p:cNvSpPr/>
          <p:nvPr/>
        </p:nvSpPr>
        <p:spPr>
          <a:xfrm>
            <a:off x="2468880" y="2029680"/>
            <a:ext cx="16459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7" name="Text 15"/>
          <p:cNvSpPr/>
          <p:nvPr/>
        </p:nvSpPr>
        <p:spPr>
          <a:xfrm>
            <a:off x="274320" y="19202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Further → δ grows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8" name="Text 16"/>
          <p:cNvSpPr/>
          <p:nvPr/>
        </p:nvSpPr>
        <p:spPr>
          <a:xfrm>
            <a:off x="274320" y="21398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BL thickness increases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with distance downstream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9" name="Shape 17"/>
          <p:cNvSpPr/>
          <p:nvPr/>
        </p:nvSpPr>
        <p:spPr>
          <a:xfrm>
            <a:off x="5980680" y="1384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0" name="Shape 18"/>
          <p:cNvSpPr/>
          <p:nvPr/>
        </p:nvSpPr>
        <p:spPr>
          <a:xfrm flipH="1">
            <a:off x="6026400" y="1082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1" name="Text 19"/>
          <p:cNvSpPr/>
          <p:nvPr/>
        </p:nvSpPr>
        <p:spPr>
          <a:xfrm>
            <a:off x="6292800" y="900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No-slip at wall: v=0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2" name="Text 20"/>
          <p:cNvSpPr/>
          <p:nvPr/>
        </p:nvSpPr>
        <p:spPr>
          <a:xfrm>
            <a:off x="6292800" y="1120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Velocity goes from 0 at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surface to U∞ at edge of δ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53" name="" descr=""/>
          <p:cNvPicPr/>
          <p:nvPr/>
        </p:nvPicPr>
        <p:blipFill>
          <a:blip r:embed="rId2">
            <a:lum bright="70000" contrast="-70000"/>
          </a:blip>
          <a:srcRect l="5645" t="19178" r="0" b="23722"/>
          <a:stretch/>
        </p:blipFill>
        <p:spPr>
          <a:xfrm rot="780000">
            <a:off x="2890800" y="1078200"/>
            <a:ext cx="4212360" cy="1164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4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5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6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42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7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Entrance Length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8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🗑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Hamper Flap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59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4280" cy="2375640"/>
          </a:xfrm>
          <a:prstGeom prst="rect">
            <a:avLst/>
          </a:prstGeom>
          <a:ln w="0">
            <a:noFill/>
          </a:ln>
        </p:spPr>
      </p:pic>
      <p:sp>
        <p:nvSpPr>
          <p:cNvPr id="960" name="Shape 5"/>
          <p:cNvSpPr/>
          <p:nvPr/>
        </p:nvSpPr>
        <p:spPr>
          <a:xfrm>
            <a:off x="457200" y="329184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1" name="Text 6"/>
          <p:cNvSpPr/>
          <p:nvPr/>
        </p:nvSpPr>
        <p:spPr>
          <a:xfrm>
            <a:off x="548640" y="329184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Lₑ/D = 0.06·Re (laminar)  |  Lₑ/D ≈ 4.4·Re¹</a:t>
            </a:r>
            <a:r>
              <a:rPr b="1" lang="en-US" sz="1800" spc="-1" strike="noStrike" baseline="33000">
                <a:solidFill>
                  <a:srgbClr val="ffd93d"/>
                </a:solidFill>
                <a:latin typeface="Consolas"/>
                <a:ea typeface="Consolas"/>
              </a:rPr>
              <a:t>/</a:t>
            </a: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⁶ (turb.)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2" name="Shape 7"/>
          <p:cNvSpPr/>
          <p:nvPr/>
        </p:nvSpPr>
        <p:spPr>
          <a:xfrm>
            <a:off x="274320" y="379476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3" name="Text 8"/>
          <p:cNvSpPr/>
          <p:nvPr/>
        </p:nvSpPr>
        <p:spPr>
          <a:xfrm>
            <a:off x="365760" y="379476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HAMPER FLAP: open it → flow chaotic near entry. After Lₑ distance, settles into final pattern.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4" name="Shape 9"/>
          <p:cNvSpPr/>
          <p:nvPr/>
        </p:nvSpPr>
        <p:spPr>
          <a:xfrm>
            <a:off x="3154680" y="16002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5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6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Entry = developing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7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Velocity profile changing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with position x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8" name="Shape 13"/>
          <p:cNvSpPr/>
          <p:nvPr/>
        </p:nvSpPr>
        <p:spPr>
          <a:xfrm>
            <a:off x="544068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9" name="Shape 14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0" name="Text 15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After Lₑ = fully developed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1" name="Text 16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Profile no longer changes: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correlations valid beyond Lₑ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3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4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43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5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Pressure Drop in Pipes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6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🥛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Toothbrush Cup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77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4280" cy="2375640"/>
          </a:xfrm>
          <a:prstGeom prst="rect">
            <a:avLst/>
          </a:prstGeom>
          <a:ln w="0">
            <a:noFill/>
          </a:ln>
        </p:spPr>
      </p:pic>
      <p:sp>
        <p:nvSpPr>
          <p:cNvPr id="978" name="Shape 5"/>
          <p:cNvSpPr/>
          <p:nvPr/>
        </p:nvSpPr>
        <p:spPr>
          <a:xfrm>
            <a:off x="457200" y="329184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9" name="Text 6"/>
          <p:cNvSpPr/>
          <p:nvPr/>
        </p:nvSpPr>
        <p:spPr>
          <a:xfrm>
            <a:off x="548640" y="329184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ΔP = f·(L/D)·(ρv²/2)   [Darcy-Weisbach]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0" name="Shape 7"/>
          <p:cNvSpPr/>
          <p:nvPr/>
        </p:nvSpPr>
        <p:spPr>
          <a:xfrm>
            <a:off x="274320" y="379476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1" name="Text 8"/>
          <p:cNvSpPr/>
          <p:nvPr/>
        </p:nvSpPr>
        <p:spPr>
          <a:xfrm>
            <a:off x="365760" y="379476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300" spc="-1" strike="noStrike">
                <a:solidFill>
                  <a:srgbClr val="00e5a0"/>
                </a:solidFill>
                <a:latin typeface="Calibri"/>
                <a:ea typeface="Calibri"/>
              </a:rPr>
              <a:t>TOOTHBRUSH CUP: fill by pumping water up pipe. Friction wastes energy — Darcy-Weisbach calculates it.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2" name="Shape 9"/>
          <p:cNvSpPr/>
          <p:nvPr/>
        </p:nvSpPr>
        <p:spPr>
          <a:xfrm>
            <a:off x="3154680" y="16002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3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4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f = friction factor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5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From Moody chart: f(Re, ε/D)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Laminar: f = 64/Re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6" name="Shape 13"/>
          <p:cNvSpPr/>
          <p:nvPr/>
        </p:nvSpPr>
        <p:spPr>
          <a:xfrm>
            <a:off x="3611880" y="224028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7" name="Shape 14"/>
          <p:cNvSpPr/>
          <p:nvPr/>
        </p:nvSpPr>
        <p:spPr>
          <a:xfrm>
            <a:off x="2468880" y="1938240"/>
            <a:ext cx="1188720" cy="34776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8" name="Text 15"/>
          <p:cNvSpPr/>
          <p:nvPr/>
        </p:nvSpPr>
        <p:spPr>
          <a:xfrm>
            <a:off x="274320" y="182880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L/D = pipe geometry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9" name="Text 16"/>
          <p:cNvSpPr/>
          <p:nvPr/>
        </p:nvSpPr>
        <p:spPr>
          <a:xfrm>
            <a:off x="274320" y="204840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Longer pipe / smaller diameter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= more friction loss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0" name="Shape 17"/>
          <p:cNvSpPr/>
          <p:nvPr/>
        </p:nvSpPr>
        <p:spPr>
          <a:xfrm>
            <a:off x="544068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1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2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Power = Q·ΔP/η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3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Pump power required to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overcome frictional losses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94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995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996" name="Picture 1" descr="preencoded.png"/>
          <p:cNvPicPr/>
          <p:nvPr/>
        </p:nvPicPr>
        <p:blipFill>
          <a:blip r:embed="rId3"/>
          <a:stretch/>
        </p:blipFill>
        <p:spPr>
          <a:xfrm>
            <a:off x="3008160" y="723240"/>
            <a:ext cx="2932560" cy="2380320"/>
          </a:xfrm>
          <a:prstGeom prst="rect">
            <a:avLst/>
          </a:prstGeom>
          <a:ln w="0">
            <a:noFill/>
          </a:ln>
        </p:spPr>
      </p:pic>
      <p:sp>
        <p:nvSpPr>
          <p:cNvPr id="997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8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9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44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0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Equivalent Length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1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Bedroom Lamp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2" name="Shape 5"/>
          <p:cNvSpPr/>
          <p:nvPr/>
        </p:nvSpPr>
        <p:spPr>
          <a:xfrm>
            <a:off x="457200" y="329184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3" name="Text 6"/>
          <p:cNvSpPr/>
          <p:nvPr/>
        </p:nvSpPr>
        <p:spPr>
          <a:xfrm>
            <a:off x="548640" y="329184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Lₑ</a:t>
            </a:r>
            <a:r>
              <a:rPr b="1" lang="en-US" sz="1200" spc="-1" strike="noStrike">
                <a:solidFill>
                  <a:srgbClr val="ffd93d"/>
                </a:solidFill>
                <a:latin typeface="Consolas"/>
                <a:ea typeface="Consolas"/>
              </a:rPr>
              <a:t>q</a:t>
            </a: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 = K·D/f  |  ΔPₜₒₜₐₗ = f·(L + ΣLₑ</a:t>
            </a:r>
            <a:r>
              <a:rPr b="1" lang="en-US" sz="1200" spc="-1" strike="noStrike">
                <a:solidFill>
                  <a:srgbClr val="ffd93d"/>
                </a:solidFill>
                <a:latin typeface="Consolas"/>
                <a:ea typeface="Consolas"/>
              </a:rPr>
              <a:t>q</a:t>
            </a: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)/D · (ρv²/2)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4" name="Shape 7"/>
          <p:cNvSpPr/>
          <p:nvPr/>
        </p:nvSpPr>
        <p:spPr>
          <a:xfrm>
            <a:off x="274320" y="379476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5" name="Text 8"/>
          <p:cNvSpPr/>
          <p:nvPr/>
        </p:nvSpPr>
        <p:spPr>
          <a:xfrm>
            <a:off x="365760" y="379476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BEDROOM LAMP with extension cord: cord adds resistance. Each valve/elbow = extra cord length.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6" name="Shape 9"/>
          <p:cNvSpPr/>
          <p:nvPr/>
        </p:nvSpPr>
        <p:spPr>
          <a:xfrm>
            <a:off x="3154680" y="16002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7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8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Direct wire = pipe 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9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Straight pipe contributes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friction over length 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0" name="Shape 13"/>
          <p:cNvSpPr/>
          <p:nvPr/>
        </p:nvSpPr>
        <p:spPr>
          <a:xfrm>
            <a:off x="3611880" y="242316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1" name="Shape 14"/>
          <p:cNvSpPr/>
          <p:nvPr/>
        </p:nvSpPr>
        <p:spPr>
          <a:xfrm>
            <a:off x="2468880" y="2029680"/>
            <a:ext cx="11887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2" name="Text 15"/>
          <p:cNvSpPr/>
          <p:nvPr/>
        </p:nvSpPr>
        <p:spPr>
          <a:xfrm>
            <a:off x="274320" y="19202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Extension cord = Lₑ</a:t>
            </a:r>
            <a:r>
              <a:rPr b="1" lang="en-US" sz="700" spc="-1" strike="noStrike">
                <a:solidFill>
                  <a:srgbClr val="ff6b6b"/>
                </a:solidFill>
                <a:latin typeface="Calibri"/>
                <a:ea typeface="Calibri"/>
              </a:rPr>
              <a:t>q</a:t>
            </a:r>
            <a:endParaRPr b="0" lang="en-US" sz="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3" name="Text 16"/>
          <p:cNvSpPr/>
          <p:nvPr/>
        </p:nvSpPr>
        <p:spPr>
          <a:xfrm>
            <a:off x="274320" y="21398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Fittings expressed as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equivalent extra pipe length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4" name="Shape 17"/>
          <p:cNvSpPr/>
          <p:nvPr/>
        </p:nvSpPr>
        <p:spPr>
          <a:xfrm>
            <a:off x="544068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6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K = loss coefficient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7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Tabulated for each fitting: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valve, elbow, tee, etc.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8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9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0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45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1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Multipipe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2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🗄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Bedroom Cabinet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3" name="Shape 5"/>
          <p:cNvSpPr/>
          <p:nvPr/>
        </p:nvSpPr>
        <p:spPr>
          <a:xfrm>
            <a:off x="457200" y="329184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4" name="Text 6"/>
          <p:cNvSpPr/>
          <p:nvPr/>
        </p:nvSpPr>
        <p:spPr>
          <a:xfrm>
            <a:off x="548640" y="329184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Series: Q same, ΔP = ΣΔPᵢ  |  Parallel: ΔP same, Q = ΣQᵢ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5" name="Shape 7"/>
          <p:cNvSpPr/>
          <p:nvPr/>
        </p:nvSpPr>
        <p:spPr>
          <a:xfrm>
            <a:off x="274320" y="379476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6" name="Text 8"/>
          <p:cNvSpPr/>
          <p:nvPr/>
        </p:nvSpPr>
        <p:spPr>
          <a:xfrm>
            <a:off x="365760" y="379476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800" spc="-1" strike="noStrike">
                <a:solidFill>
                  <a:srgbClr val="00e5a0"/>
                </a:solidFill>
                <a:latin typeface="Calibri"/>
                <a:ea typeface="Calibri"/>
              </a:rPr>
              <a:t>CABINET: drawers side-by-side (parallel, same ΔP) or stacked (series, same Q).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7" name="Shape 9"/>
          <p:cNvSpPr/>
          <p:nvPr/>
        </p:nvSpPr>
        <p:spPr>
          <a:xfrm>
            <a:off x="3154680" y="16002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8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9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Side-by-side = PARALLEL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0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Same pressure drop across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each branch; flows add up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1" name="Shape 13"/>
          <p:cNvSpPr/>
          <p:nvPr/>
        </p:nvSpPr>
        <p:spPr>
          <a:xfrm>
            <a:off x="3611880" y="242316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2" name="Shape 14"/>
          <p:cNvSpPr/>
          <p:nvPr/>
        </p:nvSpPr>
        <p:spPr>
          <a:xfrm>
            <a:off x="2468880" y="2029680"/>
            <a:ext cx="11887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3" name="Text 15"/>
          <p:cNvSpPr/>
          <p:nvPr/>
        </p:nvSpPr>
        <p:spPr>
          <a:xfrm>
            <a:off x="274320" y="19202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Stacked = SERIES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4" name="Text 16"/>
          <p:cNvSpPr/>
          <p:nvPr/>
        </p:nvSpPr>
        <p:spPr>
          <a:xfrm>
            <a:off x="274320" y="21398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Same flow through each;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pressure drops add up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35" name="Picture 1" descr="preencoded.png"/>
          <p:cNvPicPr/>
          <p:nvPr/>
        </p:nvPicPr>
        <p:blipFill>
          <a:blip r:embed="rId1"/>
          <a:stretch/>
        </p:blipFill>
        <p:spPr>
          <a:xfrm>
            <a:off x="3611880" y="842040"/>
            <a:ext cx="2932560" cy="2380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7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8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46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9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Linear Momentum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0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🔊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Speaker Sub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1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2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ΣF = ṁ(vₒᵤₜ − vᵢₙ)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3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4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SPEAKER CONE pushes air (momentum transfer). Force on cone = rate of change of air momentum.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5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6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7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Cone push = force F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8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External forces: pressure,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gravity, wall reactions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9" name="Shape 13"/>
          <p:cNvSpPr/>
          <p:nvPr/>
        </p:nvSpPr>
        <p:spPr>
          <a:xfrm>
            <a:off x="3794760" y="18745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0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1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Air pushed = ṁ·Δv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2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Momentum flux change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across control volume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3" name="Shape 17"/>
          <p:cNvSpPr/>
          <p:nvPr/>
        </p:nvSpPr>
        <p:spPr>
          <a:xfrm>
            <a:off x="5257800" y="14173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4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5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Pipe bends, nozzles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6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Direction change creates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forces on pipe supports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57" name="Image 0" descr="preencoded.png"/>
          <p:cNvPicPr/>
          <p:nvPr/>
        </p:nvPicPr>
        <p:blipFill>
          <a:blip r:embed="rId1"/>
          <a:stretch/>
        </p:blipFill>
        <p:spPr>
          <a:xfrm>
            <a:off x="3474720" y="777240"/>
            <a:ext cx="2009880" cy="2009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9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0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47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1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Pressure Field at Rest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2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🛏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Pillow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63" name="Image 0" descr="preencoded.png"/>
          <p:cNvPicPr/>
          <p:nvPr/>
        </p:nvPicPr>
        <p:blipFill>
          <a:blip r:embed="rId1"/>
          <a:stretch/>
        </p:blipFill>
        <p:spPr>
          <a:xfrm>
            <a:off x="3474720" y="777240"/>
            <a:ext cx="2009880" cy="2009880"/>
          </a:xfrm>
          <a:prstGeom prst="rect">
            <a:avLst/>
          </a:prstGeom>
          <a:ln w="0">
            <a:noFill/>
          </a:ln>
        </p:spPr>
      </p:pic>
      <p:sp>
        <p:nvSpPr>
          <p:cNvPr id="1064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5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∇</a:t>
            </a: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P = ρg  (Navier-Stokes at rest: v=0 → all velocity terms vanish)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6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7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PILLOW at rest: no motion, just gravity pressing down. N-S simplifies to ∇P = ρg.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8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9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0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No motion → v=0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1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Static fluid: all velocity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and acceleration terms vanish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2" name="Shape 13"/>
          <p:cNvSpPr/>
          <p:nvPr/>
        </p:nvSpPr>
        <p:spPr>
          <a:xfrm>
            <a:off x="3794760" y="18745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3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4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Gravity only → ∇P = ρg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5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Pressure gradient equals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fluid weight per unit volume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6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7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8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48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9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Velocity Profiles (N-S)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0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🗄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Closet Dresser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81" name="Image 0" descr="preencoded.png"/>
          <p:cNvPicPr/>
          <p:nvPr/>
        </p:nvPicPr>
        <p:blipFill>
          <a:blip r:embed="rId1"/>
          <a:stretch/>
        </p:blipFill>
        <p:spPr>
          <a:xfrm>
            <a:off x="3474720" y="777240"/>
            <a:ext cx="2009880" cy="2009880"/>
          </a:xfrm>
          <a:prstGeom prst="rect">
            <a:avLst/>
          </a:prstGeom>
          <a:ln w="0">
            <a:noFill/>
          </a:ln>
        </p:spPr>
      </p:pic>
      <p:sp>
        <p:nvSpPr>
          <p:cNvPr id="1082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3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Couette: u = U·y/H  |  Poiseuille: u = (R²−r²)/(4μ)·(−dP/dx)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4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5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CLOSET DRESSER: clothes organized in layers = organized laminar flow layers from wall to center.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6" name="Shape 9"/>
          <p:cNvSpPr/>
          <p:nvPr/>
        </p:nvSpPr>
        <p:spPr>
          <a:xfrm>
            <a:off x="3611880" y="178308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7" name="Shape 10"/>
          <p:cNvSpPr/>
          <p:nvPr/>
        </p:nvSpPr>
        <p:spPr>
          <a:xfrm>
            <a:off x="2468880" y="1115280"/>
            <a:ext cx="1188720" cy="71352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8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Bottom drawer = wall (v=0)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9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No-slip boundary condition: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fluid stationary at wall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0" name="Shape 13"/>
          <p:cNvSpPr/>
          <p:nvPr/>
        </p:nvSpPr>
        <p:spPr>
          <a:xfrm>
            <a:off x="3794760" y="9601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1" name="Shape 14"/>
          <p:cNvSpPr/>
          <p:nvPr/>
        </p:nvSpPr>
        <p:spPr>
          <a:xfrm flipV="1">
            <a:off x="2468880" y="1005840"/>
            <a:ext cx="1371600" cy="74952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2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Top drawer = fastest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3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Maximum velocity at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centerline or moving plate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4" name="Shape 17"/>
          <p:cNvSpPr/>
          <p:nvPr/>
        </p:nvSpPr>
        <p:spPr>
          <a:xfrm>
            <a:off x="5257800" y="141732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5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6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Parabolic = Poiseuille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7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Pressure-driven pipe flow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with parabolic velocity profile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9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0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49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1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Dimensional Analysis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2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🪞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Mirror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3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4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Π groups = n − k  |  Re = ρvL/μ  |  Nu = hL/k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5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6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MIRROR reflects: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dimensionless numbers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 reflect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physical similarity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 between different </a:t>
            </a:r>
            <a:r>
              <a:rPr b="1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flows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7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8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9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Re = inertia/viscous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0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Reynolds number: determines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laminar vs turbulent regime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1" name="Shape 13"/>
          <p:cNvSpPr/>
          <p:nvPr/>
        </p:nvSpPr>
        <p:spPr>
          <a:xfrm>
            <a:off x="3794760" y="18745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2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3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Fr = inertia/gravity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4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Froude number: important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for free-surface flows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5" name="Shape 17"/>
          <p:cNvSpPr/>
          <p:nvPr/>
        </p:nvSpPr>
        <p:spPr>
          <a:xfrm>
            <a:off x="5257800" y="14173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6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7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Nu = conv/cond heat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8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Nusselt: ratio of convective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to conductive heat transfer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19" name="Image 0" descr="preencoded.png"/>
          <p:cNvPicPr/>
          <p:nvPr/>
        </p:nvPicPr>
        <p:blipFill>
          <a:blip r:embed="rId1"/>
          <a:stretch/>
        </p:blipFill>
        <p:spPr>
          <a:xfrm>
            <a:off x="3474720" y="777240"/>
            <a:ext cx="2009880" cy="2009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20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121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122" name="Picture 1" descr=""/>
          <p:cNvPicPr/>
          <p:nvPr/>
        </p:nvPicPr>
        <p:blipFill>
          <a:blip r:embed="rId3"/>
          <a:stretch/>
        </p:blipFill>
        <p:spPr>
          <a:xfrm>
            <a:off x="3361320" y="715680"/>
            <a:ext cx="2145240" cy="2145240"/>
          </a:xfrm>
          <a:prstGeom prst="rect">
            <a:avLst/>
          </a:prstGeom>
          <a:ln w="0">
            <a:noFill/>
          </a:ln>
        </p:spPr>
      </p:pic>
      <p:sp>
        <p:nvSpPr>
          <p:cNvPr id="1123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4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5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50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6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Modeling &amp; Similitude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7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🗃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Apt Dresser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8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9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Reₘₒ</a:t>
            </a:r>
            <a:r>
              <a:rPr b="1" lang="en-US" sz="1400" spc="-1" strike="noStrike">
                <a:solidFill>
                  <a:srgbClr val="ffd93d"/>
                </a:solidFill>
                <a:latin typeface="Consolas"/>
                <a:ea typeface="Consolas"/>
              </a:rPr>
              <a:t>d</a:t>
            </a: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ₑₗ = Reₚᵣₒₜₒₜ</a:t>
            </a:r>
            <a:r>
              <a:rPr b="1" lang="en-US" sz="1400" spc="-1" strike="noStrike">
                <a:solidFill>
                  <a:srgbClr val="ffd93d"/>
                </a:solidFill>
                <a:latin typeface="Consolas"/>
                <a:ea typeface="Consolas"/>
              </a:rPr>
              <a:t>y</a:t>
            </a: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ₚₑ or Frₘₒ</a:t>
            </a:r>
            <a:r>
              <a:rPr b="1" lang="en-US" sz="1400" spc="-1" strike="noStrike">
                <a:solidFill>
                  <a:srgbClr val="ffd93d"/>
                </a:solidFill>
                <a:latin typeface="Consolas"/>
                <a:ea typeface="Consolas"/>
              </a:rPr>
              <a:t>d</a:t>
            </a: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ₑₗ = Frₚᵣₒₜₒₜ</a:t>
            </a:r>
            <a:r>
              <a:rPr b="1" lang="en-US" sz="1400" spc="-1" strike="noStrike">
                <a:solidFill>
                  <a:srgbClr val="ffd93d"/>
                </a:solidFill>
                <a:latin typeface="Consolas"/>
                <a:ea typeface="Consolas"/>
              </a:rPr>
              <a:t>y</a:t>
            </a: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ₚₑ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0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1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DRESSER = scale model of a room. Match Re (viscous) or Fr (free-surface) for similarity.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2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3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4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Mini furniture = model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5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Small-scale replica built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for testing in lab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6" name="Shape 13"/>
          <p:cNvSpPr/>
          <p:nvPr/>
        </p:nvSpPr>
        <p:spPr>
          <a:xfrm>
            <a:off x="5257800" y="11430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7" name="Shape 14"/>
          <p:cNvSpPr/>
          <p:nvPr/>
        </p:nvSpPr>
        <p:spPr>
          <a:xfrm flipH="1">
            <a:off x="5303520" y="1115280"/>
            <a:ext cx="1097280" cy="73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8" name="Text 15"/>
          <p:cNvSpPr/>
          <p:nvPr/>
        </p:nvSpPr>
        <p:spPr>
          <a:xfrm>
            <a:off x="640080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Match Re or Fr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9" name="Text 16"/>
          <p:cNvSpPr/>
          <p:nvPr/>
        </p:nvSpPr>
        <p:spPr>
          <a:xfrm>
            <a:off x="640080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Dynamic similarity: match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the dominant dimensionless group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0" name="Shape 17"/>
          <p:cNvSpPr/>
          <p:nvPr/>
        </p:nvSpPr>
        <p:spPr>
          <a:xfrm>
            <a:off x="4983480" y="205740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1" name="Shape 18"/>
          <p:cNvSpPr/>
          <p:nvPr/>
        </p:nvSpPr>
        <p:spPr>
          <a:xfrm flipH="1">
            <a:off x="5029200" y="1755360"/>
            <a:ext cx="1371600" cy="34776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2" name="Text 19"/>
          <p:cNvSpPr/>
          <p:nvPr/>
        </p:nvSpPr>
        <p:spPr>
          <a:xfrm>
            <a:off x="640080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Geometric: Lₘ/Lₚ = λ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3" name="Text 20"/>
          <p:cNvSpPr/>
          <p:nvPr/>
        </p:nvSpPr>
        <p:spPr>
          <a:xfrm>
            <a:off x="640080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All lengths scaled by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the same factor λ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44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145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146" name="Picture 1" descr=""/>
          <p:cNvPicPr/>
          <p:nvPr/>
        </p:nvPicPr>
        <p:blipFill>
          <a:blip r:embed="rId3"/>
          <a:stretch/>
        </p:blipFill>
        <p:spPr>
          <a:xfrm>
            <a:off x="3348720" y="673920"/>
            <a:ext cx="2170800" cy="2170800"/>
          </a:xfrm>
          <a:prstGeom prst="rect">
            <a:avLst/>
          </a:prstGeom>
          <a:ln w="0">
            <a:noFill/>
          </a:ln>
        </p:spPr>
      </p:pic>
      <p:sp>
        <p:nvSpPr>
          <p:cNvPr id="1147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8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9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51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0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1st Law Closed (Processes)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1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🪑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End Table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2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3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Isothermal: Q = W = nRT·ln(V₂/V₁)  |  Adiabatic: Q = 0, ΔU = −W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4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5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800" spc="-1" strike="noStrike">
                <a:solidFill>
                  <a:srgbClr val="00e5a0"/>
                </a:solidFill>
                <a:latin typeface="Calibri"/>
                <a:ea typeface="Calibri"/>
              </a:rPr>
              <a:t>END TABLE: fixed contents, closed top. Heat (Q) → stores (ΔU) or does work (W).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6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7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8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Const T: ΔU=0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9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Isothermal ideal gas: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all heat becomes work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0" name="Shape 13"/>
          <p:cNvSpPr/>
          <p:nvPr/>
        </p:nvSpPr>
        <p:spPr>
          <a:xfrm>
            <a:off x="3794760" y="18745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1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2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Const V: W=0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3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Isochoric: no volume change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so no boundary work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4" name="Shape 17"/>
          <p:cNvSpPr/>
          <p:nvPr/>
        </p:nvSpPr>
        <p:spPr>
          <a:xfrm>
            <a:off x="5257800" y="14173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5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6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Adiabatic: Q=0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7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Insulated: internal energy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changes only via work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68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169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170" name="Picture 1" descr=""/>
          <p:cNvPicPr/>
          <p:nvPr/>
        </p:nvPicPr>
        <p:blipFill>
          <a:blip r:embed="rId3"/>
          <a:stretch/>
        </p:blipFill>
        <p:spPr>
          <a:xfrm>
            <a:off x="3518640" y="771120"/>
            <a:ext cx="1967400" cy="1967400"/>
          </a:xfrm>
          <a:prstGeom prst="rect">
            <a:avLst/>
          </a:prstGeom>
          <a:ln w="0">
            <a:noFill/>
          </a:ln>
        </p:spPr>
      </p:pic>
      <p:sp>
        <p:nvSpPr>
          <p:cNvPr id="1171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2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3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52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4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1st Law – Open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5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☕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End Table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6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7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Q̇ − Ẇₛ = ṁ[Δh + Δv²/2 + gΔz]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8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9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END TABLE in café: cups come and go (open system).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H = U + PV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 includes flow work.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0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1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2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Cups IN = ṁᵢₙ · hᵢₙ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3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Enthalpy carried in by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mass flow streams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4" name="Shape 13"/>
          <p:cNvSpPr/>
          <p:nvPr/>
        </p:nvSpPr>
        <p:spPr>
          <a:xfrm>
            <a:off x="5257800" y="11430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5" name="Shape 14"/>
          <p:cNvSpPr/>
          <p:nvPr/>
        </p:nvSpPr>
        <p:spPr>
          <a:xfrm flipH="1">
            <a:off x="5303520" y="1115280"/>
            <a:ext cx="1097280" cy="734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6" name="Text 15"/>
          <p:cNvSpPr/>
          <p:nvPr/>
        </p:nvSpPr>
        <p:spPr>
          <a:xfrm>
            <a:off x="640080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Cups OUT = ṁₒᵤₜ · hₒᵤₜ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7" name="Text 16"/>
          <p:cNvSpPr/>
          <p:nvPr/>
        </p:nvSpPr>
        <p:spPr>
          <a:xfrm>
            <a:off x="640080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Enthalpy leaving with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exit mass flows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8" name="Shape 17"/>
          <p:cNvSpPr/>
          <p:nvPr/>
        </p:nvSpPr>
        <p:spPr>
          <a:xfrm>
            <a:off x="4983480" y="18745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9" name="Shape 18"/>
          <p:cNvSpPr/>
          <p:nvPr/>
        </p:nvSpPr>
        <p:spPr>
          <a:xfrm flipH="1">
            <a:off x="5029200" y="1755360"/>
            <a:ext cx="137160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0" name="Text 19"/>
          <p:cNvSpPr/>
          <p:nvPr/>
        </p:nvSpPr>
        <p:spPr>
          <a:xfrm>
            <a:off x="640080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H = U + PV (enthalpy)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1" name="Text 20"/>
          <p:cNvSpPr/>
          <p:nvPr/>
        </p:nvSpPr>
        <p:spPr>
          <a:xfrm>
            <a:off x="640080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Accounts for both internal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energy and flow work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2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3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4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53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5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Unsteady Energy on Tanks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6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🪑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Bench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7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8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d(mU)/dt = Q̇ − Ẇ + ṁᵢₙ·hᵢₙ − ṁₒᵤₜ·hₒᵤₜ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9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0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BENCH loaded over time: weight (internal energy) increases. Unsteady = load changes with 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1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2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3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Loading = ṁᵢₙ·hᵢₙ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4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Energy input from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incoming mass flows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5" name="Shape 13"/>
          <p:cNvSpPr/>
          <p:nvPr/>
        </p:nvSpPr>
        <p:spPr>
          <a:xfrm>
            <a:off x="5257800" y="14173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6" name="Shape 14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7" name="Text 15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d(mU)/dt ≠ 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8" name="Text 16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Accumulation term is non-zero: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transient energy balance ODE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09" name="Image 0" descr="preencoded.png"/>
          <p:cNvPicPr/>
          <p:nvPr/>
        </p:nvPicPr>
        <p:blipFill>
          <a:blip r:embed="rId1"/>
          <a:stretch/>
        </p:blipFill>
        <p:spPr>
          <a:xfrm>
            <a:off x="3474720" y="777240"/>
            <a:ext cx="2009880" cy="2009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10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211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212" name="Picture 2" descr=""/>
          <p:cNvPicPr/>
          <p:nvPr/>
        </p:nvPicPr>
        <p:blipFill>
          <a:blip r:embed="rId3"/>
          <a:stretch/>
        </p:blipFill>
        <p:spPr>
          <a:xfrm>
            <a:off x="3565440" y="751680"/>
            <a:ext cx="1992960" cy="1992960"/>
          </a:xfrm>
          <a:prstGeom prst="rect">
            <a:avLst/>
          </a:prstGeom>
          <a:ln w="0">
            <a:noFill/>
          </a:ln>
        </p:spPr>
      </p:pic>
      <p:sp>
        <p:nvSpPr>
          <p:cNvPr id="1213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4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5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54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6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Entropy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7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📺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TV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8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9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dS = δQᵣₑᵥ/T   |   ΔSᵤₙᵢᵥₑᵣₛₑ ≥ 0 (2nd Law)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0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1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TV: scrambled signal = high entropy. Clear picture = low S. Signals get noisier (ΔS↑ always).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2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3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4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Clear signal = low 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5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Ordered state: fewer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microstates, low entropy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6" name="Shape 13"/>
          <p:cNvSpPr/>
          <p:nvPr/>
        </p:nvSpPr>
        <p:spPr>
          <a:xfrm>
            <a:off x="3794760" y="18745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7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8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Static noise = high 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9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Disordered state: many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microstates, high entropy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0" name="Shape 17"/>
          <p:cNvSpPr/>
          <p:nvPr/>
        </p:nvSpPr>
        <p:spPr>
          <a:xfrm>
            <a:off x="5257800" y="141732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1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2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ΔSᵤₙᵢᵥ ≥ 0 always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3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Second Law: universe entropy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never decreases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4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235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236" name="Image 0" descr="preencoded.png"/>
          <p:cNvPicPr/>
          <p:nvPr/>
        </p:nvPicPr>
        <p:blipFill>
          <a:blip r:embed="rId3"/>
          <a:stretch/>
        </p:blipFill>
        <p:spPr>
          <a:xfrm>
            <a:off x="2926800" y="666720"/>
            <a:ext cx="2924280" cy="2375640"/>
          </a:xfrm>
          <a:prstGeom prst="rect">
            <a:avLst/>
          </a:prstGeom>
          <a:ln w="0">
            <a:noFill/>
          </a:ln>
        </p:spPr>
      </p:pic>
      <p:sp>
        <p:nvSpPr>
          <p:cNvPr id="1237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8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9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55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0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Turbines &amp; Compressors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1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🎮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Game Controller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2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3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ηₜᵤᵣ</a:t>
            </a:r>
            <a:r>
              <a:rPr b="1" lang="en-US" sz="1200" spc="-1" strike="noStrike">
                <a:solidFill>
                  <a:srgbClr val="ffd93d"/>
                </a:solidFill>
                <a:latin typeface="Consolas"/>
                <a:ea typeface="Consolas"/>
              </a:rPr>
              <a:t>b</a:t>
            </a: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 = (h₁−h₂)/(h₁−h₂ₛ)  |  η</a:t>
            </a:r>
            <a:r>
              <a:rPr b="1" lang="en-US" sz="1200" spc="-1" strike="noStrike">
                <a:solidFill>
                  <a:srgbClr val="ffd93d"/>
                </a:solidFill>
                <a:latin typeface="Consolas"/>
                <a:ea typeface="Consolas"/>
              </a:rPr>
              <a:t>c</a:t>
            </a: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ₒₘₚ = (h₂ₛ−h₁)/(h₂−h₁)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4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5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CONTROLLER: turbine = output (joystick pushes out power). Compressor = input (buttons pressed in).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6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7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8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Joystick OUT = turbine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9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Extracts shaft work from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high-pressure fluid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0" name="Shape 13"/>
          <p:cNvSpPr/>
          <p:nvPr/>
        </p:nvSpPr>
        <p:spPr>
          <a:xfrm>
            <a:off x="3794760" y="18745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1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2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Buttons IN = compressor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3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Adds shaft work to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increase fluid pressure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4" name="Shape 17"/>
          <p:cNvSpPr/>
          <p:nvPr/>
        </p:nvSpPr>
        <p:spPr>
          <a:xfrm>
            <a:off x="5257800" y="141732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5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6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η &lt; 1 (irreversibility)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7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Isentropic efficiency accounts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for real-world friction/heat losses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58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259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260" name="Picture 1" descr=""/>
          <p:cNvPicPr/>
          <p:nvPr/>
        </p:nvPicPr>
        <p:blipFill>
          <a:blip r:embed="rId3"/>
          <a:stretch/>
        </p:blipFill>
        <p:spPr>
          <a:xfrm>
            <a:off x="3348360" y="911880"/>
            <a:ext cx="2034000" cy="2034000"/>
          </a:xfrm>
          <a:prstGeom prst="rect">
            <a:avLst/>
          </a:prstGeom>
          <a:ln w="0">
            <a:noFill/>
          </a:ln>
        </p:spPr>
      </p:pic>
      <p:sp>
        <p:nvSpPr>
          <p:cNvPr id="1261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2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3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56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4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Rev. &amp; Irrev. Expansion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5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💻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Computer Table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6" name="Shape 5"/>
          <p:cNvSpPr/>
          <p:nvPr/>
        </p:nvSpPr>
        <p:spPr>
          <a:xfrm>
            <a:off x="457200" y="329184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7" name="Text 6"/>
          <p:cNvSpPr/>
          <p:nvPr/>
        </p:nvSpPr>
        <p:spPr>
          <a:xfrm>
            <a:off x="548640" y="329184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Wᵣₑᵥ = nRT·ln(V₂/V₁) (isothermal)  |  Wᵢᵣᵣₑᵥ = Pₑₓₜ·ΔV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8" name="Shape 7"/>
          <p:cNvSpPr/>
          <p:nvPr/>
        </p:nvSpPr>
        <p:spPr>
          <a:xfrm>
            <a:off x="274320" y="379476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9" name="Text 8"/>
          <p:cNvSpPr/>
          <p:nvPr/>
        </p:nvSpPr>
        <p:spPr>
          <a:xfrm>
            <a:off x="365760" y="379476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NEAT DESK = reversible (max efficiency). MESSY DESK = irreversible (wasted effort).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0" name="Shape 9"/>
          <p:cNvSpPr/>
          <p:nvPr/>
        </p:nvSpPr>
        <p:spPr>
          <a:xfrm>
            <a:off x="315468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1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2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Neat = reversible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3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Maximum work extracted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or minimum work input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4" name="Shape 13"/>
          <p:cNvSpPr/>
          <p:nvPr/>
        </p:nvSpPr>
        <p:spPr>
          <a:xfrm>
            <a:off x="3611880" y="242316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5" name="Shape 14"/>
          <p:cNvSpPr/>
          <p:nvPr/>
        </p:nvSpPr>
        <p:spPr>
          <a:xfrm>
            <a:off x="2468880" y="2029680"/>
            <a:ext cx="11887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6" name="Text 15"/>
          <p:cNvSpPr/>
          <p:nvPr/>
        </p:nvSpPr>
        <p:spPr>
          <a:xfrm>
            <a:off x="274320" y="19202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Messy = irreversible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7" name="Text 16"/>
          <p:cNvSpPr/>
          <p:nvPr/>
        </p:nvSpPr>
        <p:spPr>
          <a:xfrm>
            <a:off x="274320" y="21398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Less work out, more in;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entropy generated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8" name="Shape 17"/>
          <p:cNvSpPr/>
          <p:nvPr/>
        </p:nvSpPr>
        <p:spPr>
          <a:xfrm>
            <a:off x="5440680" y="160020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9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0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Wᵣₑᵥ &gt; Wᵢᵣᵣₑᵥ (exp.)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1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Reversible expansion always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yields more useful work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82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283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284" name="Image 0" descr="preencoded.png"/>
          <p:cNvPicPr/>
          <p:nvPr/>
        </p:nvPicPr>
        <p:blipFill>
          <a:blip r:embed="rId3"/>
          <a:stretch/>
        </p:blipFill>
        <p:spPr>
          <a:xfrm>
            <a:off x="3474720" y="777240"/>
            <a:ext cx="2009880" cy="2009880"/>
          </a:xfrm>
          <a:prstGeom prst="rect">
            <a:avLst/>
          </a:prstGeom>
          <a:ln w="0">
            <a:noFill/>
          </a:ln>
        </p:spPr>
      </p:pic>
      <p:sp>
        <p:nvSpPr>
          <p:cNvPr id="1285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6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7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57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8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Isentropic Process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9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🖱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Computer Mouse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0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1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PV</a:t>
            </a:r>
            <a:r>
              <a:rPr b="1" lang="en-US" sz="2800" spc="-1" strike="noStrike" baseline="33000">
                <a:solidFill>
                  <a:srgbClr val="ffd93d"/>
                </a:solidFill>
                <a:latin typeface="Consolas"/>
                <a:ea typeface="Consolas"/>
              </a:rPr>
              <a:t>γ</a:t>
            </a: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 = const  |  T₂/T₁ = (P₂/P₁)⁽ˠ⁻¹⁾</a:t>
            </a:r>
            <a:r>
              <a:rPr b="1" lang="en-US" sz="2400" spc="-1" strike="noStrike" baseline="33000">
                <a:solidFill>
                  <a:srgbClr val="ffd93d"/>
                </a:solidFill>
                <a:latin typeface="Consolas"/>
                <a:ea typeface="Consolas"/>
              </a:rPr>
              <a:t>/</a:t>
            </a: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ˠ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2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3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MOUSE: smooth frictionless glide = reversible + adiabatic = isentropic. Drag = entropy.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4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5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6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Smooth glide = isentropic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7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No friction, no heat loss: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entropy constant (ΔS=0)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8" name="Shape 13"/>
          <p:cNvSpPr/>
          <p:nvPr/>
        </p:nvSpPr>
        <p:spPr>
          <a:xfrm>
            <a:off x="3794760" y="18745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9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0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Friction = irreversible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1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Real processes generate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entropy from dissipation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2" name="Shape 17"/>
          <p:cNvSpPr/>
          <p:nvPr/>
        </p:nvSpPr>
        <p:spPr>
          <a:xfrm>
            <a:off x="5257800" y="141732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3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4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γ = Cₚ/Cᵥ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5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Heat capacity ratio: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always &gt; 1 for real gases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06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307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308" name="Picture 1" descr=""/>
          <p:cNvPicPr/>
          <p:nvPr/>
        </p:nvPicPr>
        <p:blipFill>
          <a:blip r:embed="rId3"/>
          <a:stretch/>
        </p:blipFill>
        <p:spPr>
          <a:xfrm>
            <a:off x="3492360" y="764640"/>
            <a:ext cx="1992960" cy="1980000"/>
          </a:xfrm>
          <a:prstGeom prst="rect">
            <a:avLst/>
          </a:prstGeom>
          <a:ln w="0">
            <a:noFill/>
          </a:ln>
        </p:spPr>
      </p:pic>
      <p:sp>
        <p:nvSpPr>
          <p:cNvPr id="1309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0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1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58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2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Carnot Cycle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3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🪟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Window Frame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4" name="Shape 5"/>
          <p:cNvSpPr/>
          <p:nvPr/>
        </p:nvSpPr>
        <p:spPr>
          <a:xfrm>
            <a:off x="457200" y="3358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5" name="Text 6"/>
          <p:cNvSpPr/>
          <p:nvPr/>
        </p:nvSpPr>
        <p:spPr>
          <a:xfrm>
            <a:off x="548640" y="3250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η꜀</a:t>
            </a:r>
            <a:r>
              <a:rPr b="0" lang="en-US" sz="44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ₐᵣₙₒₜ</a:t>
            </a: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 = 1 − Tₗ/T</a:t>
            </a: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ʜ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6" name="Shape 7"/>
          <p:cNvSpPr/>
          <p:nvPr/>
        </p:nvSpPr>
        <p:spPr>
          <a:xfrm>
            <a:off x="274320" y="3858480"/>
            <a:ext cx="8640720" cy="50364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7" name="Text 8"/>
          <p:cNvSpPr/>
          <p:nvPr/>
        </p:nvSpPr>
        <p:spPr>
          <a:xfrm>
            <a:off x="365760" y="3825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WINDOW: hot inside (Tʜ), cold outside (Tₗ). Carnot extracts work from ΔT. No engine beats it!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8" name="Shape 9"/>
          <p:cNvSpPr/>
          <p:nvPr/>
        </p:nvSpPr>
        <p:spPr>
          <a:xfrm>
            <a:off x="5159880" y="24750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9" name="Shape 10"/>
          <p:cNvSpPr/>
          <p:nvPr/>
        </p:nvSpPr>
        <p:spPr>
          <a:xfrm>
            <a:off x="5212080" y="2514600"/>
            <a:ext cx="1188720" cy="734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0" name="Text 11"/>
          <p:cNvSpPr/>
          <p:nvPr/>
        </p:nvSpPr>
        <p:spPr>
          <a:xfrm>
            <a:off x="6423480" y="230220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Inside = Tʜ (hot)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1" name="Text 12"/>
          <p:cNvSpPr/>
          <p:nvPr/>
        </p:nvSpPr>
        <p:spPr>
          <a:xfrm>
            <a:off x="6423480" y="252180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High-temperature thermal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reservoir (heat source)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2" name="Shape 13"/>
          <p:cNvSpPr/>
          <p:nvPr/>
        </p:nvSpPr>
        <p:spPr>
          <a:xfrm>
            <a:off x="525780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3" name="Shape 14"/>
          <p:cNvSpPr/>
          <p:nvPr/>
        </p:nvSpPr>
        <p:spPr>
          <a:xfrm flipH="1">
            <a:off x="5303520" y="1115280"/>
            <a:ext cx="109728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4" name="Text 15"/>
          <p:cNvSpPr/>
          <p:nvPr/>
        </p:nvSpPr>
        <p:spPr>
          <a:xfrm>
            <a:off x="640080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Outside = Tₗ (cold)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5" name="Text 16"/>
          <p:cNvSpPr/>
          <p:nvPr/>
        </p:nvSpPr>
        <p:spPr>
          <a:xfrm>
            <a:off x="640080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Low-temperature sink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(heat rejection)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6" name="Shape 17"/>
          <p:cNvSpPr/>
          <p:nvPr/>
        </p:nvSpPr>
        <p:spPr>
          <a:xfrm>
            <a:off x="4983480" y="18745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7" name="Shape 18"/>
          <p:cNvSpPr/>
          <p:nvPr/>
        </p:nvSpPr>
        <p:spPr>
          <a:xfrm flipH="1">
            <a:off x="5029200" y="1755360"/>
            <a:ext cx="137160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8" name="Text 19"/>
          <p:cNvSpPr/>
          <p:nvPr/>
        </p:nvSpPr>
        <p:spPr>
          <a:xfrm>
            <a:off x="640080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Bigger ΔT → more η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9" name="Text 20"/>
          <p:cNvSpPr/>
          <p:nvPr/>
        </p:nvSpPr>
        <p:spPr>
          <a:xfrm>
            <a:off x="640080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Maximum theoretical efficiency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for any heat engine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0" name="Text 21"/>
          <p:cNvSpPr/>
          <p:nvPr/>
        </p:nvSpPr>
        <p:spPr>
          <a:xfrm>
            <a:off x="3841560" y="4510800"/>
            <a:ext cx="191664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600" spc="-1" strike="noStrike">
                <a:solidFill>
                  <a:srgbClr val="00e5a0"/>
                </a:solidFill>
                <a:latin typeface="Calibri"/>
              </a:rPr>
              <a:t>COPʜₚ = Tʜ / (Tʜ−Tₗ)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600" spc="-1" strike="noStrike">
                <a:solidFill>
                  <a:srgbClr val="00e5a0"/>
                </a:solidFill>
                <a:latin typeface="Calibri"/>
              </a:rPr>
              <a:t>COPᵣₑ</a:t>
            </a:r>
            <a:r>
              <a:rPr b="1" i="1" lang="en-US" sz="1000" spc="-1" strike="noStrike">
                <a:solidFill>
                  <a:srgbClr val="00e5a0"/>
                </a:solidFill>
                <a:latin typeface="Calibri"/>
              </a:rPr>
              <a:t>f</a:t>
            </a:r>
            <a:r>
              <a:rPr b="1" i="1" lang="en-US" sz="900" spc="-1" strike="noStrike">
                <a:solidFill>
                  <a:srgbClr val="00e5a0"/>
                </a:solidFill>
                <a:latin typeface="Calibri"/>
              </a:rPr>
              <a:t> 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</a:rPr>
              <a:t>= Tₗ / (Tʜ−Tₗ)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31" name="" descr=""/>
          <p:cNvPicPr/>
          <p:nvPr/>
        </p:nvPicPr>
        <p:blipFill>
          <a:blip r:embed="rId4">
            <a:lum bright="70000" contrast="-70000"/>
          </a:blip>
          <a:stretch/>
        </p:blipFill>
        <p:spPr>
          <a:xfrm>
            <a:off x="248400" y="806400"/>
            <a:ext cx="3180240" cy="2032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3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4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59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5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Rankine Cycle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6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🏺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Vase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7" name="Shape 5"/>
          <p:cNvSpPr/>
          <p:nvPr/>
        </p:nvSpPr>
        <p:spPr>
          <a:xfrm>
            <a:off x="457200" y="3934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8" name="Text 6"/>
          <p:cNvSpPr/>
          <p:nvPr/>
        </p:nvSpPr>
        <p:spPr>
          <a:xfrm>
            <a:off x="548640" y="3934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d93d"/>
                </a:solidFill>
                <a:latin typeface="Consolas"/>
                <a:ea typeface="Consolas"/>
              </a:rPr>
              <a:t>η = (Wₜᵤᵣ</a:t>
            </a: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b</a:t>
            </a:r>
            <a:r>
              <a:rPr b="1" lang="en-US" sz="3200" spc="-1" strike="noStrike">
                <a:solidFill>
                  <a:srgbClr val="ffd93d"/>
                </a:solidFill>
                <a:latin typeface="Consolas"/>
                <a:ea typeface="Consolas"/>
              </a:rPr>
              <a:t>ᵢₙₑ − Wₚᵤₘₚ) / Q</a:t>
            </a: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b</a:t>
            </a:r>
            <a:r>
              <a:rPr b="1" lang="en-US" sz="3200" spc="-1" strike="noStrike">
                <a:solidFill>
                  <a:srgbClr val="ffd93d"/>
                </a:solidFill>
                <a:latin typeface="Consolas"/>
                <a:ea typeface="Consolas"/>
              </a:rPr>
              <a:t>ₒᵢₗₑᵣ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9" name="Shape 7"/>
          <p:cNvSpPr/>
          <p:nvPr/>
        </p:nvSpPr>
        <p:spPr>
          <a:xfrm>
            <a:off x="274320" y="4437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0" name="Text 8"/>
          <p:cNvSpPr/>
          <p:nvPr/>
        </p:nvSpPr>
        <p:spPr>
          <a:xfrm>
            <a:off x="365760" y="4437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VASE: fill water (pump) → heat (boiler) → steam pushes (turbine) → condense → repeat.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1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2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3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Fill = pump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4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Liquid water pressurized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with minimal work input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5" name="Shape 13"/>
          <p:cNvSpPr/>
          <p:nvPr/>
        </p:nvSpPr>
        <p:spPr>
          <a:xfrm>
            <a:off x="3794760" y="18745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6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7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Heat = boiler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8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Heat added at high P: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liquid → superheated steam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9" name="Shape 17"/>
          <p:cNvSpPr/>
          <p:nvPr/>
        </p:nvSpPr>
        <p:spPr>
          <a:xfrm>
            <a:off x="5257800" y="11430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0" name="Shape 18"/>
          <p:cNvSpPr/>
          <p:nvPr/>
        </p:nvSpPr>
        <p:spPr>
          <a:xfrm flipH="1">
            <a:off x="5303520" y="1115280"/>
            <a:ext cx="1097280" cy="73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1" name="Text 19"/>
          <p:cNvSpPr/>
          <p:nvPr/>
        </p:nvSpPr>
        <p:spPr>
          <a:xfrm>
            <a:off x="640080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Steam → turbine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2" name="Text 20"/>
          <p:cNvSpPr/>
          <p:nvPr/>
        </p:nvSpPr>
        <p:spPr>
          <a:xfrm>
            <a:off x="640080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Steam expands through turbine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extracting shaft work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3" name="Shape 21"/>
          <p:cNvSpPr/>
          <p:nvPr/>
        </p:nvSpPr>
        <p:spPr>
          <a:xfrm>
            <a:off x="4983480" y="187452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4" name="Shape 22"/>
          <p:cNvSpPr/>
          <p:nvPr/>
        </p:nvSpPr>
        <p:spPr>
          <a:xfrm flipH="1">
            <a:off x="5029200" y="1755360"/>
            <a:ext cx="1371600" cy="16488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5" name="Text 23"/>
          <p:cNvSpPr/>
          <p:nvPr/>
        </p:nvSpPr>
        <p:spPr>
          <a:xfrm>
            <a:off x="640080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Cool back = condenser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6" name="Text 24"/>
          <p:cNvSpPr/>
          <p:nvPr/>
        </p:nvSpPr>
        <p:spPr>
          <a:xfrm>
            <a:off x="640080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Vapor condensed back to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liquid, rejecting heat to sink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57" name="Image 0" descr="preencoded.png"/>
          <p:cNvPicPr/>
          <p:nvPr/>
        </p:nvPicPr>
        <p:blipFill>
          <a:blip r:embed="rId1"/>
          <a:stretch/>
        </p:blipFill>
        <p:spPr>
          <a:xfrm>
            <a:off x="3680640" y="731520"/>
            <a:ext cx="1461960" cy="1839240"/>
          </a:xfrm>
          <a:prstGeom prst="rect">
            <a:avLst/>
          </a:prstGeom>
          <a:ln w="0">
            <a:noFill/>
          </a:ln>
        </p:spPr>
      </p:pic>
      <p:pic>
        <p:nvPicPr>
          <p:cNvPr id="1358" name="" descr=""/>
          <p:cNvPicPr/>
          <p:nvPr/>
        </p:nvPicPr>
        <p:blipFill>
          <a:blip r:embed="rId2">
            <a:lum bright="70000" contrast="-70000"/>
          </a:blip>
          <a:stretch/>
        </p:blipFill>
        <p:spPr>
          <a:xfrm>
            <a:off x="3246840" y="693000"/>
            <a:ext cx="2406600" cy="28494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59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360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361" name="Picture 1" descr=""/>
          <p:cNvPicPr/>
          <p:nvPr/>
        </p:nvPicPr>
        <p:blipFill>
          <a:blip r:embed="rId3"/>
          <a:stretch/>
        </p:blipFill>
        <p:spPr>
          <a:xfrm>
            <a:off x="2394000" y="528840"/>
            <a:ext cx="4571640" cy="3134880"/>
          </a:xfrm>
          <a:prstGeom prst="rect">
            <a:avLst/>
          </a:prstGeom>
          <a:ln w="0">
            <a:noFill/>
          </a:ln>
        </p:spPr>
      </p:pic>
      <p:sp>
        <p:nvSpPr>
          <p:cNvPr id="1362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3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4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60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5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Refrigeration Cycle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6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❄️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Fridge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7" name="Shape 5"/>
          <p:cNvSpPr/>
          <p:nvPr/>
        </p:nvSpPr>
        <p:spPr>
          <a:xfrm>
            <a:off x="457200" y="36118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8" name="Text 6"/>
          <p:cNvSpPr/>
          <p:nvPr/>
        </p:nvSpPr>
        <p:spPr>
          <a:xfrm>
            <a:off x="548640" y="36118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COP = Qₗ / Ẇ</a:t>
            </a: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c</a:t>
            </a: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ₒₘₚ = (h₁−h₄) / (h₂−h₁)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9" name="Shape 7"/>
          <p:cNvSpPr/>
          <p:nvPr/>
        </p:nvSpPr>
        <p:spPr>
          <a:xfrm>
            <a:off x="274320" y="41148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0" name="Text 8"/>
          <p:cNvSpPr/>
          <p:nvPr/>
        </p:nvSpPr>
        <p:spPr>
          <a:xfrm>
            <a:off x="365760" y="41148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FRIDGE: cold inside (evaporator absorbs Qₗ), hot back (condenser rejects Qʜ). COP &gt; 1!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1" name="Shape 9"/>
          <p:cNvSpPr/>
          <p:nvPr/>
        </p:nvSpPr>
        <p:spPr>
          <a:xfrm>
            <a:off x="3611880" y="16002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2" name="Shape 10"/>
          <p:cNvSpPr/>
          <p:nvPr/>
        </p:nvSpPr>
        <p:spPr>
          <a:xfrm>
            <a:off x="2468880" y="1115280"/>
            <a:ext cx="1188720" cy="5306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3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Inside cold = evaporator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4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Refrigerant absorbs heat Qₗ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at low T inside the fridge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5" name="Shape 13"/>
          <p:cNvSpPr/>
          <p:nvPr/>
        </p:nvSpPr>
        <p:spPr>
          <a:xfrm>
            <a:off x="3794760" y="25146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6" name="Shape 14"/>
          <p:cNvSpPr/>
          <p:nvPr/>
        </p:nvSpPr>
        <p:spPr>
          <a:xfrm>
            <a:off x="2468880" y="2029680"/>
            <a:ext cx="1371600" cy="5306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7" name="Text 15"/>
          <p:cNvSpPr/>
          <p:nvPr/>
        </p:nvSpPr>
        <p:spPr>
          <a:xfrm>
            <a:off x="274320" y="19202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Back hot = condenser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8" name="Text 16"/>
          <p:cNvSpPr/>
          <p:nvPr/>
        </p:nvSpPr>
        <p:spPr>
          <a:xfrm>
            <a:off x="274320" y="21398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Rejects heat Qʜ to kitchen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at high T behind fridge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9" name="Shape 17"/>
          <p:cNvSpPr/>
          <p:nvPr/>
        </p:nvSpPr>
        <p:spPr>
          <a:xfrm>
            <a:off x="525780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0" name="Shape 18"/>
          <p:cNvSpPr/>
          <p:nvPr/>
        </p:nvSpPr>
        <p:spPr>
          <a:xfrm flipH="1">
            <a:off x="5303520" y="1298160"/>
            <a:ext cx="109728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1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COP &gt; 1 possible!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2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Unlike efficiency, COP can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exceed unity (not % limited)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83" name="" descr=""/>
          <p:cNvPicPr/>
          <p:nvPr/>
        </p:nvPicPr>
        <p:blipFill>
          <a:blip r:embed="rId4">
            <a:biLevel thresh="50000"/>
          </a:blip>
          <a:srcRect l="0" t="0" r="0" b="10022"/>
          <a:stretch/>
        </p:blipFill>
        <p:spPr>
          <a:xfrm>
            <a:off x="3538800" y="1133640"/>
            <a:ext cx="2265840" cy="2066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4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385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386" name="Image 0" descr="preencoded.png"/>
          <p:cNvPicPr/>
          <p:nvPr/>
        </p:nvPicPr>
        <p:blipFill>
          <a:blip r:embed="rId3"/>
          <a:stretch/>
        </p:blipFill>
        <p:spPr>
          <a:xfrm>
            <a:off x="2560320" y="777240"/>
            <a:ext cx="3655800" cy="1644120"/>
          </a:xfrm>
          <a:prstGeom prst="rect">
            <a:avLst/>
          </a:prstGeom>
          <a:ln w="0">
            <a:noFill/>
          </a:ln>
        </p:spPr>
      </p:pic>
      <p:sp>
        <p:nvSpPr>
          <p:cNvPr id="1387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8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9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61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0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Throttling (Joule-Thomson)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1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🪞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Mirror Plate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2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3" name="Text 6"/>
          <p:cNvSpPr/>
          <p:nvPr/>
        </p:nvSpPr>
        <p:spPr>
          <a:xfrm>
            <a:off x="548640" y="2854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h₁ = h₂ (isenthalpic)   |   μ</a:t>
            </a:r>
            <a:r>
              <a:rPr b="1" lang="en-US" sz="22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J</a:t>
            </a:r>
            <a:r>
              <a:rPr b="1" lang="en-US" sz="44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ₜ</a:t>
            </a: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 = (∂T/∂P)</a:t>
            </a:r>
            <a:r>
              <a:rPr b="1" lang="en-US" sz="22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ʜ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4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5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MIRROR reflects same enthalpy (h₁=h₂), but pressure and temperature redistribute through valve.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6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7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8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Same H reflected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9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Isenthalpic: enthalpy unchanged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across throttle valve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0" name="Shape 13"/>
          <p:cNvSpPr/>
          <p:nvPr/>
        </p:nvSpPr>
        <p:spPr>
          <a:xfrm>
            <a:off x="3794760" y="18745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1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2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P drops, T may drop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3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Irreversible expansion: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no work extracted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4" name="Shape 17"/>
          <p:cNvSpPr/>
          <p:nvPr/>
        </p:nvSpPr>
        <p:spPr>
          <a:xfrm>
            <a:off x="5257800" y="141732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5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6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μ</a:t>
            </a:r>
            <a:r>
              <a:rPr b="1" lang="en-US" sz="1100" spc="-1" strike="noStrike" baseline="-8000">
                <a:solidFill>
                  <a:srgbClr val="00e5a0"/>
                </a:solidFill>
                <a:latin typeface="Calibri"/>
                <a:ea typeface="Calibri"/>
              </a:rPr>
              <a:t>J</a:t>
            </a:r>
            <a:r>
              <a:rPr b="1" lang="en-US" sz="2200" spc="-1" strike="noStrike" baseline="-8000">
                <a:solidFill>
                  <a:srgbClr val="00e5a0"/>
                </a:solidFill>
                <a:latin typeface="Calibri"/>
                <a:ea typeface="Calibri"/>
              </a:rPr>
              <a:t>ₜ</a:t>
            </a: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&gt; 0 → cools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7" name="Text 20"/>
          <p:cNvSpPr/>
          <p:nvPr/>
        </p:nvSpPr>
        <p:spPr>
          <a:xfrm>
            <a:off x="6400800" y="15094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Positive J-T coefficient: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gas cools on expansion (for refrig.)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08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409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410" name="Image 0" descr="preencoded.png"/>
          <p:cNvPicPr/>
          <p:nvPr/>
        </p:nvPicPr>
        <p:blipFill>
          <a:blip r:embed="rId3"/>
          <a:stretch/>
        </p:blipFill>
        <p:spPr>
          <a:xfrm>
            <a:off x="3063240" y="426960"/>
            <a:ext cx="2559240" cy="2161080"/>
          </a:xfrm>
          <a:prstGeom prst="rect">
            <a:avLst/>
          </a:prstGeom>
          <a:ln w="0">
            <a:noFill/>
          </a:ln>
        </p:spPr>
      </p:pic>
      <p:sp>
        <p:nvSpPr>
          <p:cNvPr id="1411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2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3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62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4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Fundamental Relations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5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🗄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Wall Cabinet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6" name="Shape 5"/>
          <p:cNvSpPr/>
          <p:nvPr/>
        </p:nvSpPr>
        <p:spPr>
          <a:xfrm>
            <a:off x="457200" y="256032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7" name="Text 6"/>
          <p:cNvSpPr/>
          <p:nvPr/>
        </p:nvSpPr>
        <p:spPr>
          <a:xfrm>
            <a:off x="548640" y="256032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d93d"/>
                </a:solidFill>
                <a:latin typeface="Consolas"/>
                <a:ea typeface="Consolas"/>
              </a:rPr>
              <a:t>dU = TdS − PdV | dH = TdS + VdP | dA = − SdT − PdV | dG = − SdT + VdP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8" name="Shape 7"/>
          <p:cNvSpPr/>
          <p:nvPr/>
        </p:nvSpPr>
        <p:spPr>
          <a:xfrm>
            <a:off x="274320" y="306324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9" name="Text 8"/>
          <p:cNvSpPr/>
          <p:nvPr/>
        </p:nvSpPr>
        <p:spPr>
          <a:xfrm>
            <a:off x="365760" y="306324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CABINET: 4 drawers (U,H,A,G), each opens with 2 keys (natural variables). Maxwell = diagonals.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0" name="Shape 9"/>
          <p:cNvSpPr/>
          <p:nvPr/>
        </p:nvSpPr>
        <p:spPr>
          <a:xfrm>
            <a:off x="2880360" y="96012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1" name="Shape 10"/>
          <p:cNvSpPr/>
          <p:nvPr/>
        </p:nvSpPr>
        <p:spPr>
          <a:xfrm flipV="1">
            <a:off x="2468880" y="1005840"/>
            <a:ext cx="457200" cy="20088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2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Drawer U: keys S,V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3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Internal energy: natural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variables are entropy &amp; volume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4" name="Shape 13"/>
          <p:cNvSpPr/>
          <p:nvPr/>
        </p:nvSpPr>
        <p:spPr>
          <a:xfrm>
            <a:off x="3154680" y="14173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5" name="Shape 14"/>
          <p:cNvSpPr/>
          <p:nvPr/>
        </p:nvSpPr>
        <p:spPr>
          <a:xfrm flipV="1">
            <a:off x="2468880" y="1463040"/>
            <a:ext cx="731520" cy="29232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6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Drawer H: keys S,P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7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Enthalpy: natural variables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are entropy &amp; pressure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8" name="Shape 17"/>
          <p:cNvSpPr/>
          <p:nvPr/>
        </p:nvSpPr>
        <p:spPr>
          <a:xfrm>
            <a:off x="5897880" y="9601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9" name="Shape 18"/>
          <p:cNvSpPr/>
          <p:nvPr/>
        </p:nvSpPr>
        <p:spPr>
          <a:xfrm flipH="1" flipV="1">
            <a:off x="5943600" y="1005840"/>
            <a:ext cx="457200" cy="200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0" name="Text 19"/>
          <p:cNvSpPr/>
          <p:nvPr/>
        </p:nvSpPr>
        <p:spPr>
          <a:xfrm>
            <a:off x="640080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Drawer G: keys T,P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1" name="Text 20"/>
          <p:cNvSpPr/>
          <p:nvPr/>
        </p:nvSpPr>
        <p:spPr>
          <a:xfrm>
            <a:off x="640080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Gibbs energy: most useful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at constant T,P (lab conditions)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2" name="Shape 21"/>
          <p:cNvSpPr/>
          <p:nvPr/>
        </p:nvSpPr>
        <p:spPr>
          <a:xfrm>
            <a:off x="5623560" y="141732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3" name="Shape 22"/>
          <p:cNvSpPr/>
          <p:nvPr/>
        </p:nvSpPr>
        <p:spPr>
          <a:xfrm flipH="1" flipV="1">
            <a:off x="5669280" y="1463040"/>
            <a:ext cx="731520" cy="29232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4" name="Text 23"/>
          <p:cNvSpPr/>
          <p:nvPr/>
        </p:nvSpPr>
        <p:spPr>
          <a:xfrm>
            <a:off x="640080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Drawer A: keys T,V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5" name="Text 24"/>
          <p:cNvSpPr/>
          <p:nvPr/>
        </p:nvSpPr>
        <p:spPr>
          <a:xfrm>
            <a:off x="640080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Helmholtz energy: useful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for constant T,V systems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6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7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8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63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9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Liquefaction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0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🗄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Storage Cabinet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41" name="Image 0" descr="preencoded.png"/>
          <p:cNvPicPr/>
          <p:nvPr/>
        </p:nvPicPr>
        <p:blipFill>
          <a:blip r:embed="rId1"/>
          <a:stretch/>
        </p:blipFill>
        <p:spPr>
          <a:xfrm>
            <a:off x="2926080" y="731520"/>
            <a:ext cx="2924280" cy="2558520"/>
          </a:xfrm>
          <a:prstGeom prst="rect">
            <a:avLst/>
          </a:prstGeom>
          <a:ln w="0">
            <a:noFill/>
          </a:ln>
        </p:spPr>
      </p:pic>
      <p:sp>
        <p:nvSpPr>
          <p:cNvPr id="1442" name="Shape 5"/>
          <p:cNvSpPr/>
          <p:nvPr/>
        </p:nvSpPr>
        <p:spPr>
          <a:xfrm>
            <a:off x="457200" y="342900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3" name="Text 6"/>
          <p:cNvSpPr/>
          <p:nvPr/>
        </p:nvSpPr>
        <p:spPr>
          <a:xfrm>
            <a:off x="548640" y="342900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y (liq. fraction) = (h₂ − h₁) / (h₂ − h</a:t>
            </a:r>
            <a:r>
              <a:rPr b="1" lang="en-US" sz="24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f</a:t>
            </a: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)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4" name="Shape 7"/>
          <p:cNvSpPr/>
          <p:nvPr/>
        </p:nvSpPr>
        <p:spPr>
          <a:xfrm>
            <a:off x="274320" y="393192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5" name="Text 8"/>
          <p:cNvSpPr/>
          <p:nvPr/>
        </p:nvSpPr>
        <p:spPr>
          <a:xfrm>
            <a:off x="365760" y="393192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CABINET stores liquefied gas. Gas squeezed through door crack (throttle) → cools → liquefies.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6" name="Shape 9"/>
          <p:cNvSpPr/>
          <p:nvPr/>
        </p:nvSpPr>
        <p:spPr>
          <a:xfrm>
            <a:off x="31546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7" name="Shape 10"/>
          <p:cNvSpPr/>
          <p:nvPr/>
        </p:nvSpPr>
        <p:spPr>
          <a:xfrm flipV="1">
            <a:off x="2468880" y="1188720"/>
            <a:ext cx="731520" cy="180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7000" bIns="-27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8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Gas in (warm)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9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High-pressure gas enters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above inversion temperature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0" name="Shape 13"/>
          <p:cNvSpPr/>
          <p:nvPr/>
        </p:nvSpPr>
        <p:spPr>
          <a:xfrm>
            <a:off x="3611880" y="20574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1" name="Shape 14"/>
          <p:cNvSpPr/>
          <p:nvPr/>
        </p:nvSpPr>
        <p:spPr>
          <a:xfrm>
            <a:off x="2468880" y="1938240"/>
            <a:ext cx="118872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2" name="Text 15"/>
          <p:cNvSpPr/>
          <p:nvPr/>
        </p:nvSpPr>
        <p:spPr>
          <a:xfrm>
            <a:off x="274320" y="182880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Door crack = throttle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3" name="Text 16"/>
          <p:cNvSpPr/>
          <p:nvPr/>
        </p:nvSpPr>
        <p:spPr>
          <a:xfrm>
            <a:off x="274320" y="204840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Isenthalpic expansion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cools the gas (J-T effect)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4" name="Shape 17"/>
          <p:cNvSpPr/>
          <p:nvPr/>
        </p:nvSpPr>
        <p:spPr>
          <a:xfrm>
            <a:off x="5440680" y="20574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5" name="Shape 18"/>
          <p:cNvSpPr/>
          <p:nvPr/>
        </p:nvSpPr>
        <p:spPr>
          <a:xfrm flipH="1">
            <a:off x="5486400" y="1298160"/>
            <a:ext cx="914400" cy="8049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6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Liquid drips (LN₂, LNG)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7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Fraction y liquefied;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rest recycled for more cooling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8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9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0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64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1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Property Phase Diagrams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2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🗄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Double-Door Cabinet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63" name="Image 0" descr="preencoded.png"/>
          <p:cNvPicPr/>
          <p:nvPr/>
        </p:nvPicPr>
        <p:blipFill>
          <a:blip r:embed="rId1"/>
          <a:stretch/>
        </p:blipFill>
        <p:spPr>
          <a:xfrm>
            <a:off x="2926080" y="731520"/>
            <a:ext cx="2924280" cy="2558520"/>
          </a:xfrm>
          <a:prstGeom prst="rect">
            <a:avLst/>
          </a:prstGeom>
          <a:ln w="0">
            <a:noFill/>
          </a:ln>
        </p:spPr>
      </p:pic>
      <p:sp>
        <p:nvSpPr>
          <p:cNvPr id="1464" name="Shape 5"/>
          <p:cNvSpPr/>
          <p:nvPr/>
        </p:nvSpPr>
        <p:spPr>
          <a:xfrm>
            <a:off x="457200" y="342900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5" name="Text 6"/>
          <p:cNvSpPr/>
          <p:nvPr/>
        </p:nvSpPr>
        <p:spPr>
          <a:xfrm>
            <a:off x="548640" y="342900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d93d"/>
                </a:solidFill>
                <a:latin typeface="Consolas"/>
                <a:ea typeface="Consolas"/>
              </a:rPr>
              <a:t>PV diagram: area = W  |  TS diagram: area = Qᵣₑᵥ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6" name="Shape 7"/>
          <p:cNvSpPr/>
          <p:nvPr/>
        </p:nvSpPr>
        <p:spPr>
          <a:xfrm>
            <a:off x="274320" y="393192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7" name="Text 8"/>
          <p:cNvSpPr/>
          <p:nvPr/>
        </p:nvSpPr>
        <p:spPr>
          <a:xfrm>
            <a:off x="365760" y="393192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DOUBLE DOOR: two panels = two axes (P-V or T-S). Dome shape = two-phase region.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8" name="Shape 9"/>
          <p:cNvSpPr/>
          <p:nvPr/>
        </p:nvSpPr>
        <p:spPr>
          <a:xfrm>
            <a:off x="3154680" y="16002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9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0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Left door = axis 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1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Pressure (PV) or Temperature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(TS) on vertical axis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2" name="Shape 13"/>
          <p:cNvSpPr/>
          <p:nvPr/>
        </p:nvSpPr>
        <p:spPr>
          <a:xfrm>
            <a:off x="5440680" y="16002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3" name="Shape 14"/>
          <p:cNvSpPr/>
          <p:nvPr/>
        </p:nvSpPr>
        <p:spPr>
          <a:xfrm flipH="1">
            <a:off x="5486400" y="1206720"/>
            <a:ext cx="91440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4" name="Text 15"/>
          <p:cNvSpPr/>
          <p:nvPr/>
        </p:nvSpPr>
        <p:spPr>
          <a:xfrm>
            <a:off x="640080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Right door = axis 2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5" name="Text 16"/>
          <p:cNvSpPr/>
          <p:nvPr/>
        </p:nvSpPr>
        <p:spPr>
          <a:xfrm>
            <a:off x="640080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Volume (PV) or Entropy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(TS) on horizontal axis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6" name="Shape 17"/>
          <p:cNvSpPr/>
          <p:nvPr/>
        </p:nvSpPr>
        <p:spPr>
          <a:xfrm>
            <a:off x="4983480" y="25146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7" name="Shape 18"/>
          <p:cNvSpPr/>
          <p:nvPr/>
        </p:nvSpPr>
        <p:spPr>
          <a:xfrm flipH="1">
            <a:off x="5029200" y="2121120"/>
            <a:ext cx="1371600" cy="43920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8" name="Text 19"/>
          <p:cNvSpPr/>
          <p:nvPr/>
        </p:nvSpPr>
        <p:spPr>
          <a:xfrm>
            <a:off x="6400800" y="20116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Dome = two-phase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9" name="Text 20"/>
          <p:cNvSpPr/>
          <p:nvPr/>
        </p:nvSpPr>
        <p:spPr>
          <a:xfrm>
            <a:off x="6400800" y="22312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Under the dome: liquid-vapor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coexistence region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0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1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2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65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3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Departure Functions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4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🥛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Drinking Glass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85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4280" cy="2375640"/>
          </a:xfrm>
          <a:prstGeom prst="rect">
            <a:avLst/>
          </a:prstGeom>
          <a:ln w="0">
            <a:noFill/>
          </a:ln>
        </p:spPr>
      </p:pic>
      <p:sp>
        <p:nvSpPr>
          <p:cNvPr id="1486" name="Shape 5"/>
          <p:cNvSpPr/>
          <p:nvPr/>
        </p:nvSpPr>
        <p:spPr>
          <a:xfrm>
            <a:off x="457200" y="329184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7" name="Text 6"/>
          <p:cNvSpPr/>
          <p:nvPr/>
        </p:nvSpPr>
        <p:spPr>
          <a:xfrm>
            <a:off x="548640" y="329184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H − Hⁱg = RT² ∫(∂Z/∂T)ₚ d(lnP)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8" name="Shape 7"/>
          <p:cNvSpPr/>
          <p:nvPr/>
        </p:nvSpPr>
        <p:spPr>
          <a:xfrm>
            <a:off x="274320" y="379476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9" name="Text 8"/>
          <p:cNvSpPr/>
          <p:nvPr/>
        </p:nvSpPr>
        <p:spPr>
          <a:xfrm>
            <a:off x="365760" y="379476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GLASS: thick base = departure from thin ideal glass. Real fluid = ideal + departure correction.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0" name="Shape 9"/>
          <p:cNvSpPr/>
          <p:nvPr/>
        </p:nvSpPr>
        <p:spPr>
          <a:xfrm>
            <a:off x="3154680" y="150876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1" name="Shape 10"/>
          <p:cNvSpPr/>
          <p:nvPr/>
        </p:nvSpPr>
        <p:spPr>
          <a:xfrm>
            <a:off x="2468880" y="1206720"/>
            <a:ext cx="731520" cy="3477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2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Thin ideal = Hⁱg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3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Ideal gas enthalpy: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no intermolecular interactions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4" name="Shape 13"/>
          <p:cNvSpPr/>
          <p:nvPr/>
        </p:nvSpPr>
        <p:spPr>
          <a:xfrm>
            <a:off x="3611880" y="23317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5" name="Shape 14"/>
          <p:cNvSpPr/>
          <p:nvPr/>
        </p:nvSpPr>
        <p:spPr>
          <a:xfrm>
            <a:off x="2468880" y="2029680"/>
            <a:ext cx="1188720" cy="34776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6" name="Text 15"/>
          <p:cNvSpPr/>
          <p:nvPr/>
        </p:nvSpPr>
        <p:spPr>
          <a:xfrm>
            <a:off x="274320" y="19202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Extra thickness = departure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7" name="Text 16"/>
          <p:cNvSpPr/>
          <p:nvPr/>
        </p:nvSpPr>
        <p:spPr>
          <a:xfrm>
            <a:off x="274320" y="21398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Correction for real gas: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accounts for molecular forces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8" name="Shape 17"/>
          <p:cNvSpPr/>
          <p:nvPr/>
        </p:nvSpPr>
        <p:spPr>
          <a:xfrm>
            <a:off x="544068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9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0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Z = Pv/RT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1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Compressibility factor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measures deviation from ideal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2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3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4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66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5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Fugacity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6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🥛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Drinking Glass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07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4280" cy="2375640"/>
          </a:xfrm>
          <a:prstGeom prst="rect">
            <a:avLst/>
          </a:prstGeom>
          <a:ln w="0">
            <a:noFill/>
          </a:ln>
        </p:spPr>
      </p:pic>
      <p:sp>
        <p:nvSpPr>
          <p:cNvPr id="1508" name="Shape 5"/>
          <p:cNvSpPr/>
          <p:nvPr/>
        </p:nvSpPr>
        <p:spPr>
          <a:xfrm>
            <a:off x="457200" y="329184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9" name="Text 6"/>
          <p:cNvSpPr/>
          <p:nvPr/>
        </p:nvSpPr>
        <p:spPr>
          <a:xfrm>
            <a:off x="548640" y="329184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f = φ·P  |  Phase equil: fₗ = fᵥ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0" name="Shape 7"/>
          <p:cNvSpPr/>
          <p:nvPr/>
        </p:nvSpPr>
        <p:spPr>
          <a:xfrm>
            <a:off x="274320" y="379476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1" name="Text 8"/>
          <p:cNvSpPr/>
          <p:nvPr/>
        </p:nvSpPr>
        <p:spPr>
          <a:xfrm>
            <a:off x="365760" y="379476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Real liquid escapes with fugacity f, not just vapor pressure. f = corrected pressure for real behavior.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2" name="Shape 9"/>
          <p:cNvSpPr/>
          <p:nvPr/>
        </p:nvSpPr>
        <p:spPr>
          <a:xfrm>
            <a:off x="3154680" y="150876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3" name="Shape 10"/>
          <p:cNvSpPr/>
          <p:nvPr/>
        </p:nvSpPr>
        <p:spPr>
          <a:xfrm>
            <a:off x="2468880" y="1206720"/>
            <a:ext cx="731520" cy="3477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4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Escaping tendency = f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5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Fugacity: effective pressure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corrected for non-ideality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6" name="Shape 13"/>
          <p:cNvSpPr/>
          <p:nvPr/>
        </p:nvSpPr>
        <p:spPr>
          <a:xfrm>
            <a:off x="5440680" y="150876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7" name="Shape 14"/>
          <p:cNvSpPr/>
          <p:nvPr/>
        </p:nvSpPr>
        <p:spPr>
          <a:xfrm flipH="1">
            <a:off x="5486400" y="120672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8" name="Text 15"/>
          <p:cNvSpPr/>
          <p:nvPr/>
        </p:nvSpPr>
        <p:spPr>
          <a:xfrm>
            <a:off x="640080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f = φ·P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9" name="Text 16"/>
          <p:cNvSpPr/>
          <p:nvPr/>
        </p:nvSpPr>
        <p:spPr>
          <a:xfrm>
            <a:off x="640080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Fugacity coefficient φ from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equation of state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0" name="Shape 17"/>
          <p:cNvSpPr/>
          <p:nvPr/>
        </p:nvSpPr>
        <p:spPr>
          <a:xfrm>
            <a:off x="5257800" y="224028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1" name="Shape 18"/>
          <p:cNvSpPr/>
          <p:nvPr/>
        </p:nvSpPr>
        <p:spPr>
          <a:xfrm flipH="1">
            <a:off x="5303520" y="1938240"/>
            <a:ext cx="1097280" cy="34776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2" name="Text 19"/>
          <p:cNvSpPr/>
          <p:nvPr/>
        </p:nvSpPr>
        <p:spPr>
          <a:xfrm>
            <a:off x="6400800" y="182880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At low P: f → 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3" name="Text 20"/>
          <p:cNvSpPr/>
          <p:nvPr/>
        </p:nvSpPr>
        <p:spPr>
          <a:xfrm>
            <a:off x="6400800" y="204840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Ideal limit: fugacity equals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pressure as P → 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4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5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6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67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7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Partial Molar Quantities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8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🥣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Bowl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29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4280" cy="2375640"/>
          </a:xfrm>
          <a:prstGeom prst="rect">
            <a:avLst/>
          </a:prstGeom>
          <a:ln w="0">
            <a:noFill/>
          </a:ln>
        </p:spPr>
      </p:pic>
      <p:sp>
        <p:nvSpPr>
          <p:cNvPr id="1530" name="Shape 5"/>
          <p:cNvSpPr/>
          <p:nvPr/>
        </p:nvSpPr>
        <p:spPr>
          <a:xfrm>
            <a:off x="457200" y="329184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1" name="Text 6"/>
          <p:cNvSpPr/>
          <p:nvPr/>
        </p:nvSpPr>
        <p:spPr>
          <a:xfrm>
            <a:off x="548640" y="329184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M̄ᵢ = (∂(nM)/∂nᵢ)ₜ,ₚ,ₙⱼ   |   Mₘᵢₓ = Σxᵢ·M̄ᵢ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2" name="Shape 7"/>
          <p:cNvSpPr/>
          <p:nvPr/>
        </p:nvSpPr>
        <p:spPr>
          <a:xfrm>
            <a:off x="274320" y="379476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3" name="Text 8"/>
          <p:cNvSpPr/>
          <p:nvPr/>
        </p:nvSpPr>
        <p:spPr>
          <a:xfrm>
            <a:off x="365760" y="379476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BOWL of mixed ingredients: each component contributes M̄ᵢ to total bowl property.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4" name="Shape 9"/>
          <p:cNvSpPr/>
          <p:nvPr/>
        </p:nvSpPr>
        <p:spPr>
          <a:xfrm>
            <a:off x="3154680" y="150876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5" name="Shape 10"/>
          <p:cNvSpPr/>
          <p:nvPr/>
        </p:nvSpPr>
        <p:spPr>
          <a:xfrm>
            <a:off x="2468880" y="1206720"/>
            <a:ext cx="731520" cy="3477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6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Add 1 spoon salt → ΔV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7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Partial molar volume: volume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change per mole of i added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8" name="Shape 13"/>
          <p:cNvSpPr/>
          <p:nvPr/>
        </p:nvSpPr>
        <p:spPr>
          <a:xfrm>
            <a:off x="5440680" y="150876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9" name="Shape 14"/>
          <p:cNvSpPr/>
          <p:nvPr/>
        </p:nvSpPr>
        <p:spPr>
          <a:xfrm flipH="1">
            <a:off x="5486400" y="120672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0" name="Text 15"/>
          <p:cNvSpPr/>
          <p:nvPr/>
        </p:nvSpPr>
        <p:spPr>
          <a:xfrm>
            <a:off x="640080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M̄ᵢ = partial molar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1" name="Text 16"/>
          <p:cNvSpPr/>
          <p:nvPr/>
        </p:nvSpPr>
        <p:spPr>
          <a:xfrm>
            <a:off x="640080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Contribution of component 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to total mixture property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2" name="Shape 17"/>
          <p:cNvSpPr/>
          <p:nvPr/>
        </p:nvSpPr>
        <p:spPr>
          <a:xfrm>
            <a:off x="5257800" y="224028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3" name="Shape 18"/>
          <p:cNvSpPr/>
          <p:nvPr/>
        </p:nvSpPr>
        <p:spPr>
          <a:xfrm flipH="1">
            <a:off x="5303520" y="1938240"/>
            <a:ext cx="1097280" cy="34776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4" name="Text 19"/>
          <p:cNvSpPr/>
          <p:nvPr/>
        </p:nvSpPr>
        <p:spPr>
          <a:xfrm>
            <a:off x="6400800" y="182880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Gibbs-Duhem: Σxᵢ·dM̄ᵢ=0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5" name="Text 20"/>
          <p:cNvSpPr/>
          <p:nvPr/>
        </p:nvSpPr>
        <p:spPr>
          <a:xfrm>
            <a:off x="6400800" y="204840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Constraint: partial molar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properties not independent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7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8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68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9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Fugacities of Mixtures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0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🍽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Plate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51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4280" cy="2375640"/>
          </a:xfrm>
          <a:prstGeom prst="rect">
            <a:avLst/>
          </a:prstGeom>
          <a:ln w="0">
            <a:noFill/>
          </a:ln>
        </p:spPr>
      </p:pic>
      <p:sp>
        <p:nvSpPr>
          <p:cNvPr id="1552" name="Shape 5"/>
          <p:cNvSpPr/>
          <p:nvPr/>
        </p:nvSpPr>
        <p:spPr>
          <a:xfrm>
            <a:off x="457200" y="329184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3" name="Text 6"/>
          <p:cNvSpPr/>
          <p:nvPr/>
        </p:nvSpPr>
        <p:spPr>
          <a:xfrm>
            <a:off x="548640" y="329184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f̂ᵢ = yᵢ·φ̂ᵢ·P (vapor)  |  VLE: f̂ᵢL = f̂ᵢV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4" name="Shape 7"/>
          <p:cNvSpPr/>
          <p:nvPr/>
        </p:nvSpPr>
        <p:spPr>
          <a:xfrm>
            <a:off x="274320" y="379476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5" name="Text 8"/>
          <p:cNvSpPr/>
          <p:nvPr/>
        </p:nvSpPr>
        <p:spPr>
          <a:xfrm>
            <a:off x="365760" y="379476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PLATE with mixed foods: each item exerts its own escaping tendency (fugacity) in the mixture.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6" name="Shape 9"/>
          <p:cNvSpPr/>
          <p:nvPr/>
        </p:nvSpPr>
        <p:spPr>
          <a:xfrm>
            <a:off x="3154680" y="150876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7" name="Shape 10"/>
          <p:cNvSpPr/>
          <p:nvPr/>
        </p:nvSpPr>
        <p:spPr>
          <a:xfrm>
            <a:off x="2468880" y="1206720"/>
            <a:ext cx="731520" cy="3477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8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Each food = component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9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Individual species fugacity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 the mixture phase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0" name="Shape 13"/>
          <p:cNvSpPr/>
          <p:nvPr/>
        </p:nvSpPr>
        <p:spPr>
          <a:xfrm>
            <a:off x="5440680" y="150876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1" name="Shape 14"/>
          <p:cNvSpPr/>
          <p:nvPr/>
        </p:nvSpPr>
        <p:spPr>
          <a:xfrm flipH="1">
            <a:off x="5486400" y="120672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2" name="Text 15"/>
          <p:cNvSpPr/>
          <p:nvPr/>
        </p:nvSpPr>
        <p:spPr>
          <a:xfrm>
            <a:off x="640080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φ̂ᵢ from mixture EOS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3" name="Text 16"/>
          <p:cNvSpPr/>
          <p:nvPr/>
        </p:nvSpPr>
        <p:spPr>
          <a:xfrm>
            <a:off x="640080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Fugacity coefficient from PR/SRK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accounts for unlike interactions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4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5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6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69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7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Chemical Potential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8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🥣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Stacked Bowls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69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4280" cy="2375640"/>
          </a:xfrm>
          <a:prstGeom prst="rect">
            <a:avLst/>
          </a:prstGeom>
          <a:ln w="0">
            <a:noFill/>
          </a:ln>
        </p:spPr>
      </p:pic>
      <p:sp>
        <p:nvSpPr>
          <p:cNvPr id="1570" name="Shape 5"/>
          <p:cNvSpPr/>
          <p:nvPr/>
        </p:nvSpPr>
        <p:spPr>
          <a:xfrm>
            <a:off x="457200" y="329184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1" name="Text 6"/>
          <p:cNvSpPr/>
          <p:nvPr/>
        </p:nvSpPr>
        <p:spPr>
          <a:xfrm>
            <a:off x="548640" y="329184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μᵢ = (∂G/∂nᵢ)ₜ,ₚ   |   Equil: μᵢ</a:t>
            </a:r>
            <a:r>
              <a:rPr b="1" lang="en-US" sz="2600" spc="-1" strike="noStrike" baseline="33000">
                <a:solidFill>
                  <a:srgbClr val="ffd93d"/>
                </a:solidFill>
                <a:latin typeface="Consolas"/>
                <a:ea typeface="Consolas"/>
              </a:rPr>
              <a:t>α</a:t>
            </a: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 = μᵢ</a:t>
            </a:r>
            <a:r>
              <a:rPr b="1" lang="en-US" sz="2600" spc="-1" strike="noStrike" baseline="33000">
                <a:solidFill>
                  <a:srgbClr val="ffd93d"/>
                </a:solidFill>
                <a:latin typeface="Consolas"/>
                <a:ea typeface="Consolas"/>
              </a:rPr>
              <a:t>β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2" name="Shape 7"/>
          <p:cNvSpPr/>
          <p:nvPr/>
        </p:nvSpPr>
        <p:spPr>
          <a:xfrm>
            <a:off x="274320" y="379476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3" name="Text 8"/>
          <p:cNvSpPr/>
          <p:nvPr/>
        </p:nvSpPr>
        <p:spPr>
          <a:xfrm>
            <a:off x="365760" y="379476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STACKED BOWLS: at equilibrium, liquid level (μ) same in all bowls. High μ → flows to low μ.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4" name="Shape 9"/>
          <p:cNvSpPr/>
          <p:nvPr/>
        </p:nvSpPr>
        <p:spPr>
          <a:xfrm>
            <a:off x="3154680" y="150876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5" name="Shape 10"/>
          <p:cNvSpPr/>
          <p:nvPr/>
        </p:nvSpPr>
        <p:spPr>
          <a:xfrm>
            <a:off x="2468880" y="1206720"/>
            <a:ext cx="731520" cy="3477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6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Bowl 1 level = μ^α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7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Chemical potential in phase α: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partial molar Gibbs energy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8" name="Shape 13"/>
          <p:cNvSpPr/>
          <p:nvPr/>
        </p:nvSpPr>
        <p:spPr>
          <a:xfrm>
            <a:off x="5440680" y="150876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9" name="Shape 14"/>
          <p:cNvSpPr/>
          <p:nvPr/>
        </p:nvSpPr>
        <p:spPr>
          <a:xfrm flipH="1">
            <a:off x="5486400" y="1206720"/>
            <a:ext cx="914400" cy="34776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0" name="Text 15"/>
          <p:cNvSpPr/>
          <p:nvPr/>
        </p:nvSpPr>
        <p:spPr>
          <a:xfrm>
            <a:off x="640080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Bowl 2 level = μ</a:t>
            </a:r>
            <a:r>
              <a:rPr b="1" lang="en-US" sz="1100" spc="-1" strike="noStrike" baseline="33000">
                <a:solidFill>
                  <a:srgbClr val="ff6b6b"/>
                </a:solidFill>
                <a:latin typeface="Calibri"/>
                <a:ea typeface="Calibri"/>
              </a:rPr>
              <a:t>β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1" name="Text 16"/>
          <p:cNvSpPr/>
          <p:nvPr/>
        </p:nvSpPr>
        <p:spPr>
          <a:xfrm>
            <a:off x="640080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Chemical potential in phase β: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must equal μ^α at equilibrium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2" name="Shape 17"/>
          <p:cNvSpPr/>
          <p:nvPr/>
        </p:nvSpPr>
        <p:spPr>
          <a:xfrm>
            <a:off x="5257800" y="224028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3" name="Shape 18"/>
          <p:cNvSpPr/>
          <p:nvPr/>
        </p:nvSpPr>
        <p:spPr>
          <a:xfrm flipH="1">
            <a:off x="5303520" y="1938240"/>
            <a:ext cx="109728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4" name="Text 19"/>
          <p:cNvSpPr/>
          <p:nvPr/>
        </p:nvSpPr>
        <p:spPr>
          <a:xfrm>
            <a:off x="6400800" y="182880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Equal levels = equil.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5" name="Text 20"/>
          <p:cNvSpPr/>
          <p:nvPr/>
        </p:nvSpPr>
        <p:spPr>
          <a:xfrm>
            <a:off x="6400800" y="204840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Drives mass transfer from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high to low μ until balanced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6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7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8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70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9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VLE Non-Ideal (γ)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0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🗄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Corner Cabinet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91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4280" cy="2375640"/>
          </a:xfrm>
          <a:prstGeom prst="rect">
            <a:avLst/>
          </a:prstGeom>
          <a:ln w="0">
            <a:noFill/>
          </a:ln>
        </p:spPr>
      </p:pic>
      <p:sp>
        <p:nvSpPr>
          <p:cNvPr id="1592" name="Shape 5"/>
          <p:cNvSpPr/>
          <p:nvPr/>
        </p:nvSpPr>
        <p:spPr>
          <a:xfrm>
            <a:off x="457200" y="329184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3" name="Text 6"/>
          <p:cNvSpPr/>
          <p:nvPr/>
        </p:nvSpPr>
        <p:spPr>
          <a:xfrm>
            <a:off x="548640" y="329184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P·yᵢ = xᵢ · γᵢ · Pᵢ*   [Modified Raoult's]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4" name="Shape 7"/>
          <p:cNvSpPr/>
          <p:nvPr/>
        </p:nvSpPr>
        <p:spPr>
          <a:xfrm>
            <a:off x="274320" y="379476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5" name="Text 8"/>
          <p:cNvSpPr/>
          <p:nvPr/>
        </p:nvSpPr>
        <p:spPr>
          <a:xfrm>
            <a:off x="365760" y="379476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CORNER CABINET: hard access = non-ideal mixtures deviate from Raoult. γ = angle correction factor.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6" name="Shape 9"/>
          <p:cNvSpPr/>
          <p:nvPr/>
        </p:nvSpPr>
        <p:spPr>
          <a:xfrm>
            <a:off x="3154680" y="150876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7" name="Shape 10"/>
          <p:cNvSpPr/>
          <p:nvPr/>
        </p:nvSpPr>
        <p:spPr>
          <a:xfrm>
            <a:off x="2468880" y="1206720"/>
            <a:ext cx="731520" cy="3477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8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Straight = ideal (γ=1)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9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Raoult's Law: ideal solution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no activity coefficient needed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0" name="Shape 13"/>
          <p:cNvSpPr/>
          <p:nvPr/>
        </p:nvSpPr>
        <p:spPr>
          <a:xfrm>
            <a:off x="3611880" y="242316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1" name="Shape 14"/>
          <p:cNvSpPr/>
          <p:nvPr/>
        </p:nvSpPr>
        <p:spPr>
          <a:xfrm>
            <a:off x="2468880" y="2029680"/>
            <a:ext cx="11887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2" name="Text 15"/>
          <p:cNvSpPr/>
          <p:nvPr/>
        </p:nvSpPr>
        <p:spPr>
          <a:xfrm>
            <a:off x="274320" y="19202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Corner angle = γ ≠ 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3" name="Text 16"/>
          <p:cNvSpPr/>
          <p:nvPr/>
        </p:nvSpPr>
        <p:spPr>
          <a:xfrm>
            <a:off x="274320" y="21398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Activity coefficient corrects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for molecular interactions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4" name="Shape 17"/>
          <p:cNvSpPr/>
          <p:nvPr/>
        </p:nvSpPr>
        <p:spPr>
          <a:xfrm>
            <a:off x="544068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5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6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γ&gt;1: pos. dev. | γ&lt;1: neg.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7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Margules, Wilson, NRTL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models predict γ values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8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9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0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71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1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Osmosis &amp; Reverse Osmosis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2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🍞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Toaster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613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4280" cy="2375640"/>
          </a:xfrm>
          <a:prstGeom prst="rect">
            <a:avLst/>
          </a:prstGeom>
          <a:ln w="0">
            <a:noFill/>
          </a:ln>
        </p:spPr>
      </p:pic>
      <p:sp>
        <p:nvSpPr>
          <p:cNvPr id="1614" name="Shape 5"/>
          <p:cNvSpPr/>
          <p:nvPr/>
        </p:nvSpPr>
        <p:spPr>
          <a:xfrm>
            <a:off x="457200" y="329184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5" name="Text 6"/>
          <p:cNvSpPr/>
          <p:nvPr/>
        </p:nvSpPr>
        <p:spPr>
          <a:xfrm>
            <a:off x="548640" y="329184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π = MRT  |  RO: apply P &gt; π to push solvent through membrane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6" name="Shape 7"/>
          <p:cNvSpPr/>
          <p:nvPr/>
        </p:nvSpPr>
        <p:spPr>
          <a:xfrm>
            <a:off x="274320" y="379476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7" name="Text 8"/>
          <p:cNvSpPr/>
          <p:nvPr/>
        </p:nvSpPr>
        <p:spPr>
          <a:xfrm>
            <a:off x="365760" y="379476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TOASTER: push lever (pressure) to force bread (water) through slots (membrane). Push = desalinate!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8" name="Shape 9"/>
          <p:cNvSpPr/>
          <p:nvPr/>
        </p:nvSpPr>
        <p:spPr>
          <a:xfrm>
            <a:off x="3154680" y="150876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9" name="Shape 10"/>
          <p:cNvSpPr/>
          <p:nvPr/>
        </p:nvSpPr>
        <p:spPr>
          <a:xfrm>
            <a:off x="2468880" y="1206720"/>
            <a:ext cx="731520" cy="3477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0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Lever = applied 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1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External pressure applied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to overcome osmotic pressure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2" name="Shape 13"/>
          <p:cNvSpPr/>
          <p:nvPr/>
        </p:nvSpPr>
        <p:spPr>
          <a:xfrm>
            <a:off x="3611880" y="242316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3" name="Shape 14"/>
          <p:cNvSpPr/>
          <p:nvPr/>
        </p:nvSpPr>
        <p:spPr>
          <a:xfrm>
            <a:off x="2468880" y="2029680"/>
            <a:ext cx="11887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4" name="Text 15"/>
          <p:cNvSpPr/>
          <p:nvPr/>
        </p:nvSpPr>
        <p:spPr>
          <a:xfrm>
            <a:off x="274320" y="19202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Slots = membrane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5" name="Text 16"/>
          <p:cNvSpPr/>
          <p:nvPr/>
        </p:nvSpPr>
        <p:spPr>
          <a:xfrm>
            <a:off x="274320" y="21398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Semipermeable membrane: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only solvent passes through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6" name="Shape 17"/>
          <p:cNvSpPr/>
          <p:nvPr/>
        </p:nvSpPr>
        <p:spPr>
          <a:xfrm>
            <a:off x="544068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7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8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π = osmotic pressure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9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Equilibrium pressure from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solute concentration (π=MRT)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0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1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2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72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3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Henry's Law &amp; Absorption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4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Ceiling Lamp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635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4280" cy="2375640"/>
          </a:xfrm>
          <a:prstGeom prst="rect">
            <a:avLst/>
          </a:prstGeom>
          <a:ln w="0">
            <a:noFill/>
          </a:ln>
        </p:spPr>
      </p:pic>
      <p:sp>
        <p:nvSpPr>
          <p:cNvPr id="1636" name="Shape 5"/>
          <p:cNvSpPr/>
          <p:nvPr/>
        </p:nvSpPr>
        <p:spPr>
          <a:xfrm>
            <a:off x="457200" y="329184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7" name="Text 6"/>
          <p:cNvSpPr/>
          <p:nvPr/>
        </p:nvSpPr>
        <p:spPr>
          <a:xfrm>
            <a:off x="548640" y="329184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pᵢ = Hᵢ · xᵢ   (Henry's Law)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8" name="Shape 7"/>
          <p:cNvSpPr/>
          <p:nvPr/>
        </p:nvSpPr>
        <p:spPr>
          <a:xfrm>
            <a:off x="274320" y="379476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9" name="Text 8"/>
          <p:cNvSpPr/>
          <p:nvPr/>
        </p:nvSpPr>
        <p:spPr>
          <a:xfrm>
            <a:off x="365760" y="379476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300" spc="-1" strike="noStrike">
                <a:solidFill>
                  <a:srgbClr val="00e5a0"/>
                </a:solidFill>
                <a:latin typeface="Calibri"/>
                <a:ea typeface="Calibri"/>
              </a:rPr>
              <a:t>CEILING LAMP: light (gas) shines DOWN into room (liquid). Some light absorbed. Dim lamp = less absorption.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0" name="Shape 9"/>
          <p:cNvSpPr/>
          <p:nvPr/>
        </p:nvSpPr>
        <p:spPr>
          <a:xfrm>
            <a:off x="3154680" y="11430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1" name="Shape 10"/>
          <p:cNvSpPr/>
          <p:nvPr/>
        </p:nvSpPr>
        <p:spPr>
          <a:xfrm flipV="1">
            <a:off x="2468880" y="1188720"/>
            <a:ext cx="731520" cy="1800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7000" bIns="-27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2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Light above = gas phase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3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Gas-phase partial pressure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drives dissolution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4" name="Shape 13"/>
          <p:cNvSpPr/>
          <p:nvPr/>
        </p:nvSpPr>
        <p:spPr>
          <a:xfrm>
            <a:off x="3611880" y="242316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5" name="Shape 14"/>
          <p:cNvSpPr/>
          <p:nvPr/>
        </p:nvSpPr>
        <p:spPr>
          <a:xfrm>
            <a:off x="2468880" y="2029680"/>
            <a:ext cx="118872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6" name="Text 15"/>
          <p:cNvSpPr/>
          <p:nvPr/>
        </p:nvSpPr>
        <p:spPr>
          <a:xfrm>
            <a:off x="274320" y="19202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Room below = liquid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7" name="Text 16"/>
          <p:cNvSpPr/>
          <p:nvPr/>
        </p:nvSpPr>
        <p:spPr>
          <a:xfrm>
            <a:off x="274320" y="21398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Liquid solvent absorbs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gas at mole fraction xᵢ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8" name="Shape 17"/>
          <p:cNvSpPr/>
          <p:nvPr/>
        </p:nvSpPr>
        <p:spPr>
          <a:xfrm>
            <a:off x="5440680" y="16002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9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0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High H → low solubility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1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Large Henry's constant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means gas barely dissolves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52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653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654" name="Picture 2" descr=""/>
          <p:cNvPicPr/>
          <p:nvPr/>
        </p:nvPicPr>
        <p:blipFill>
          <a:blip r:embed="rId3"/>
          <a:stretch/>
        </p:blipFill>
        <p:spPr>
          <a:xfrm>
            <a:off x="3267000" y="735480"/>
            <a:ext cx="2035440" cy="2035440"/>
          </a:xfrm>
          <a:prstGeom prst="rect">
            <a:avLst/>
          </a:prstGeom>
          <a:ln w="0">
            <a:noFill/>
          </a:ln>
        </p:spPr>
      </p:pic>
      <p:sp>
        <p:nvSpPr>
          <p:cNvPr id="1655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6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7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73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8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Enthalpy of Mixing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9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🪑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Office Chair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0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1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d93d"/>
                </a:solidFill>
                <a:latin typeface="Consolas"/>
                <a:ea typeface="Consolas"/>
              </a:rPr>
              <a:t>GE = RT · Σxᵢ · ln(γᵢ)   |   ΔHₘᵢₓ = Hₘᵢₓ − Σxᵢ·Hᵢ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2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3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MIX two foam types in CHAIR: comfortable (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ΔH&lt;0, neg. dev.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) or not (</a:t>
            </a:r>
            <a:r>
              <a:rPr b="1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ΔH&gt;0, pos. dev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.).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4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5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6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Good mix → ΔH&lt;0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7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Exothermic mixing: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strong unlike interactions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8" name="Shape 13"/>
          <p:cNvSpPr/>
          <p:nvPr/>
        </p:nvSpPr>
        <p:spPr>
          <a:xfrm>
            <a:off x="3794760" y="18745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9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0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Bad mix → ΔH&gt;0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1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Endothermic mixing: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like-like preferred over unlike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72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673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674" name="Image 0" descr="preencoded.png"/>
          <p:cNvPicPr/>
          <p:nvPr/>
        </p:nvPicPr>
        <p:blipFill>
          <a:blip r:embed="rId3"/>
          <a:stretch/>
        </p:blipFill>
        <p:spPr>
          <a:xfrm>
            <a:off x="3474720" y="777240"/>
            <a:ext cx="2009880" cy="2009880"/>
          </a:xfrm>
          <a:prstGeom prst="rect">
            <a:avLst/>
          </a:prstGeom>
          <a:ln w="0">
            <a:noFill/>
          </a:ln>
        </p:spPr>
      </p:pic>
      <p:sp>
        <p:nvSpPr>
          <p:cNvPr id="1675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6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7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74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8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Cubic EOS for VLE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9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💤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Pillow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0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1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PR: P = RT/(v−b) − a(T)/[v(v+b)+b(v−b)]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2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3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PILLOW: soft (liquid root) vs fluffy (vapor root). Cubic gives 3 roots; discard unstable middle.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4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5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6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Compressed = liquid root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7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Smallest volume root: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represents liquid phase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8" name="Shape 13"/>
          <p:cNvSpPr/>
          <p:nvPr/>
        </p:nvSpPr>
        <p:spPr>
          <a:xfrm>
            <a:off x="3794760" y="18745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9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0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Fluffy = vapor root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1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Largest volume root: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represents vapor phase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2" name="Shape 17"/>
          <p:cNvSpPr/>
          <p:nvPr/>
        </p:nvSpPr>
        <p:spPr>
          <a:xfrm>
            <a:off x="5257800" y="14173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3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4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Middle root = unstable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5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Spinodal region: physically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meaningless, always discard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96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697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698" name="Picture 1" descr=""/>
          <p:cNvPicPr/>
          <p:nvPr/>
        </p:nvPicPr>
        <p:blipFill>
          <a:blip r:embed="rId3"/>
          <a:stretch/>
        </p:blipFill>
        <p:spPr>
          <a:xfrm>
            <a:off x="3336480" y="456840"/>
            <a:ext cx="2010960" cy="2010960"/>
          </a:xfrm>
          <a:prstGeom prst="rect">
            <a:avLst/>
          </a:prstGeom>
          <a:ln w="0">
            <a:noFill/>
          </a:ln>
        </p:spPr>
      </p:pic>
      <p:sp>
        <p:nvSpPr>
          <p:cNvPr id="1699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0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1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75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2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Gibbs Energy &amp; Phase Sep.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3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🪵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Table Top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4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5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∂²</a:t>
            </a: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G/∂x² &lt; 0 → unstable → phase separation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6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7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TABLE TOP: smooth = stable single phase. Cracked = phase-separated. Common tangent = equilibrium.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8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9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0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Smooth = stable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1" name="Text 12"/>
          <p:cNvSpPr/>
          <p:nvPr/>
        </p:nvSpPr>
        <p:spPr>
          <a:xfrm>
            <a:off x="274320" y="1225440"/>
            <a:ext cx="2689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Concave up Gₘᵢₓ curve: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single-phase thermodynamically stable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2" name="Shape 13"/>
          <p:cNvSpPr/>
          <p:nvPr/>
        </p:nvSpPr>
        <p:spPr>
          <a:xfrm>
            <a:off x="3794760" y="18745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3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4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Crack = phase separation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5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Concave down region: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system spontaneously demixes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6" name="Shape 17"/>
          <p:cNvSpPr/>
          <p:nvPr/>
        </p:nvSpPr>
        <p:spPr>
          <a:xfrm>
            <a:off x="5257800" y="141732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7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8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Spinodal: ∂²G/∂x²=0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9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Boundary of unstable region;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binodal found by common tangent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20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721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722" name="Picture 1" descr=""/>
          <p:cNvPicPr/>
          <p:nvPr/>
        </p:nvPicPr>
        <p:blipFill>
          <a:blip r:embed="rId3"/>
          <a:stretch/>
        </p:blipFill>
        <p:spPr>
          <a:xfrm>
            <a:off x="3063240" y="890280"/>
            <a:ext cx="2377800" cy="1412640"/>
          </a:xfrm>
          <a:prstGeom prst="rect">
            <a:avLst/>
          </a:prstGeom>
          <a:ln w="0">
            <a:noFill/>
          </a:ln>
        </p:spPr>
      </p:pic>
      <p:sp>
        <p:nvSpPr>
          <p:cNvPr id="1723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4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5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76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6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Partially Miscible Liquids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7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🛋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Sofa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8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9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At equil: μᵢ</a:t>
            </a:r>
            <a:r>
              <a:rPr b="1" lang="en-US" sz="1800" spc="-1" strike="noStrike" baseline="33000">
                <a:solidFill>
                  <a:srgbClr val="ffd93d"/>
                </a:solidFill>
                <a:latin typeface="Consolas"/>
                <a:ea typeface="Consolas"/>
              </a:rPr>
              <a:t>I</a:t>
            </a: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 = μᵢ</a:t>
            </a:r>
            <a:r>
              <a:rPr b="1" lang="en-US" sz="1800" spc="-1" strike="noStrike" baseline="33000">
                <a:solidFill>
                  <a:srgbClr val="ffd93d"/>
                </a:solidFill>
                <a:latin typeface="Consolas"/>
                <a:ea typeface="Consolas"/>
              </a:rPr>
              <a:t>II</a:t>
            </a: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  |  UCST: above → fully miscible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0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1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SOFA: two people share but stay in zones (partially miscible). Warm room (↑T) → they can mix.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2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3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4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Person 1 = phase 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5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Liquid phase α with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composition on binodal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6" name="Shape 13"/>
          <p:cNvSpPr/>
          <p:nvPr/>
        </p:nvSpPr>
        <p:spPr>
          <a:xfrm>
            <a:off x="3794760" y="18745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7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8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Person 2 = phase II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9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Liquid phase β with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different binodal composition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0" name="Shape 17"/>
          <p:cNvSpPr/>
          <p:nvPr/>
        </p:nvSpPr>
        <p:spPr>
          <a:xfrm>
            <a:off x="5257800" y="14173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1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2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Above UCST → mix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3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Upper critical solution T: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full miscibility above it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44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745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746" name="Picture 1" descr=""/>
          <p:cNvPicPr/>
          <p:nvPr/>
        </p:nvPicPr>
        <p:blipFill>
          <a:blip r:embed="rId3"/>
          <a:stretch/>
        </p:blipFill>
        <p:spPr>
          <a:xfrm>
            <a:off x="3063240" y="890280"/>
            <a:ext cx="2377800" cy="1412640"/>
          </a:xfrm>
          <a:prstGeom prst="rect">
            <a:avLst/>
          </a:prstGeom>
          <a:ln w="0">
            <a:noFill/>
          </a:ln>
        </p:spPr>
      </p:pic>
      <p:sp>
        <p:nvSpPr>
          <p:cNvPr id="1747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8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9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77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0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Immiscible Liquids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1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🛋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Main Sofa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2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3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P = Pₐ* + Pᵦ*   →   Boil at T &lt; either pure T</a:t>
            </a:r>
            <a:r>
              <a:rPr b="1" lang="en-US" sz="22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b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4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5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Two people who NEVER share space (immiscible). Boil together → both in vapor at lower 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6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7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8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Never share = immiscible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9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Zero mutual solubility: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two permanent liquid layers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0" name="Shape 13"/>
          <p:cNvSpPr/>
          <p:nvPr/>
        </p:nvSpPr>
        <p:spPr>
          <a:xfrm>
            <a:off x="5257800" y="14173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1" name="Shape 14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2" name="Text 15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Steam distillation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3" name="Text 16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Exploit immiscibility to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boil at T lower than either pure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64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765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766" name="Picture 1" descr=""/>
          <p:cNvPicPr/>
          <p:nvPr/>
        </p:nvPicPr>
        <p:blipFill>
          <a:blip r:embed="rId3"/>
          <a:stretch/>
        </p:blipFill>
        <p:spPr>
          <a:xfrm>
            <a:off x="3291480" y="558360"/>
            <a:ext cx="2284920" cy="2284920"/>
          </a:xfrm>
          <a:prstGeom prst="rect">
            <a:avLst/>
          </a:prstGeom>
          <a:ln w="0">
            <a:noFill/>
          </a:ln>
        </p:spPr>
      </p:pic>
      <p:sp>
        <p:nvSpPr>
          <p:cNvPr id="1767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8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9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78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0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Eutectic Phase Diagrams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1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🪑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Side Table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2" name="Shape 5"/>
          <p:cNvSpPr/>
          <p:nvPr/>
        </p:nvSpPr>
        <p:spPr>
          <a:xfrm>
            <a:off x="457200" y="3718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3" name="Text 6"/>
          <p:cNvSpPr/>
          <p:nvPr/>
        </p:nvSpPr>
        <p:spPr>
          <a:xfrm>
            <a:off x="548640" y="3682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Eutectic: 3 phases in equil. (F=0)  |  Lowest melting composition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4" name="Shape 7"/>
          <p:cNvSpPr/>
          <p:nvPr/>
        </p:nvSpPr>
        <p:spPr>
          <a:xfrm>
            <a:off x="274320" y="4221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5" name="Text 8"/>
          <p:cNvSpPr/>
          <p:nvPr/>
        </p:nvSpPr>
        <p:spPr>
          <a:xfrm>
            <a:off x="365760" y="4185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SIDE TABLE: solid top (solid) + liquid cups (liquid). Eutectic = composition that melts at lowest 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6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7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8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Solid top = solid phase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9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Solidus region below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eutectic horizontal line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0" name="Shape 13"/>
          <p:cNvSpPr/>
          <p:nvPr/>
        </p:nvSpPr>
        <p:spPr>
          <a:xfrm>
            <a:off x="3794760" y="18745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1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2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Cup = liquid phase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3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Liquidus region above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the melting curve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4" name="Shape 17"/>
          <p:cNvSpPr/>
          <p:nvPr/>
        </p:nvSpPr>
        <p:spPr>
          <a:xfrm>
            <a:off x="5257800" y="14173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5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6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Eutectic pt: lowest Tₘ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7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Invariant point: Pb-Sn solder,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food science applications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788" name="" descr=""/>
          <p:cNvPicPr/>
          <p:nvPr/>
        </p:nvPicPr>
        <p:blipFill>
          <a:blip r:embed="rId4">
            <a:lum bright="70000" contrast="-70000"/>
          </a:blip>
          <a:stretch/>
        </p:blipFill>
        <p:spPr>
          <a:xfrm>
            <a:off x="6334200" y="1748880"/>
            <a:ext cx="2692800" cy="1629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89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790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791" name="Picture 1" descr=""/>
          <p:cNvPicPr/>
          <p:nvPr/>
        </p:nvPicPr>
        <p:blipFill>
          <a:blip r:embed="rId3"/>
          <a:stretch/>
        </p:blipFill>
        <p:spPr>
          <a:xfrm>
            <a:off x="3492360" y="764640"/>
            <a:ext cx="1992960" cy="1980000"/>
          </a:xfrm>
          <a:prstGeom prst="rect">
            <a:avLst/>
          </a:prstGeom>
          <a:ln w="0">
            <a:noFill/>
          </a:ln>
        </p:spPr>
      </p:pic>
      <p:sp>
        <p:nvSpPr>
          <p:cNvPr id="1792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3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4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79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5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Azeotropes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6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🪟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Window Frame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7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8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Azeotrope: xᵢ = yᵢ  (can't separate by simple distillation)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9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0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WINDOW FRAME: stuck, can't move further. Azeotrope = stuck composition during distillation.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1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2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3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Fixed frame = stuck comp.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4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Liquid and vapor have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identical compositions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5" name="Shape 13"/>
          <p:cNvSpPr/>
          <p:nvPr/>
        </p:nvSpPr>
        <p:spPr>
          <a:xfrm>
            <a:off x="5257800" y="11430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6" name="Shape 14"/>
          <p:cNvSpPr/>
          <p:nvPr/>
        </p:nvSpPr>
        <p:spPr>
          <a:xfrm flipH="1">
            <a:off x="5303520" y="1115280"/>
            <a:ext cx="1097280" cy="73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7" name="Text 15"/>
          <p:cNvSpPr/>
          <p:nvPr/>
        </p:nvSpPr>
        <p:spPr>
          <a:xfrm>
            <a:off x="640080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Break: P-swing or entrainer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8" name="Text 16"/>
          <p:cNvSpPr/>
          <p:nvPr/>
        </p:nvSpPr>
        <p:spPr>
          <a:xfrm>
            <a:off x="640080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Change P to shift azeotrope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or add third component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9" name="Shape 17"/>
          <p:cNvSpPr/>
          <p:nvPr/>
        </p:nvSpPr>
        <p:spPr>
          <a:xfrm>
            <a:off x="4983480" y="187452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0" name="Shape 18"/>
          <p:cNvSpPr/>
          <p:nvPr/>
        </p:nvSpPr>
        <p:spPr>
          <a:xfrm flipH="1">
            <a:off x="5029200" y="1755360"/>
            <a:ext cx="1371600" cy="16488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1" name="Text 19"/>
          <p:cNvSpPr/>
          <p:nvPr/>
        </p:nvSpPr>
        <p:spPr>
          <a:xfrm>
            <a:off x="640080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EtOH-H₂O: 95.6%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2" name="Text 20"/>
          <p:cNvSpPr/>
          <p:nvPr/>
        </p:nvSpPr>
        <p:spPr>
          <a:xfrm>
            <a:off x="640080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Classic minimum-boiling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azeotrope at 78.1°C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13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814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815" name="Picture 1" descr=""/>
          <p:cNvPicPr/>
          <p:nvPr/>
        </p:nvPicPr>
        <p:blipFill>
          <a:blip r:embed="rId3"/>
          <a:stretch/>
        </p:blipFill>
        <p:spPr>
          <a:xfrm>
            <a:off x="3492360" y="764640"/>
            <a:ext cx="1992960" cy="1980000"/>
          </a:xfrm>
          <a:prstGeom prst="rect">
            <a:avLst/>
          </a:prstGeom>
          <a:ln w="0">
            <a:noFill/>
          </a:ln>
        </p:spPr>
      </p:pic>
      <p:sp>
        <p:nvSpPr>
          <p:cNvPr id="1816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7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8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80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9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Gas-Phase Chemical Equil.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0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🪟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Window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1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2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ΔG° = −RT·ln(Kₚ)  |  Kₚ = Π(Pᵢ/P°)νᵢ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3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4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WINDOW: outside = products, inside = reactants. Kₚ tells how far the window opens (→ products).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5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6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7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Inside = reactants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8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Starting materials at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standard state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9" name="Shape 13"/>
          <p:cNvSpPr/>
          <p:nvPr/>
        </p:nvSpPr>
        <p:spPr>
          <a:xfrm>
            <a:off x="5257800" y="11430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0" name="Shape 14"/>
          <p:cNvSpPr/>
          <p:nvPr/>
        </p:nvSpPr>
        <p:spPr>
          <a:xfrm flipH="1">
            <a:off x="5303520" y="1115280"/>
            <a:ext cx="1097280" cy="73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1" name="Text 15"/>
          <p:cNvSpPr/>
          <p:nvPr/>
        </p:nvSpPr>
        <p:spPr>
          <a:xfrm>
            <a:off x="640080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Outside = products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2" name="Text 16"/>
          <p:cNvSpPr/>
          <p:nvPr/>
        </p:nvSpPr>
        <p:spPr>
          <a:xfrm>
            <a:off x="640080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Kₚ &gt; 1: products favored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Kₚ &lt; 1: reactants favored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3" name="Shape 17"/>
          <p:cNvSpPr/>
          <p:nvPr/>
        </p:nvSpPr>
        <p:spPr>
          <a:xfrm>
            <a:off x="4983480" y="187452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4" name="Shape 18"/>
          <p:cNvSpPr/>
          <p:nvPr/>
        </p:nvSpPr>
        <p:spPr>
          <a:xfrm flipH="1">
            <a:off x="5029200" y="1755360"/>
            <a:ext cx="1371600" cy="16488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5" name="Text 19"/>
          <p:cNvSpPr/>
          <p:nvPr/>
        </p:nvSpPr>
        <p:spPr>
          <a:xfrm>
            <a:off x="640080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van't Hoff: d(lnK)/dT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6" name="Text 20"/>
          <p:cNvSpPr/>
          <p:nvPr/>
        </p:nvSpPr>
        <p:spPr>
          <a:xfrm>
            <a:off x="640080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ΔH°/(RT²): tells how 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changes with temperature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37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838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839" name="Picture 1" descr=""/>
          <p:cNvPicPr/>
          <p:nvPr/>
        </p:nvPicPr>
        <p:blipFill>
          <a:blip r:embed="rId3"/>
          <a:stretch/>
        </p:blipFill>
        <p:spPr>
          <a:xfrm>
            <a:off x="3492360" y="764640"/>
            <a:ext cx="1992960" cy="1980000"/>
          </a:xfrm>
          <a:prstGeom prst="rect">
            <a:avLst/>
          </a:prstGeom>
          <a:ln w="0">
            <a:noFill/>
          </a:ln>
        </p:spPr>
      </p:pic>
      <p:sp>
        <p:nvSpPr>
          <p:cNvPr id="1840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1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2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81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3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Heterogeneous Equil.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4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🪟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Window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5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6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Pure solid/liquid: a = 1  →  Kₚ = P</a:t>
            </a:r>
            <a:r>
              <a:rPr b="1" lang="en-US" sz="18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CO</a:t>
            </a:r>
            <a:r>
              <a:rPr b="1" lang="en-US" sz="11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2</a:t>
            </a: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 (CaCO₃ decomp.)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7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8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WINDOW: frame itself is solid (a=1, always there). Only gases appear in Kₚ expression.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9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0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1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Frame = solid (a=1)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2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Pure solids/liquids: activity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fixed at unity by convention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3" name="Shape 13"/>
          <p:cNvSpPr/>
          <p:nvPr/>
        </p:nvSpPr>
        <p:spPr>
          <a:xfrm>
            <a:off x="5257800" y="11430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4" name="Shape 14"/>
          <p:cNvSpPr/>
          <p:nvPr/>
        </p:nvSpPr>
        <p:spPr>
          <a:xfrm flipH="1">
            <a:off x="5303520" y="1115280"/>
            <a:ext cx="1097280" cy="73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5" name="Text 15"/>
          <p:cNvSpPr/>
          <p:nvPr/>
        </p:nvSpPr>
        <p:spPr>
          <a:xfrm>
            <a:off x="640080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Outside gas → in Kₚ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6" name="Text 16"/>
          <p:cNvSpPr/>
          <p:nvPr/>
        </p:nvSpPr>
        <p:spPr>
          <a:xfrm>
            <a:off x="640080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Only species with variable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activity appear in K expression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7" name="Shape 17"/>
          <p:cNvSpPr/>
          <p:nvPr/>
        </p:nvSpPr>
        <p:spPr>
          <a:xfrm>
            <a:off x="4983480" y="187452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8" name="Shape 18"/>
          <p:cNvSpPr/>
          <p:nvPr/>
        </p:nvSpPr>
        <p:spPr>
          <a:xfrm flipH="1">
            <a:off x="5029200" y="1755360"/>
            <a:ext cx="1371600" cy="16488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9" name="Text 19"/>
          <p:cNvSpPr/>
          <p:nvPr/>
        </p:nvSpPr>
        <p:spPr>
          <a:xfrm>
            <a:off x="640080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Q vs K: direction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0" name="Text 20"/>
          <p:cNvSpPr/>
          <p:nvPr/>
        </p:nvSpPr>
        <p:spPr>
          <a:xfrm>
            <a:off x="640080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Q &lt; K → forward (make products)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Q &gt; K → reverse (make reactants)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61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862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863" name="Picture 1" descr=""/>
          <p:cNvPicPr/>
          <p:nvPr/>
        </p:nvPicPr>
        <p:blipFill>
          <a:blip r:embed="rId3"/>
          <a:stretch/>
        </p:blipFill>
        <p:spPr>
          <a:xfrm>
            <a:off x="3200400" y="593640"/>
            <a:ext cx="2284920" cy="2284920"/>
          </a:xfrm>
          <a:prstGeom prst="rect">
            <a:avLst/>
          </a:prstGeom>
          <a:ln w="0">
            <a:noFill/>
          </a:ln>
        </p:spPr>
      </p:pic>
      <p:sp>
        <p:nvSpPr>
          <p:cNvPr id="1864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5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6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82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7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Thermal Effects in Rxns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8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🛏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Sheet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9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0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d93d"/>
                </a:solidFill>
                <a:latin typeface="Consolas"/>
                <a:ea typeface="Consolas"/>
              </a:rPr>
              <a:t>ln(K₂/K₁) = −ΔH°/R · (1/T₂ − 1/T₁)   [van't Hoff]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1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2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SHEET: temperature distributed across reactor. van't Hoff shows how K(T) shifts with temperature.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3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4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5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Exothermic: K ↓ with 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6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Le Chatelier: heating shifts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exo reaction ← backward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7" name="Shape 13"/>
          <p:cNvSpPr/>
          <p:nvPr/>
        </p:nvSpPr>
        <p:spPr>
          <a:xfrm>
            <a:off x="3794760" y="187452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8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9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Endothermic: K ↑ with 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0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Heating pushes endo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reaction → forward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1" name="Shape 17"/>
          <p:cNvSpPr/>
          <p:nvPr/>
        </p:nvSpPr>
        <p:spPr>
          <a:xfrm>
            <a:off x="5257800" y="14173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2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3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Tₐd = T₀ + |ΔH|X/(ΣnCₚ)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4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Adiabatic temperature rise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from exothermic reaction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85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886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887" name="Image 0" descr="preencoded.png"/>
          <p:cNvPicPr/>
          <p:nvPr/>
        </p:nvPicPr>
        <p:blipFill>
          <a:blip r:embed="rId3"/>
          <a:stretch/>
        </p:blipFill>
        <p:spPr>
          <a:xfrm>
            <a:off x="3474720" y="777240"/>
            <a:ext cx="2009880" cy="2009880"/>
          </a:xfrm>
          <a:prstGeom prst="rect">
            <a:avLst/>
          </a:prstGeom>
          <a:ln w="0">
            <a:noFill/>
          </a:ln>
        </p:spPr>
      </p:pic>
      <p:sp>
        <p:nvSpPr>
          <p:cNvPr id="1888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9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0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83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1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Multiple Reaction Equil.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2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🚪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Door (multi-lock)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3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4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Minimize Gₜₒₜₐₗ subject to atom balance constraints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5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6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DOOR with multiple locks: each lock = one equilibrium reaction. Must open all simultaneously (ξⱼ).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7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8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9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Lock 1 = rxn 1 equil.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0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First independent reaction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with its own Kₚ value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1" name="Shape 13"/>
          <p:cNvSpPr/>
          <p:nvPr/>
        </p:nvSpPr>
        <p:spPr>
          <a:xfrm>
            <a:off x="3794760" y="18745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2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3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Lock 2 = rxn 2 equil.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4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Second coupled reaction;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extents ξⱼ are coupled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5" name="Shape 17"/>
          <p:cNvSpPr/>
          <p:nvPr/>
        </p:nvSpPr>
        <p:spPr>
          <a:xfrm>
            <a:off x="5257800" y="14173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6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7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Key set = extents ξⱼ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8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Gibbs free energy minimization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finds all ξⱼ simultaneously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09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910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911" name="Image 0" descr="preencoded.png"/>
          <p:cNvPicPr/>
          <p:nvPr/>
        </p:nvPicPr>
        <p:blipFill>
          <a:blip r:embed="rId3"/>
          <a:stretch/>
        </p:blipFill>
        <p:spPr>
          <a:xfrm>
            <a:off x="3474720" y="777240"/>
            <a:ext cx="2009880" cy="2009880"/>
          </a:xfrm>
          <a:prstGeom prst="rect">
            <a:avLst/>
          </a:prstGeom>
          <a:ln w="0">
            <a:noFill/>
          </a:ln>
        </p:spPr>
      </p:pic>
      <p:sp>
        <p:nvSpPr>
          <p:cNvPr id="1912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3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4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84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5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Nonlinear Regression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6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🚪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Door (key-fitting)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7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8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SSR = Σ(yₒ</a:t>
            </a:r>
            <a:r>
              <a:rPr b="1" lang="en-US" sz="1100" spc="-1" strike="noStrike">
                <a:solidFill>
                  <a:srgbClr val="ffd93d"/>
                </a:solidFill>
                <a:latin typeface="Consolas"/>
                <a:ea typeface="Consolas"/>
              </a:rPr>
              <a:t>b</a:t>
            </a: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ₛ − yₘₒ</a:t>
            </a:r>
            <a:r>
              <a:rPr b="1" lang="en-US" sz="1200" spc="-1" strike="noStrike">
                <a:solidFill>
                  <a:srgbClr val="ffd93d"/>
                </a:solidFill>
                <a:latin typeface="Consolas"/>
                <a:ea typeface="Consolas"/>
              </a:rPr>
              <a:t>d</a:t>
            </a: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ₑₗ)²   →   minimize over parameters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9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0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DOOR: try different key shapes (parameters k, α, β) until it fits (minimizes SSR). Right key = data fits!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1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2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3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Wrong key = high SSR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4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Poor parameter estimates: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large sum of squared residuals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5" name="Shape 13"/>
          <p:cNvSpPr/>
          <p:nvPr/>
        </p:nvSpPr>
        <p:spPr>
          <a:xfrm>
            <a:off x="3794760" y="18745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6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7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Right key = min SSR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8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Optimal parameters found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by Levenberg-Marquardt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9" name="Shape 17"/>
          <p:cNvSpPr/>
          <p:nvPr/>
        </p:nvSpPr>
        <p:spPr>
          <a:xfrm>
            <a:off x="5257800" y="141732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0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1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r = k·Cₐ^α·Cᵦ^β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2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Power law rate: fit α, β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and pre-exponential 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33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934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935" name="Image 0" descr="preencoded.png"/>
          <p:cNvPicPr/>
          <p:nvPr/>
        </p:nvPicPr>
        <p:blipFill>
          <a:blip r:embed="rId3"/>
          <a:stretch/>
        </p:blipFill>
        <p:spPr>
          <a:xfrm>
            <a:off x="3474720" y="777240"/>
            <a:ext cx="2009880" cy="2009880"/>
          </a:xfrm>
          <a:prstGeom prst="rect">
            <a:avLst/>
          </a:prstGeom>
          <a:ln w="0">
            <a:noFill/>
          </a:ln>
        </p:spPr>
      </p:pic>
      <p:sp>
        <p:nvSpPr>
          <p:cNvPr id="1936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7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8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85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9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Multiple Rxns &amp; Selectivity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0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🚪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Door (multi-keyhole)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1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2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Selectivity S = r</a:t>
            </a: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d</a:t>
            </a: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ₑₛᵢᵣₑ</a:t>
            </a: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d</a:t>
            </a: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 / rᵤₙ</a:t>
            </a: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d</a:t>
            </a: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ₑₛᵢᵣₑ</a:t>
            </a: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3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4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DOOR with multiple keyholes: insert key carefully to open DESIRED lock only (maximize selectivity 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5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6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7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Desired lock = target rxn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8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Rate of desired product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formation r</a:t>
            </a:r>
            <a:r>
              <a:rPr b="0" lang="en-US" sz="1000" spc="-1" strike="noStrike" baseline="-8000">
                <a:solidFill>
                  <a:srgbClr val="e8ecf1"/>
                </a:solidFill>
                <a:latin typeface="Calibri"/>
                <a:ea typeface="Calibri"/>
              </a:rPr>
              <a:t>d</a:t>
            </a: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ₑₛᵢᵣₑ</a:t>
            </a:r>
            <a:r>
              <a:rPr b="0" lang="en-US" sz="1000" spc="-1" strike="noStrike" baseline="-8000">
                <a:solidFill>
                  <a:srgbClr val="e8ecf1"/>
                </a:solidFill>
                <a:latin typeface="Calibri"/>
                <a:ea typeface="Calibri"/>
              </a:rPr>
              <a:t>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9" name="Shape 13"/>
          <p:cNvSpPr/>
          <p:nvPr/>
        </p:nvSpPr>
        <p:spPr>
          <a:xfrm>
            <a:off x="3794760" y="18745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0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1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Other locks = side rxns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2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Undesired parallel/series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reactions consuming feed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3" name="Shape 17"/>
          <p:cNvSpPr/>
          <p:nvPr/>
        </p:nvSpPr>
        <p:spPr>
          <a:xfrm>
            <a:off x="5257800" y="141732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4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5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PFR favors higher-order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6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High Cₐ in PFR benefits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higher-order desired reactions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57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958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959" name="Image 0" descr="preencoded.png"/>
          <p:cNvPicPr/>
          <p:nvPr/>
        </p:nvPicPr>
        <p:blipFill>
          <a:blip r:embed="rId3"/>
          <a:stretch/>
        </p:blipFill>
        <p:spPr>
          <a:xfrm>
            <a:off x="3474720" y="777240"/>
            <a:ext cx="2009880" cy="2009880"/>
          </a:xfrm>
          <a:prstGeom prst="rect">
            <a:avLst/>
          </a:prstGeom>
          <a:ln w="0">
            <a:noFill/>
          </a:ln>
        </p:spPr>
      </p:pic>
      <p:sp>
        <p:nvSpPr>
          <p:cNvPr id="1960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1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2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86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3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Langmuir-Hinshelwood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4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🚪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Door (dual-key)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5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6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r = k·Kₐ·Cₐ·Kᵦ·Cᵦ / (1 + Kₐ·Cₐ + Kᵦ·Cᵦ)²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7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8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DOOR: two keys (A,B) must BOTH be inserted (both adsorb on surface) before door opens (reaction!).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9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0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1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Key A adsorbs → Kₐ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2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Reactant A adsorbs to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catalyst active site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3" name="Shape 13"/>
          <p:cNvSpPr/>
          <p:nvPr/>
        </p:nvSpPr>
        <p:spPr>
          <a:xfrm>
            <a:off x="3794760" y="18745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4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5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Key B adsorbs → Kᵦ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6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Reactant B adsorbs to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adjacent catalyst site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7" name="Shape 17"/>
          <p:cNvSpPr/>
          <p:nvPr/>
        </p:nvSpPr>
        <p:spPr>
          <a:xfrm>
            <a:off x="5257800" y="14173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8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9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Both in → reaction!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0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Surface reaction between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two adsorbed species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1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1982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1983" name="Picture 1" descr=""/>
          <p:cNvPicPr/>
          <p:nvPr/>
        </p:nvPicPr>
        <p:blipFill>
          <a:blip r:embed="rId3"/>
          <a:stretch/>
        </p:blipFill>
        <p:spPr>
          <a:xfrm>
            <a:off x="3437640" y="736920"/>
            <a:ext cx="1992960" cy="1980000"/>
          </a:xfrm>
          <a:prstGeom prst="rect">
            <a:avLst/>
          </a:prstGeom>
          <a:ln w="0">
            <a:noFill/>
          </a:ln>
        </p:spPr>
      </p:pic>
      <p:sp>
        <p:nvSpPr>
          <p:cNvPr id="1984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5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6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87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7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Thiele Modulus &amp; η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8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🪑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Chair (foam)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9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0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d93d"/>
                </a:solidFill>
                <a:latin typeface="Consolas"/>
                <a:ea typeface="Consolas"/>
              </a:rPr>
              <a:t>Φ = R√(k/Dₑ)  |  η = tanh(Φ)/Φ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1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2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CHAIR foam cushion: must press through foam (pore diffusion) to reach base (active site). Deep = low η.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3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4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5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Thick foam = high Φ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6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Large Thiele: reaction fast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relative to diffusion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7" name="Shape 13"/>
          <p:cNvSpPr/>
          <p:nvPr/>
        </p:nvSpPr>
        <p:spPr>
          <a:xfrm>
            <a:off x="3794760" y="187452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8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9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η &lt;&lt; 1 (diffusion limited)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0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Effectiveness factor low: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interior sites starved of reactant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1" name="Shape 17"/>
          <p:cNvSpPr/>
          <p:nvPr/>
        </p:nvSpPr>
        <p:spPr>
          <a:xfrm>
            <a:off x="5257800" y="14173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2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3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Small pellet → η ≈ 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4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Reduce particle size to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eliminate diffusion limitation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05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2006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2007" name="Picture 1" descr=""/>
          <p:cNvPicPr/>
          <p:nvPr/>
        </p:nvPicPr>
        <p:blipFill>
          <a:blip r:embed="rId3"/>
          <a:stretch/>
        </p:blipFill>
        <p:spPr>
          <a:xfrm>
            <a:off x="3437640" y="736920"/>
            <a:ext cx="1992960" cy="1980000"/>
          </a:xfrm>
          <a:prstGeom prst="rect">
            <a:avLst/>
          </a:prstGeom>
          <a:ln w="0">
            <a:noFill/>
          </a:ln>
        </p:spPr>
      </p:pic>
      <p:sp>
        <p:nvSpPr>
          <p:cNvPr id="2008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9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0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88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1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Isothermal Batch Reactor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2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🪑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Chair (sit &amp; wait)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3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4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t = Cₐ₀ ∫dX / (−rₐ)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5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6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CHAIR: sit down (load reactants), wait time t for conversion X, stand up (unload). No one enters!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7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8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9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Sit down = load reactants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0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Charge reactor with initial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concentration Cₐ₀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1" name="Shape 13"/>
          <p:cNvSpPr/>
          <p:nvPr/>
        </p:nvSpPr>
        <p:spPr>
          <a:xfrm>
            <a:off x="3794760" y="18745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2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3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Wait time t for X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4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Integrate design equation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to find required batch time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5" name="Shape 17"/>
          <p:cNvSpPr/>
          <p:nvPr/>
        </p:nvSpPr>
        <p:spPr>
          <a:xfrm>
            <a:off x="5257800" y="14173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6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7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Stand up = unload products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8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Remove products after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desired conversion achieved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9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2030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2031" name="Picture 1" descr=""/>
          <p:cNvPicPr/>
          <p:nvPr/>
        </p:nvPicPr>
        <p:blipFill>
          <a:blip r:embed="rId3"/>
          <a:stretch/>
        </p:blipFill>
        <p:spPr>
          <a:xfrm>
            <a:off x="3437640" y="736920"/>
            <a:ext cx="1992960" cy="1980000"/>
          </a:xfrm>
          <a:prstGeom prst="rect">
            <a:avLst/>
          </a:prstGeom>
          <a:ln w="0">
            <a:noFill/>
          </a:ln>
        </p:spPr>
      </p:pic>
      <p:sp>
        <p:nvSpPr>
          <p:cNvPr id="2032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3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4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89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5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CSTR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6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🪑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Cafeteria Chair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7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8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V = Fₐ₀ · X / (−rₐ)|ₑₓᵢₜ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9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0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Cafeteria CHAIR: always occupied, well-mixed. Exit = reactor concentration. Rate at EXIT conditions!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1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2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3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Continuous in/out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4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Steady flow: feed enters,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product exits continuously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5" name="Shape 13"/>
          <p:cNvSpPr/>
          <p:nvPr/>
        </p:nvSpPr>
        <p:spPr>
          <a:xfrm>
            <a:off x="3794760" y="18745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6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7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Well-mixed → Cₑₓᵢₜ=Cᵣₑₐ</a:t>
            </a:r>
            <a:r>
              <a:rPr b="1" lang="en-US" sz="600" spc="-1" strike="noStrike">
                <a:solidFill>
                  <a:srgbClr val="ff6b6b"/>
                </a:solidFill>
                <a:latin typeface="Calibri"/>
                <a:ea typeface="Calibri"/>
              </a:rPr>
              <a:t>c</a:t>
            </a: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ₜₒᵣ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8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Perfect mixing: composition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uniform throughout tank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9" name="Shape 17"/>
          <p:cNvSpPr/>
          <p:nvPr/>
        </p:nvSpPr>
        <p:spPr>
          <a:xfrm>
            <a:off x="5257800" y="14173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0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1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Rate at EXIT conditions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2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rₐ evaluated at exit (low)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concentration → larger V needed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53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2054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2055" name="Picture 1" descr=""/>
          <p:cNvPicPr/>
          <p:nvPr/>
        </p:nvPicPr>
        <p:blipFill>
          <a:blip r:embed="rId3"/>
          <a:stretch/>
        </p:blipFill>
        <p:spPr>
          <a:xfrm>
            <a:off x="3437640" y="736920"/>
            <a:ext cx="1992960" cy="1980000"/>
          </a:xfrm>
          <a:prstGeom prst="rect">
            <a:avLst/>
          </a:prstGeom>
          <a:ln w="0">
            <a:noFill/>
          </a:ln>
        </p:spPr>
      </p:pic>
      <p:sp>
        <p:nvSpPr>
          <p:cNvPr id="2056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7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8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90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9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PFR (Plug Flow Reactor)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0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🪑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Queue Chair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1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2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V/Fₐ₀ = ∫(₀→X) dX / (−rₐ)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3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4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CHAIR in a queue: first in, first out. Each fluid element waits exactly V/Q time. No mixing, no cutting!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5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6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7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Enter front (inlet)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8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Feed enters at one end;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concentration highest here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9" name="Shape 13"/>
          <p:cNvSpPr/>
          <p:nvPr/>
        </p:nvSpPr>
        <p:spPr>
          <a:xfrm>
            <a:off x="5257800" y="11430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0" name="Shape 14"/>
          <p:cNvSpPr/>
          <p:nvPr/>
        </p:nvSpPr>
        <p:spPr>
          <a:xfrm flipH="1">
            <a:off x="5303520" y="1115280"/>
            <a:ext cx="1097280" cy="734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1" name="Text 15"/>
          <p:cNvSpPr/>
          <p:nvPr/>
        </p:nvSpPr>
        <p:spPr>
          <a:xfrm>
            <a:off x="640080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Exit back (outlet)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2" name="Text 16"/>
          <p:cNvSpPr/>
          <p:nvPr/>
        </p:nvSpPr>
        <p:spPr>
          <a:xfrm>
            <a:off x="640080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Products exit after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traveling full reactor length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3" name="Shape 17"/>
          <p:cNvSpPr/>
          <p:nvPr/>
        </p:nvSpPr>
        <p:spPr>
          <a:xfrm>
            <a:off x="4983480" y="18745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4" name="Shape 18"/>
          <p:cNvSpPr/>
          <p:nvPr/>
        </p:nvSpPr>
        <p:spPr>
          <a:xfrm flipH="1">
            <a:off x="5029200" y="1755360"/>
            <a:ext cx="137160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5" name="Text 19"/>
          <p:cNvSpPr/>
          <p:nvPr/>
        </p:nvSpPr>
        <p:spPr>
          <a:xfrm>
            <a:off x="640080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PFR &gt; CSTR for same X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6" name="Text 20"/>
          <p:cNvSpPr/>
          <p:nvPr/>
        </p:nvSpPr>
        <p:spPr>
          <a:xfrm>
            <a:off x="640080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PFR always smaller volume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for positive-order reactions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77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2078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2079" name="Picture 1" descr=""/>
          <p:cNvPicPr/>
          <p:nvPr/>
        </p:nvPicPr>
        <p:blipFill>
          <a:blip r:embed="rId3"/>
          <a:stretch/>
        </p:blipFill>
        <p:spPr>
          <a:xfrm>
            <a:off x="2971080" y="936000"/>
            <a:ext cx="2835360" cy="1513080"/>
          </a:xfrm>
          <a:prstGeom prst="rect">
            <a:avLst/>
          </a:prstGeom>
          <a:ln w="0">
            <a:noFill/>
          </a:ln>
        </p:spPr>
      </p:pic>
      <p:sp>
        <p:nvSpPr>
          <p:cNvPr id="2080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1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2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91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3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Semibatch Reactor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4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📚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Wall Shelf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5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6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dNₐ/dt = Fₐ,ᵢₙ + rₐ · V   (variable V)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7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8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WALL SHELF: start empty (A inside), add books (B) over time. Controlled addition prevents overload.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9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0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1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A already in reactor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2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One reactant initially charged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as batch component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3" name="Shape 13"/>
          <p:cNvSpPr/>
          <p:nvPr/>
        </p:nvSpPr>
        <p:spPr>
          <a:xfrm>
            <a:off x="3794760" y="18745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4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5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Add B slowly over 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6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Second reactant fed gradually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to control selectivity/temperature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7" name="Shape 17"/>
          <p:cNvSpPr/>
          <p:nvPr/>
        </p:nvSpPr>
        <p:spPr>
          <a:xfrm>
            <a:off x="5257800" y="14173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8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9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Controls selectivity &amp; heat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0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Low Cᵦ maintains high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selectivity for desired product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01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2102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2103" name="Picture 1" descr=""/>
          <p:cNvPicPr/>
          <p:nvPr/>
        </p:nvPicPr>
        <p:blipFill>
          <a:blip r:embed="rId3"/>
          <a:stretch/>
        </p:blipFill>
        <p:spPr>
          <a:xfrm>
            <a:off x="3492360" y="764640"/>
            <a:ext cx="1992960" cy="1980000"/>
          </a:xfrm>
          <a:prstGeom prst="rect">
            <a:avLst/>
          </a:prstGeom>
          <a:ln w="0">
            <a:noFill/>
          </a:ln>
        </p:spPr>
      </p:pic>
      <p:sp>
        <p:nvSpPr>
          <p:cNvPr id="2104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5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6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92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7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PFR Energy Balance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8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🪟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Window (PFR view)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9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0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dT/dV = [Q̇ − ΔHᵣₓₙ·rₐ] / (Fₐ₀·ΣΘᵢCₚᵢ)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1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2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300" spc="-1" strike="noStrike">
                <a:solidFill>
                  <a:srgbClr val="00e5a0"/>
                </a:solidFill>
                <a:latin typeface="Calibri"/>
                <a:ea typeface="Calibri"/>
              </a:rPr>
              <a:t>Look through PFR window: T and X change together (coupled ODEs). Hot exothermic PFR fogs the window!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3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4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5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T(z) profile visible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6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Temperature varies along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reactor length z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7" name="Shape 13"/>
          <p:cNvSpPr/>
          <p:nvPr/>
        </p:nvSpPr>
        <p:spPr>
          <a:xfrm>
            <a:off x="3794760" y="187452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8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9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Exothermic: T ↑ along 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0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Risk of hot spot: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runaway if cooling insufficient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1" name="Shape 17"/>
          <p:cNvSpPr/>
          <p:nvPr/>
        </p:nvSpPr>
        <p:spPr>
          <a:xfrm>
            <a:off x="5257800" y="14173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2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3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Coupled: dX/dV &amp; dT/dV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4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Solve simultaneously with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numerical ODE solver (RK4)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25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2126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2127" name="Picture 1" descr=""/>
          <p:cNvPicPr/>
          <p:nvPr/>
        </p:nvPicPr>
        <p:blipFill>
          <a:blip r:embed="rId3"/>
          <a:stretch/>
        </p:blipFill>
        <p:spPr>
          <a:xfrm>
            <a:off x="3492360" y="764640"/>
            <a:ext cx="1992960" cy="1980000"/>
          </a:xfrm>
          <a:prstGeom prst="rect">
            <a:avLst/>
          </a:prstGeom>
          <a:ln w="0">
            <a:noFill/>
          </a:ln>
        </p:spPr>
      </p:pic>
      <p:sp>
        <p:nvSpPr>
          <p:cNvPr id="2128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9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0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93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1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CSTR Energy Balance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2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🪟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Window (CSTR)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3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4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G(T) = R(T)  [heat generation = heat removal at SS]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5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6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Heat generated G (S-curve) vs heat removed R (line). Intersections = steady state(s)!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7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8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9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G(T) = heat generation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0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S-shaped curve from Arrhenius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temperature dependence of rate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1" name="Shape 13"/>
          <p:cNvSpPr/>
          <p:nvPr/>
        </p:nvSpPr>
        <p:spPr>
          <a:xfrm>
            <a:off x="3794760" y="187452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2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3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R(T) = heat removal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4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Linear: ṁCₚ(T−T₀)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+ UA(T−Tₐ) from cooling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5" name="Shape 17"/>
          <p:cNvSpPr/>
          <p:nvPr/>
        </p:nvSpPr>
        <p:spPr>
          <a:xfrm>
            <a:off x="5257800" y="14173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6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7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Intersection = SS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8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Where G=R: possible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multiple intersections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9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2150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2151" name="Image 0" descr="preencoded.png"/>
          <p:cNvPicPr/>
          <p:nvPr/>
        </p:nvPicPr>
        <p:blipFill>
          <a:blip r:embed="rId3"/>
          <a:stretch/>
        </p:blipFill>
        <p:spPr>
          <a:xfrm>
            <a:off x="2926080" y="777240"/>
            <a:ext cx="2924280" cy="2375640"/>
          </a:xfrm>
          <a:prstGeom prst="rect">
            <a:avLst/>
          </a:prstGeom>
          <a:ln w="0">
            <a:noFill/>
          </a:ln>
        </p:spPr>
      </p:pic>
      <p:sp>
        <p:nvSpPr>
          <p:cNvPr id="2152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3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4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94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5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Multiple Steady States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6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Wall Lamp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7" name="Shape 5"/>
          <p:cNvSpPr/>
          <p:nvPr/>
        </p:nvSpPr>
        <p:spPr>
          <a:xfrm>
            <a:off x="457200" y="342900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8" name="Text 6"/>
          <p:cNvSpPr/>
          <p:nvPr/>
        </p:nvSpPr>
        <p:spPr>
          <a:xfrm>
            <a:off x="548640" y="342900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dG/dT &gt; dR/dT → unstable  |  Ignition &amp; extinction points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9" name="Shape 7"/>
          <p:cNvSpPr/>
          <p:nvPr/>
        </p:nvSpPr>
        <p:spPr>
          <a:xfrm>
            <a:off x="274320" y="393192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0" name="Text 8"/>
          <p:cNvSpPr/>
          <p:nvPr/>
        </p:nvSpPr>
        <p:spPr>
          <a:xfrm>
            <a:off x="365760" y="393192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WALL LAMP: ON (high-T SS) or OFF (low-T SS). Flick switch → jumps between states. Bistability!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1" name="Shape 9"/>
          <p:cNvSpPr/>
          <p:nvPr/>
        </p:nvSpPr>
        <p:spPr>
          <a:xfrm>
            <a:off x="3337560" y="11430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2" name="Shape 10"/>
          <p:cNvSpPr/>
          <p:nvPr/>
        </p:nvSpPr>
        <p:spPr>
          <a:xfrm>
            <a:off x="2468880" y="1115280"/>
            <a:ext cx="914400" cy="734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3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ON = high-T SS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4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Upper stable operating point: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high conversion, high temperature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5" name="Shape 13"/>
          <p:cNvSpPr/>
          <p:nvPr/>
        </p:nvSpPr>
        <p:spPr>
          <a:xfrm>
            <a:off x="3611880" y="25146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6" name="Shape 14"/>
          <p:cNvSpPr/>
          <p:nvPr/>
        </p:nvSpPr>
        <p:spPr>
          <a:xfrm>
            <a:off x="2468880" y="1938240"/>
            <a:ext cx="1188720" cy="62208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7" name="Text 15"/>
          <p:cNvSpPr/>
          <p:nvPr/>
        </p:nvSpPr>
        <p:spPr>
          <a:xfrm>
            <a:off x="274320" y="182880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OFF = low-T SS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8" name="Text 16"/>
          <p:cNvSpPr/>
          <p:nvPr/>
        </p:nvSpPr>
        <p:spPr>
          <a:xfrm>
            <a:off x="274320" y="204840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Lower stable point: low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conversion, near feed temperature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9" name="Shape 17"/>
          <p:cNvSpPr/>
          <p:nvPr/>
        </p:nvSpPr>
        <p:spPr>
          <a:xfrm>
            <a:off x="525780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0" name="Shape 18"/>
          <p:cNvSpPr/>
          <p:nvPr/>
        </p:nvSpPr>
        <p:spPr>
          <a:xfrm flipH="1">
            <a:off x="5303520" y="1298160"/>
            <a:ext cx="109728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1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Bistability + hysteresis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2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Path to SS depends on history: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ignition ≠ extinction temperature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73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2174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2175" name="Image 0" descr="preencoded.png"/>
          <p:cNvPicPr/>
          <p:nvPr/>
        </p:nvPicPr>
        <p:blipFill>
          <a:blip r:embed="rId3"/>
          <a:stretch/>
        </p:blipFill>
        <p:spPr>
          <a:xfrm>
            <a:off x="2926080" y="777240"/>
            <a:ext cx="2741400" cy="2284200"/>
          </a:xfrm>
          <a:prstGeom prst="rect">
            <a:avLst/>
          </a:prstGeom>
          <a:ln w="0">
            <a:noFill/>
          </a:ln>
        </p:spPr>
      </p:pic>
      <p:sp>
        <p:nvSpPr>
          <p:cNvPr id="2176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7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8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95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9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Packed Bed Pressure Drop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0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Ceiling Lamp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1" name="Shape 5"/>
          <p:cNvSpPr/>
          <p:nvPr/>
        </p:nvSpPr>
        <p:spPr>
          <a:xfrm>
            <a:off x="457200" y="329184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2" name="Text 6"/>
          <p:cNvSpPr/>
          <p:nvPr/>
        </p:nvSpPr>
        <p:spPr>
          <a:xfrm>
            <a:off x="548640" y="329184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Ergun: −dP/dz = 150μu(1−ε)²/(Dₚε³) + 1.75ρu²(1−ε)/(Dₚε³)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3" name="Shape 7"/>
          <p:cNvSpPr/>
          <p:nvPr/>
        </p:nvSpPr>
        <p:spPr>
          <a:xfrm>
            <a:off x="274320" y="379476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4" name="Text 8"/>
          <p:cNvSpPr/>
          <p:nvPr/>
        </p:nvSpPr>
        <p:spPr>
          <a:xfrm>
            <a:off x="365760" y="379476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Gas pushes UP through bulb filaments (packing). Pressure drops fighting through. Ergun quantifies.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5" name="Shape 9"/>
          <p:cNvSpPr/>
          <p:nvPr/>
        </p:nvSpPr>
        <p:spPr>
          <a:xfrm>
            <a:off x="3154680" y="150876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6" name="Shape 10"/>
          <p:cNvSpPr/>
          <p:nvPr/>
        </p:nvSpPr>
        <p:spPr>
          <a:xfrm>
            <a:off x="2468880" y="1206720"/>
            <a:ext cx="731520" cy="3477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7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Gas flow ↑ through bed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8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Superficial velocity u through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particle-packed column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9" name="Shape 13"/>
          <p:cNvSpPr/>
          <p:nvPr/>
        </p:nvSpPr>
        <p:spPr>
          <a:xfrm>
            <a:off x="3611880" y="242316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0" name="Shape 14"/>
          <p:cNvSpPr/>
          <p:nvPr/>
        </p:nvSpPr>
        <p:spPr>
          <a:xfrm>
            <a:off x="2468880" y="2029680"/>
            <a:ext cx="11887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1" name="Text 15"/>
          <p:cNvSpPr/>
          <p:nvPr/>
        </p:nvSpPr>
        <p:spPr>
          <a:xfrm>
            <a:off x="274320" y="19202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Packing = resistance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2" name="Text 16"/>
          <p:cNvSpPr/>
          <p:nvPr/>
        </p:nvSpPr>
        <p:spPr>
          <a:xfrm>
            <a:off x="274320" y="21398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Viscous (Blake-Kozeny) +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inertial (Burke-Plummer) terms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3" name="Shape 17"/>
          <p:cNvSpPr/>
          <p:nvPr/>
        </p:nvSpPr>
        <p:spPr>
          <a:xfrm>
            <a:off x="544068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4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5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ε = void fraction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6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Bed porosity (0.35-0.5):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fraction of bed that is empty space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97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2198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2199" name="Image 0" descr="preencoded.png"/>
          <p:cNvPicPr/>
          <p:nvPr/>
        </p:nvPicPr>
        <p:blipFill>
          <a:blip r:embed="rId3"/>
          <a:stretch/>
        </p:blipFill>
        <p:spPr>
          <a:xfrm>
            <a:off x="3474720" y="777240"/>
            <a:ext cx="2009880" cy="2009880"/>
          </a:xfrm>
          <a:prstGeom prst="rect">
            <a:avLst/>
          </a:prstGeom>
          <a:ln w="0">
            <a:noFill/>
          </a:ln>
        </p:spPr>
      </p:pic>
      <p:sp>
        <p:nvSpPr>
          <p:cNvPr id="2200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1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2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96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3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PSSH &amp; Rate-Determining Step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4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🪟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Glass Door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5" name="Shape 5"/>
          <p:cNvSpPr/>
          <p:nvPr/>
        </p:nvSpPr>
        <p:spPr>
          <a:xfrm>
            <a:off x="457200" y="320040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6" name="Text 6"/>
          <p:cNvSpPr/>
          <p:nvPr/>
        </p:nvSpPr>
        <p:spPr>
          <a:xfrm>
            <a:off x="548640" y="320040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PSSH: d[I]/dt ≈ 0  |  Rate = rate of RDS (slowest step)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7" name="Shape 7"/>
          <p:cNvSpPr/>
          <p:nvPr/>
        </p:nvSpPr>
        <p:spPr>
          <a:xfrm>
            <a:off x="274320" y="370332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8" name="Text 8"/>
          <p:cNvSpPr/>
          <p:nvPr/>
        </p:nvSpPr>
        <p:spPr>
          <a:xfrm>
            <a:off x="365760" y="370332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GLASS DOOR: see-through → intermediates transparent (pseudo-steady). RDS = how fast door opens.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9" name="Shape 9"/>
          <p:cNvSpPr/>
          <p:nvPr/>
        </p:nvSpPr>
        <p:spPr>
          <a:xfrm>
            <a:off x="3154680" y="150876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0" name="Shape 10"/>
          <p:cNvSpPr/>
          <p:nvPr/>
        </p:nvSpPr>
        <p:spPr>
          <a:xfrm>
            <a:off x="2468880" y="1206720"/>
            <a:ext cx="731520" cy="3477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1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See-through = PSSH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2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Reactive intermediate concentration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approximately constant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3" name="Shape 13"/>
          <p:cNvSpPr/>
          <p:nvPr/>
        </p:nvSpPr>
        <p:spPr>
          <a:xfrm>
            <a:off x="5440680" y="150876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4" name="Shape 14"/>
          <p:cNvSpPr/>
          <p:nvPr/>
        </p:nvSpPr>
        <p:spPr>
          <a:xfrm flipH="1">
            <a:off x="5486400" y="1206720"/>
            <a:ext cx="914400" cy="34776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5" name="Text 15"/>
          <p:cNvSpPr/>
          <p:nvPr/>
        </p:nvSpPr>
        <p:spPr>
          <a:xfrm>
            <a:off x="640080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Door speed = RDS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6" name="Text 16"/>
          <p:cNvSpPr/>
          <p:nvPr/>
        </p:nvSpPr>
        <p:spPr>
          <a:xfrm>
            <a:off x="6103080" y="1316880"/>
            <a:ext cx="24904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Rate-determining step: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slowest elementary step = bottleneck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7" name="Shape 17"/>
          <p:cNvSpPr/>
          <p:nvPr/>
        </p:nvSpPr>
        <p:spPr>
          <a:xfrm>
            <a:off x="5257800" y="224028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8" name="Shape 18"/>
          <p:cNvSpPr/>
          <p:nvPr/>
        </p:nvSpPr>
        <p:spPr>
          <a:xfrm flipH="1">
            <a:off x="5303520" y="1938240"/>
            <a:ext cx="109728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9" name="Text 19"/>
          <p:cNvSpPr/>
          <p:nvPr/>
        </p:nvSpPr>
        <p:spPr>
          <a:xfrm>
            <a:off x="6400800" y="182880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Solve for [I], simplify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0" name="Text 20"/>
          <p:cNvSpPr/>
          <p:nvPr/>
        </p:nvSpPr>
        <p:spPr>
          <a:xfrm>
            <a:off x="6400800" y="204840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Set d[I]/dt=0, eliminate [I]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from overall rate expression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1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2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3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97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4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Enzyme Kinetics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5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🧺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Towel Rack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226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4280" cy="2375640"/>
          </a:xfrm>
          <a:prstGeom prst="rect">
            <a:avLst/>
          </a:prstGeom>
          <a:ln w="0">
            <a:noFill/>
          </a:ln>
        </p:spPr>
      </p:pic>
      <p:sp>
        <p:nvSpPr>
          <p:cNvPr id="2227" name="Shape 5"/>
          <p:cNvSpPr/>
          <p:nvPr/>
        </p:nvSpPr>
        <p:spPr>
          <a:xfrm>
            <a:off x="457200" y="329184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8" name="Text 6"/>
          <p:cNvSpPr/>
          <p:nvPr/>
        </p:nvSpPr>
        <p:spPr>
          <a:xfrm>
            <a:off x="548640" y="329184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d93d"/>
                </a:solidFill>
                <a:latin typeface="Consolas"/>
                <a:ea typeface="Consolas"/>
              </a:rPr>
              <a:t>r = Vₘₐₓ · [S] / (Kₘ + [S])   [Michaelis-Menten]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9" name="Shape 7"/>
          <p:cNvSpPr/>
          <p:nvPr/>
        </p:nvSpPr>
        <p:spPr>
          <a:xfrm>
            <a:off x="274320" y="379476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0" name="Text 8"/>
          <p:cNvSpPr/>
          <p:nvPr/>
        </p:nvSpPr>
        <p:spPr>
          <a:xfrm>
            <a:off x="365760" y="379476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TOWEL RACK: hooks (enzyme active sites) grab towels (substrate). All hooks busy → Vₘₐₓ (saturated).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1" name="Shape 9"/>
          <p:cNvSpPr/>
          <p:nvPr/>
        </p:nvSpPr>
        <p:spPr>
          <a:xfrm>
            <a:off x="3154680" y="150876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2" name="Shape 10"/>
          <p:cNvSpPr/>
          <p:nvPr/>
        </p:nvSpPr>
        <p:spPr>
          <a:xfrm>
            <a:off x="2468880" y="1206720"/>
            <a:ext cx="731520" cy="3477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3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Hooks = active sites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4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Enzyme's catalytic sites: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limited number available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5" name="Shape 13"/>
          <p:cNvSpPr/>
          <p:nvPr/>
        </p:nvSpPr>
        <p:spPr>
          <a:xfrm>
            <a:off x="3611880" y="242316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6" name="Shape 14"/>
          <p:cNvSpPr/>
          <p:nvPr/>
        </p:nvSpPr>
        <p:spPr>
          <a:xfrm>
            <a:off x="2468880" y="2029680"/>
            <a:ext cx="11887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7" name="Text 15"/>
          <p:cNvSpPr/>
          <p:nvPr/>
        </p:nvSpPr>
        <p:spPr>
          <a:xfrm>
            <a:off x="274320" y="19202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Towels = substrate [S]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8" name="Text 16"/>
          <p:cNvSpPr/>
          <p:nvPr/>
        </p:nvSpPr>
        <p:spPr>
          <a:xfrm>
            <a:off x="274320" y="21398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Substrate concentration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determines reaction rate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9" name="Shape 17"/>
          <p:cNvSpPr/>
          <p:nvPr/>
        </p:nvSpPr>
        <p:spPr>
          <a:xfrm>
            <a:off x="544068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0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1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Kₘ = [S] at r = Vₘₐₓ/2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2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Michaelis constant: substrate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conc. giving half-max rate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3" name="Text 21"/>
          <p:cNvSpPr/>
          <p:nvPr/>
        </p:nvSpPr>
        <p:spPr>
          <a:xfrm>
            <a:off x="2530440" y="4445280"/>
            <a:ext cx="3900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500" spc="-1" strike="noStrike">
                <a:solidFill>
                  <a:srgbClr val="00e5a0"/>
                </a:solidFill>
                <a:latin typeface="Calibri"/>
              </a:rPr>
              <a:t>Lineweaver-Burk: 1/r = Kₘ/(Vₘₐₓ[S]) + 1/Vₘₐₓ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4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5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6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98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7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Polymerization Kinetics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8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🧶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Bath Mat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249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4280" cy="2375640"/>
          </a:xfrm>
          <a:prstGeom prst="rect">
            <a:avLst/>
          </a:prstGeom>
          <a:ln w="0">
            <a:noFill/>
          </a:ln>
        </p:spPr>
      </p:pic>
      <p:sp>
        <p:nvSpPr>
          <p:cNvPr id="2250" name="Shape 5"/>
          <p:cNvSpPr/>
          <p:nvPr/>
        </p:nvSpPr>
        <p:spPr>
          <a:xfrm>
            <a:off x="457200" y="329184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1" name="Text 6"/>
          <p:cNvSpPr/>
          <p:nvPr/>
        </p:nvSpPr>
        <p:spPr>
          <a:xfrm>
            <a:off x="548640" y="329184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Rₚ = kₚ·[M]·√(2Rᵢ/kₜ)   |   Chain growth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2" name="Shape 7"/>
          <p:cNvSpPr/>
          <p:nvPr/>
        </p:nvSpPr>
        <p:spPr>
          <a:xfrm>
            <a:off x="274320" y="379476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3" name="Text 8"/>
          <p:cNvSpPr/>
          <p:nvPr/>
        </p:nvSpPr>
        <p:spPr>
          <a:xfrm>
            <a:off x="365760" y="379476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BATH MAT: individual fibres (monomers) woven into long chains (polymer). Init → Prop → Termination.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4" name="Shape 9"/>
          <p:cNvSpPr/>
          <p:nvPr/>
        </p:nvSpPr>
        <p:spPr>
          <a:xfrm>
            <a:off x="3154680" y="150876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5" name="Shape 10"/>
          <p:cNvSpPr/>
          <p:nvPr/>
        </p:nvSpPr>
        <p:spPr>
          <a:xfrm>
            <a:off x="2468880" y="1206720"/>
            <a:ext cx="731520" cy="3477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6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Single fibre = monomer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7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Monomer [M] consumed in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propagation step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8" name="Shape 13"/>
          <p:cNvSpPr/>
          <p:nvPr/>
        </p:nvSpPr>
        <p:spPr>
          <a:xfrm>
            <a:off x="3611880" y="242316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9" name="Shape 14"/>
          <p:cNvSpPr/>
          <p:nvPr/>
        </p:nvSpPr>
        <p:spPr>
          <a:xfrm>
            <a:off x="2468880" y="2029680"/>
            <a:ext cx="11887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0" name="Text 15"/>
          <p:cNvSpPr/>
          <p:nvPr/>
        </p:nvSpPr>
        <p:spPr>
          <a:xfrm>
            <a:off x="274320" y="19202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Woven mat = polymer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1" name="Text 16"/>
          <p:cNvSpPr/>
          <p:nvPr/>
        </p:nvSpPr>
        <p:spPr>
          <a:xfrm>
            <a:off x="274320" y="21398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Growing chains build molecular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weight via propagation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2" name="Shape 17"/>
          <p:cNvSpPr/>
          <p:nvPr/>
        </p:nvSpPr>
        <p:spPr>
          <a:xfrm>
            <a:off x="544068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3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4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Init → Prop → Term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5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Three stages: radical generation,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chain growth, chain termination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6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7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8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100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9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Solving ODEs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0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Floor Lamp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271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4280" cy="2375640"/>
          </a:xfrm>
          <a:prstGeom prst="rect">
            <a:avLst/>
          </a:prstGeom>
          <a:ln w="0">
            <a:noFill/>
          </a:ln>
        </p:spPr>
      </p:pic>
      <p:sp>
        <p:nvSpPr>
          <p:cNvPr id="2272" name="Shape 5"/>
          <p:cNvSpPr/>
          <p:nvPr/>
        </p:nvSpPr>
        <p:spPr>
          <a:xfrm>
            <a:off x="457200" y="329184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3" name="Text 6"/>
          <p:cNvSpPr/>
          <p:nvPr/>
        </p:nvSpPr>
        <p:spPr>
          <a:xfrm>
            <a:off x="548640" y="329184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d93d"/>
                </a:solidFill>
                <a:latin typeface="Consolas"/>
                <a:ea typeface="Consolas"/>
              </a:rPr>
              <a:t>Euler: yₙ</a:t>
            </a:r>
            <a:r>
              <a:rPr b="1" lang="en-US" sz="1300" spc="-1" strike="noStrike">
                <a:solidFill>
                  <a:srgbClr val="ffd93d"/>
                </a:solidFill>
                <a:latin typeface="Consolas"/>
                <a:ea typeface="Consolas"/>
              </a:rPr>
              <a:t>+</a:t>
            </a:r>
            <a:r>
              <a:rPr b="1" lang="en-US" sz="2100" spc="-1" strike="noStrike">
                <a:solidFill>
                  <a:srgbClr val="ffd93d"/>
                </a:solidFill>
                <a:latin typeface="Consolas"/>
                <a:ea typeface="Consolas"/>
              </a:rPr>
              <a:t>₁ = yₙ + h·f(tₙ, yₙ)  |  RK4: 4 stages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4" name="Shape 7"/>
          <p:cNvSpPr/>
          <p:nvPr/>
        </p:nvSpPr>
        <p:spPr>
          <a:xfrm>
            <a:off x="274320" y="379476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5" name="Text 8"/>
          <p:cNvSpPr/>
          <p:nvPr/>
        </p:nvSpPr>
        <p:spPr>
          <a:xfrm>
            <a:off x="365760" y="379476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FLOOR LAMP: follow power cord from plug (t = 0) to bulb (t = final). Each cord step = Euler/RK step.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6" name="Shape 9"/>
          <p:cNvSpPr/>
          <p:nvPr/>
        </p:nvSpPr>
        <p:spPr>
          <a:xfrm>
            <a:off x="3154680" y="196596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7" name="Shape 10"/>
          <p:cNvSpPr/>
          <p:nvPr/>
        </p:nvSpPr>
        <p:spPr>
          <a:xfrm>
            <a:off x="2468880" y="1206720"/>
            <a:ext cx="731520" cy="8049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8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Plug (t=0) = initial cond.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9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Starting point y₀ at time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t₀ (known initial value)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0" name="Shape 13"/>
          <p:cNvSpPr/>
          <p:nvPr/>
        </p:nvSpPr>
        <p:spPr>
          <a:xfrm>
            <a:off x="3611880" y="25146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1" name="Shape 14"/>
          <p:cNvSpPr/>
          <p:nvPr/>
        </p:nvSpPr>
        <p:spPr>
          <a:xfrm>
            <a:off x="2468880" y="2029680"/>
            <a:ext cx="1188720" cy="5306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2" name="Text 15"/>
          <p:cNvSpPr/>
          <p:nvPr/>
        </p:nvSpPr>
        <p:spPr>
          <a:xfrm>
            <a:off x="274320" y="19202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Steps along cord = 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3" name="Text 16"/>
          <p:cNvSpPr/>
          <p:nvPr/>
        </p:nvSpPr>
        <p:spPr>
          <a:xfrm>
            <a:off x="274320" y="21398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Step size h: smaller = more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accurate but more computation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4" name="Shape 17"/>
          <p:cNvSpPr/>
          <p:nvPr/>
        </p:nvSpPr>
        <p:spPr>
          <a:xfrm>
            <a:off x="5440680" y="11430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5" name="Shape 18"/>
          <p:cNvSpPr/>
          <p:nvPr/>
        </p:nvSpPr>
        <p:spPr>
          <a:xfrm flipH="1" flipV="1">
            <a:off x="5486400" y="1188720"/>
            <a:ext cx="914400" cy="10944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6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Bulb = final answer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7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Solution y(t</a:t>
            </a:r>
            <a:r>
              <a:rPr b="0" lang="en-US" sz="1000" spc="-1" strike="noStrike" baseline="-8000">
                <a:solidFill>
                  <a:srgbClr val="e8ecf1"/>
                </a:solidFill>
                <a:latin typeface="Calibri"/>
                <a:ea typeface="Calibri"/>
              </a:rPr>
              <a:t>final</a:t>
            </a: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) obtained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after marching through time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88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2289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2290" name="Image 0" descr="preencoded.png"/>
          <p:cNvPicPr/>
          <p:nvPr/>
        </p:nvPicPr>
        <p:blipFill>
          <a:blip r:embed="rId3"/>
          <a:stretch/>
        </p:blipFill>
        <p:spPr>
          <a:xfrm>
            <a:off x="2926080" y="777240"/>
            <a:ext cx="2924280" cy="2375640"/>
          </a:xfrm>
          <a:prstGeom prst="rect">
            <a:avLst/>
          </a:prstGeom>
          <a:ln w="0">
            <a:noFill/>
          </a:ln>
        </p:spPr>
      </p:pic>
      <p:sp>
        <p:nvSpPr>
          <p:cNvPr id="2291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2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3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101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4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Residence Time Distribution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5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Floor Lamp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6" name="Shape 5"/>
          <p:cNvSpPr/>
          <p:nvPr/>
        </p:nvSpPr>
        <p:spPr>
          <a:xfrm>
            <a:off x="457200" y="329184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7" name="Text 6"/>
          <p:cNvSpPr/>
          <p:nvPr/>
        </p:nvSpPr>
        <p:spPr>
          <a:xfrm>
            <a:off x="548640" y="329184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E(t) distribution  |  τ = V/Q  |  PFR: δ(t−τ)  CSTR: e</a:t>
            </a:r>
            <a:r>
              <a:rPr b="1" lang="en-US" sz="1800" spc="-1" strike="noStrike" baseline="33000">
                <a:solidFill>
                  <a:srgbClr val="ffd93d"/>
                </a:solidFill>
                <a:latin typeface="Consolas"/>
                <a:ea typeface="Consolas"/>
              </a:rPr>
              <a:t>⁻t/τ</a:t>
            </a: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/τ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8" name="Shape 7"/>
          <p:cNvSpPr/>
          <p:nvPr/>
        </p:nvSpPr>
        <p:spPr>
          <a:xfrm>
            <a:off x="274320" y="379476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9" name="Text 8"/>
          <p:cNvSpPr/>
          <p:nvPr/>
        </p:nvSpPr>
        <p:spPr>
          <a:xfrm>
            <a:off x="365760" y="379476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How long does each photon (molecule) stay in the room (reactor)? RTD = distribution of residence times.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0" name="Shape 9"/>
          <p:cNvSpPr/>
          <p:nvPr/>
        </p:nvSpPr>
        <p:spPr>
          <a:xfrm>
            <a:off x="3154680" y="150876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1" name="Shape 10"/>
          <p:cNvSpPr/>
          <p:nvPr/>
        </p:nvSpPr>
        <p:spPr>
          <a:xfrm>
            <a:off x="2468880" y="1206720"/>
            <a:ext cx="731520" cy="3477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2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Photon in = tracer injection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3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Pulse or step input of tracer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to characterize non-ideal flow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4" name="Shape 13"/>
          <p:cNvSpPr/>
          <p:nvPr/>
        </p:nvSpPr>
        <p:spPr>
          <a:xfrm>
            <a:off x="5440680" y="150876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5" name="Shape 14"/>
          <p:cNvSpPr/>
          <p:nvPr/>
        </p:nvSpPr>
        <p:spPr>
          <a:xfrm flipH="1">
            <a:off x="5486400" y="120672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6" name="Text 15"/>
          <p:cNvSpPr/>
          <p:nvPr/>
        </p:nvSpPr>
        <p:spPr>
          <a:xfrm>
            <a:off x="640080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E(t) = exit age dist.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7" name="Text 16"/>
          <p:cNvSpPr/>
          <p:nvPr/>
        </p:nvSpPr>
        <p:spPr>
          <a:xfrm>
            <a:off x="640080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Probability distribution of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residence times in the reactor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8" name="Shape 17"/>
          <p:cNvSpPr/>
          <p:nvPr/>
        </p:nvSpPr>
        <p:spPr>
          <a:xfrm>
            <a:off x="5257800" y="224028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9" name="Shape 18"/>
          <p:cNvSpPr/>
          <p:nvPr/>
        </p:nvSpPr>
        <p:spPr>
          <a:xfrm flipH="1">
            <a:off x="5303520" y="1938240"/>
            <a:ext cx="1097280" cy="34776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0" name="Text 19"/>
          <p:cNvSpPr/>
          <p:nvPr/>
        </p:nvSpPr>
        <p:spPr>
          <a:xfrm>
            <a:off x="6400800" y="182880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σ² = spread/mixing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1" name="Text 20"/>
          <p:cNvSpPr/>
          <p:nvPr/>
        </p:nvSpPr>
        <p:spPr>
          <a:xfrm>
            <a:off x="6400800" y="204840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Variance measures departure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from ideal PFR or CSTR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12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2313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2314" name="Picture 1" descr=""/>
          <p:cNvPicPr/>
          <p:nvPr/>
        </p:nvPicPr>
        <p:blipFill>
          <a:blip r:embed="rId3"/>
          <a:stretch/>
        </p:blipFill>
        <p:spPr>
          <a:xfrm>
            <a:off x="3492360" y="764640"/>
            <a:ext cx="1992960" cy="1980000"/>
          </a:xfrm>
          <a:prstGeom prst="rect">
            <a:avLst/>
          </a:prstGeom>
          <a:ln w="0">
            <a:noFill/>
          </a:ln>
        </p:spPr>
      </p:pic>
      <p:sp>
        <p:nvSpPr>
          <p:cNvPr id="2315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6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7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102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8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Polymerization Reactors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9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🪟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Window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0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1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Gel effect (Trommsdorff): viscosity ↑ → kₜ ↓ → auto-acceleration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2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3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Watch polymer forming through window. Gel effect = window fogs up (viscosity ↑ dramatically).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4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5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6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Window fogs = gel effect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7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Viscosity increase slows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termination → rate accelerates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8" name="Shape 13"/>
          <p:cNvSpPr/>
          <p:nvPr/>
        </p:nvSpPr>
        <p:spPr>
          <a:xfrm>
            <a:off x="3794760" y="187452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9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0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CSTR → Flory-Schulz MWD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1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Backmixed gives broader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MW distribution (PDI≈2)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2" name="Shape 17"/>
          <p:cNvSpPr/>
          <p:nvPr/>
        </p:nvSpPr>
        <p:spPr>
          <a:xfrm>
            <a:off x="5257800" y="14173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3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4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PFR → narrow MWD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5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Plug flow: all chains see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same residence time → narrow PDI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36" name="think-cell data - do not delete"/>
          <p:cNvGraphicFramePr/>
          <p:nvPr/>
        </p:nvGraphicFramePr>
        <p:xfrm>
          <a:off x="1440" y="1440"/>
          <a:ext cx="360" cy="360"/>
        </p:xfrm>
        <a:graphic>
          <a:graphicData uri="http://schemas.openxmlformats.org/presentationml/2006/ole">
            <p:oleObj progId="TCLayout.ActiveDocument.1" r:id="rId1" spid="">
              <p:embed/>
              <p:pic>
                <p:nvPicPr>
                  <p:cNvPr id="2337" name="think-cell data - do not delete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440" y="1440"/>
                    <a:ext cx="360" cy="36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2338" name="Picture 2" descr=""/>
          <p:cNvPicPr/>
          <p:nvPr/>
        </p:nvPicPr>
        <p:blipFill>
          <a:blip r:embed="rId3"/>
          <a:stretch/>
        </p:blipFill>
        <p:spPr>
          <a:xfrm>
            <a:off x="3556080" y="936720"/>
            <a:ext cx="1929240" cy="1929240"/>
          </a:xfrm>
          <a:prstGeom prst="rect">
            <a:avLst/>
          </a:prstGeom>
          <a:ln w="0">
            <a:noFill/>
          </a:ln>
        </p:spPr>
      </p:pic>
      <p:sp>
        <p:nvSpPr>
          <p:cNvPr id="2339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0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1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103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2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Batch Distillation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3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🗃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Fridge Drawer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4" name="Shape 5"/>
          <p:cNvSpPr/>
          <p:nvPr/>
        </p:nvSpPr>
        <p:spPr>
          <a:xfrm>
            <a:off x="457200" y="36118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5" name="Text 6"/>
          <p:cNvSpPr/>
          <p:nvPr/>
        </p:nvSpPr>
        <p:spPr>
          <a:xfrm>
            <a:off x="548640" y="36118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Rayleigh: ln(L/L₀) = ∫dx / (y* − x)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6" name="Shape 7"/>
          <p:cNvSpPr/>
          <p:nvPr/>
        </p:nvSpPr>
        <p:spPr>
          <a:xfrm>
            <a:off x="274320" y="41148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7" name="Text 8"/>
          <p:cNvSpPr/>
          <p:nvPr/>
        </p:nvSpPr>
        <p:spPr>
          <a:xfrm>
            <a:off x="365760" y="41148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FRIDGE DRAWER: lighter volatiles float up first. Still pot gets heavier as lights are removed.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8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9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0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Light comp. rises first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1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More volatile component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enriched in distillate overhead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2" name="Shape 13"/>
          <p:cNvSpPr/>
          <p:nvPr/>
        </p:nvSpPr>
        <p:spPr>
          <a:xfrm>
            <a:off x="3794760" y="25146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3" name="Shape 14"/>
          <p:cNvSpPr/>
          <p:nvPr/>
        </p:nvSpPr>
        <p:spPr>
          <a:xfrm>
            <a:off x="2468880" y="2121120"/>
            <a:ext cx="137160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4" name="Text 15"/>
          <p:cNvSpPr/>
          <p:nvPr/>
        </p:nvSpPr>
        <p:spPr>
          <a:xfrm>
            <a:off x="274320" y="20116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Pot gets heavier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5" name="Text 16"/>
          <p:cNvSpPr/>
          <p:nvPr/>
        </p:nvSpPr>
        <p:spPr>
          <a:xfrm>
            <a:off x="274320" y="2231280"/>
            <a:ext cx="22770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Still pot composition shifts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toward less volatile as batch proceeds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6" name="Shape 17"/>
          <p:cNvSpPr/>
          <p:nvPr/>
        </p:nvSpPr>
        <p:spPr>
          <a:xfrm>
            <a:off x="525780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7" name="Shape 18"/>
          <p:cNvSpPr/>
          <p:nvPr/>
        </p:nvSpPr>
        <p:spPr>
          <a:xfrm flipH="1">
            <a:off x="5303520" y="1298160"/>
            <a:ext cx="109728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8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Rayleigh tracks this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9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Integrate along VLE curve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to find remaining pot composition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0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1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2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104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3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Multistage Distillation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4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🏗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Column (stairs)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365" name="Image 0" descr="preencoded.png"/>
          <p:cNvPicPr/>
          <p:nvPr/>
        </p:nvPicPr>
        <p:blipFill>
          <a:blip r:embed="rId1"/>
          <a:stretch/>
        </p:blipFill>
        <p:spPr>
          <a:xfrm>
            <a:off x="3474720" y="777240"/>
            <a:ext cx="2009880" cy="2009880"/>
          </a:xfrm>
          <a:prstGeom prst="rect">
            <a:avLst/>
          </a:prstGeom>
          <a:ln w="0">
            <a:noFill/>
          </a:ln>
        </p:spPr>
      </p:pic>
      <p:sp>
        <p:nvSpPr>
          <p:cNvPr id="2366" name="Shape 5"/>
          <p:cNvSpPr/>
          <p:nvPr/>
        </p:nvSpPr>
        <p:spPr>
          <a:xfrm>
            <a:off x="457200" y="292608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7" name="Text 6"/>
          <p:cNvSpPr/>
          <p:nvPr/>
        </p:nvSpPr>
        <p:spPr>
          <a:xfrm>
            <a:off x="548640" y="292608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y = R/(R+1)·x + x</a:t>
            </a:r>
            <a:r>
              <a:rPr b="1" lang="en-US" sz="2400" spc="-1" strike="noStrike" baseline="33000">
                <a:solidFill>
                  <a:srgbClr val="ffd93d"/>
                </a:solidFill>
                <a:latin typeface="Consolas"/>
                <a:ea typeface="Consolas"/>
              </a:rPr>
              <a:t>ᴅ</a:t>
            </a:r>
            <a:r>
              <a:rPr b="1" lang="en-US" sz="2400" spc="-1" strike="noStrike">
                <a:solidFill>
                  <a:srgbClr val="ffd93d"/>
                </a:solidFill>
                <a:latin typeface="Consolas"/>
                <a:ea typeface="Consolas"/>
              </a:rPr>
              <a:t>/(R+1)   [Operating line]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8" name="Shape 7"/>
          <p:cNvSpPr/>
          <p:nvPr/>
        </p:nvSpPr>
        <p:spPr>
          <a:xfrm>
            <a:off x="274320" y="342900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9" name="Text 8"/>
          <p:cNvSpPr/>
          <p:nvPr/>
        </p:nvSpPr>
        <p:spPr>
          <a:xfrm>
            <a:off x="365760" y="342900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Climbing stairs (stages): each stair gets closer to pure product. More stairs or higher R = higher purity.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0" name="Shape 9"/>
          <p:cNvSpPr/>
          <p:nvPr/>
        </p:nvSpPr>
        <p:spPr>
          <a:xfrm>
            <a:off x="36118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1" name="Shape 10"/>
          <p:cNvSpPr/>
          <p:nvPr/>
        </p:nvSpPr>
        <p:spPr>
          <a:xfrm>
            <a:off x="2468880" y="1115280"/>
            <a:ext cx="118872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2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Each stair = 1 equil. stage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3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Equilibrium stage: leaving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streams in VLE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4" name="Shape 13"/>
          <p:cNvSpPr/>
          <p:nvPr/>
        </p:nvSpPr>
        <p:spPr>
          <a:xfrm>
            <a:off x="3794760" y="18745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5" name="Shape 14"/>
          <p:cNvSpPr/>
          <p:nvPr/>
        </p:nvSpPr>
        <p:spPr>
          <a:xfrm>
            <a:off x="2468880" y="1755360"/>
            <a:ext cx="1371600" cy="164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6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Higher R → more purity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7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Reflux ratio trades energy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cost for product purity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8" name="Shape 17"/>
          <p:cNvSpPr/>
          <p:nvPr/>
        </p:nvSpPr>
        <p:spPr>
          <a:xfrm>
            <a:off x="5257800" y="14173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9" name="Shape 18"/>
          <p:cNvSpPr/>
          <p:nvPr/>
        </p:nvSpPr>
        <p:spPr>
          <a:xfrm flipH="1">
            <a:off x="5303520" y="1298160"/>
            <a:ext cx="1097280" cy="164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0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Fenske: Nₘᵢₙ at total 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1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Minimum stages at total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reflux (max separation power)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2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3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4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105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5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McCabe-Thiele Diagram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6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Wall Lamp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387" name="Image 0" descr="preencoded.png"/>
          <p:cNvPicPr/>
          <p:nvPr/>
        </p:nvPicPr>
        <p:blipFill>
          <a:blip r:embed="rId1"/>
          <a:stretch/>
        </p:blipFill>
        <p:spPr>
          <a:xfrm>
            <a:off x="3200400" y="731520"/>
            <a:ext cx="2284200" cy="2558520"/>
          </a:xfrm>
          <a:prstGeom prst="rect">
            <a:avLst/>
          </a:prstGeom>
          <a:ln w="0">
            <a:noFill/>
          </a:ln>
        </p:spPr>
      </p:pic>
      <p:sp>
        <p:nvSpPr>
          <p:cNvPr id="2388" name="Shape 5"/>
          <p:cNvSpPr/>
          <p:nvPr/>
        </p:nvSpPr>
        <p:spPr>
          <a:xfrm>
            <a:off x="457200" y="342900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9" name="Text 6"/>
          <p:cNvSpPr/>
          <p:nvPr/>
        </p:nvSpPr>
        <p:spPr>
          <a:xfrm>
            <a:off x="548640" y="342900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Rect: y = R/(R+1)·x + x</a:t>
            </a:r>
            <a:r>
              <a:rPr b="1" lang="en-US" sz="2000" spc="-1" strike="noStrike" baseline="33000">
                <a:solidFill>
                  <a:srgbClr val="ffd93d"/>
                </a:solidFill>
                <a:latin typeface="Consolas"/>
                <a:ea typeface="Consolas"/>
              </a:rPr>
              <a:t>ᴅ</a:t>
            </a: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/(R+1)  |  q-line for feed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0" name="Shape 7"/>
          <p:cNvSpPr/>
          <p:nvPr/>
        </p:nvSpPr>
        <p:spPr>
          <a:xfrm>
            <a:off x="274320" y="393192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1" name="Text 8"/>
          <p:cNvSpPr/>
          <p:nvPr/>
        </p:nvSpPr>
        <p:spPr>
          <a:xfrm>
            <a:off x="365760" y="393192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300" spc="-1" strike="noStrike">
                <a:solidFill>
                  <a:srgbClr val="00e5a0"/>
                </a:solidFill>
                <a:latin typeface="Calibri"/>
                <a:ea typeface="Calibri"/>
              </a:rPr>
              <a:t>WALL LAMP illuminates McCabe-Thiele diagram. Count staircase steps between operating line and equil. curve.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2" name="Shape 9"/>
          <p:cNvSpPr/>
          <p:nvPr/>
        </p:nvSpPr>
        <p:spPr>
          <a:xfrm>
            <a:off x="333756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3" name="Shape 10"/>
          <p:cNvSpPr/>
          <p:nvPr/>
        </p:nvSpPr>
        <p:spPr>
          <a:xfrm>
            <a:off x="2468880" y="1115280"/>
            <a:ext cx="91440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4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Staircase = stages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5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Each step between op. line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and equil. curve = 1 stage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6" name="Shape 13"/>
          <p:cNvSpPr/>
          <p:nvPr/>
        </p:nvSpPr>
        <p:spPr>
          <a:xfrm>
            <a:off x="3611880" y="23317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7" name="Shape 14"/>
          <p:cNvSpPr/>
          <p:nvPr/>
        </p:nvSpPr>
        <p:spPr>
          <a:xfrm>
            <a:off x="2468880" y="1938240"/>
            <a:ext cx="11887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8" name="Text 15"/>
          <p:cNvSpPr/>
          <p:nvPr/>
        </p:nvSpPr>
        <p:spPr>
          <a:xfrm>
            <a:off x="274320" y="182880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q-line: feed condition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9" name="Text 16"/>
          <p:cNvSpPr/>
          <p:nvPr/>
        </p:nvSpPr>
        <p:spPr>
          <a:xfrm>
            <a:off x="274320" y="204840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q=1: sat. liquid feed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q=0: sat. vapor feed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0" name="Shape 17"/>
          <p:cNvSpPr/>
          <p:nvPr/>
        </p:nvSpPr>
        <p:spPr>
          <a:xfrm>
            <a:off x="525780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1" name="Shape 18"/>
          <p:cNvSpPr/>
          <p:nvPr/>
        </p:nvSpPr>
        <p:spPr>
          <a:xfrm flipH="1">
            <a:off x="5303520" y="1298160"/>
            <a:ext cx="109728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2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Count steps = N stages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3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Graphical determination of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total theoretical trays needed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4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5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6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106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7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Absorption Columns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8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🏭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Column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409" name="Image 0" descr="preencoded.png"/>
          <p:cNvPicPr/>
          <p:nvPr/>
        </p:nvPicPr>
        <p:blipFill>
          <a:blip r:embed="rId1"/>
          <a:stretch/>
        </p:blipFill>
        <p:spPr>
          <a:xfrm>
            <a:off x="3200400" y="731520"/>
            <a:ext cx="2284200" cy="2558520"/>
          </a:xfrm>
          <a:prstGeom prst="rect">
            <a:avLst/>
          </a:prstGeom>
          <a:ln w="0">
            <a:noFill/>
          </a:ln>
        </p:spPr>
      </p:pic>
      <p:sp>
        <p:nvSpPr>
          <p:cNvPr id="2410" name="Shape 5"/>
          <p:cNvSpPr/>
          <p:nvPr/>
        </p:nvSpPr>
        <p:spPr>
          <a:xfrm>
            <a:off x="457200" y="342900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1" name="Text 6"/>
          <p:cNvSpPr/>
          <p:nvPr/>
        </p:nvSpPr>
        <p:spPr>
          <a:xfrm>
            <a:off x="548640" y="342900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Z = NOG × HOG  |  NOG = ∫dy/(y − y*)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2" name="Shape 7"/>
          <p:cNvSpPr/>
          <p:nvPr/>
        </p:nvSpPr>
        <p:spPr>
          <a:xfrm>
            <a:off x="274320" y="393192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3" name="Text 8"/>
          <p:cNvSpPr/>
          <p:nvPr/>
        </p:nvSpPr>
        <p:spPr>
          <a:xfrm>
            <a:off x="365760" y="393192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300" spc="-1" strike="noStrike">
                <a:solidFill>
                  <a:srgbClr val="00e5a0"/>
                </a:solidFill>
                <a:latin typeface="Calibri"/>
                <a:ea typeface="Calibri"/>
              </a:rPr>
              <a:t>Car wash: dirty gas flows up, clean solvent flows down. Each wash zone = 1 transfer unit. Counter-current!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4" name="Shape 9"/>
          <p:cNvSpPr/>
          <p:nvPr/>
        </p:nvSpPr>
        <p:spPr>
          <a:xfrm>
            <a:off x="333756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5" name="Shape 10"/>
          <p:cNvSpPr/>
          <p:nvPr/>
        </p:nvSpPr>
        <p:spPr>
          <a:xfrm>
            <a:off x="2468880" y="1115280"/>
            <a:ext cx="914400" cy="7344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440" bIns="284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6" name="Text 11"/>
          <p:cNvSpPr/>
          <p:nvPr/>
        </p:nvSpPr>
        <p:spPr>
          <a:xfrm>
            <a:off x="274320" y="10058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Gas UP ↑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7" name="Text 12"/>
          <p:cNvSpPr/>
          <p:nvPr/>
        </p:nvSpPr>
        <p:spPr>
          <a:xfrm>
            <a:off x="274320" y="12254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Gas phase flows upward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through packed column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8" name="Shape 13"/>
          <p:cNvSpPr/>
          <p:nvPr/>
        </p:nvSpPr>
        <p:spPr>
          <a:xfrm>
            <a:off x="3611880" y="25146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9" name="Shape 14"/>
          <p:cNvSpPr/>
          <p:nvPr/>
        </p:nvSpPr>
        <p:spPr>
          <a:xfrm>
            <a:off x="2468880" y="1938240"/>
            <a:ext cx="1188720" cy="6220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0" name="Text 15"/>
          <p:cNvSpPr/>
          <p:nvPr/>
        </p:nvSpPr>
        <p:spPr>
          <a:xfrm>
            <a:off x="274320" y="182880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Liquid DOWN ↓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1" name="Text 16"/>
          <p:cNvSpPr/>
          <p:nvPr/>
        </p:nvSpPr>
        <p:spPr>
          <a:xfrm>
            <a:off x="274320" y="204840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Solvent flows down: absorbs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gas component at each height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2" name="Shape 17"/>
          <p:cNvSpPr/>
          <p:nvPr/>
        </p:nvSpPr>
        <p:spPr>
          <a:xfrm>
            <a:off x="525780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3" name="Shape 18"/>
          <p:cNvSpPr/>
          <p:nvPr/>
        </p:nvSpPr>
        <p:spPr>
          <a:xfrm flipH="1">
            <a:off x="5303520" y="1298160"/>
            <a:ext cx="109728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4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Counter-current = max ΔC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5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Opposing flows maximize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driving force for mass transfer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6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7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8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107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9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Stripping Columns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0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🗄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Corner Wall Cabinet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431" name="Image 0" descr="preencoded.png"/>
          <p:cNvPicPr/>
          <p:nvPr/>
        </p:nvPicPr>
        <p:blipFill>
          <a:blip r:embed="rId1"/>
          <a:stretch/>
        </p:blipFill>
        <p:spPr>
          <a:xfrm>
            <a:off x="3200400" y="731520"/>
            <a:ext cx="2284200" cy="2558520"/>
          </a:xfrm>
          <a:prstGeom prst="rect">
            <a:avLst/>
          </a:prstGeom>
          <a:ln w="0">
            <a:noFill/>
          </a:ln>
        </p:spPr>
      </p:pic>
      <p:sp>
        <p:nvSpPr>
          <p:cNvPr id="2432" name="Shape 5"/>
          <p:cNvSpPr/>
          <p:nvPr/>
        </p:nvSpPr>
        <p:spPr>
          <a:xfrm>
            <a:off x="457200" y="342900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3" name="Text 6"/>
          <p:cNvSpPr/>
          <p:nvPr/>
        </p:nvSpPr>
        <p:spPr>
          <a:xfrm>
            <a:off x="548640" y="342900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Stripping factor S = mG/L   |   S &gt; 1 for effective stripping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4" name="Shape 7"/>
          <p:cNvSpPr/>
          <p:nvPr/>
        </p:nvSpPr>
        <p:spPr>
          <a:xfrm>
            <a:off x="274320" y="393192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5" name="Text 8"/>
          <p:cNvSpPr/>
          <p:nvPr/>
        </p:nvSpPr>
        <p:spPr>
          <a:xfrm>
            <a:off x="365760" y="393192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CORNER CABINET: strips out hard-to-reach dissolved gases from liquid. Reverse of absorption.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6" name="Shape 9"/>
          <p:cNvSpPr/>
          <p:nvPr/>
        </p:nvSpPr>
        <p:spPr>
          <a:xfrm>
            <a:off x="3337560" y="16002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7" name="Shape 10"/>
          <p:cNvSpPr/>
          <p:nvPr/>
        </p:nvSpPr>
        <p:spPr>
          <a:xfrm>
            <a:off x="2468880" y="1206720"/>
            <a:ext cx="91440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8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Dissolved gas = hiding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9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Dissolved solute in liquid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needs to be removed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0" name="Shape 13"/>
          <p:cNvSpPr/>
          <p:nvPr/>
        </p:nvSpPr>
        <p:spPr>
          <a:xfrm>
            <a:off x="3611880" y="251460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1" name="Shape 14"/>
          <p:cNvSpPr/>
          <p:nvPr/>
        </p:nvSpPr>
        <p:spPr>
          <a:xfrm>
            <a:off x="2468880" y="2029680"/>
            <a:ext cx="1188720" cy="53064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2" name="Text 15"/>
          <p:cNvSpPr/>
          <p:nvPr/>
        </p:nvSpPr>
        <p:spPr>
          <a:xfrm>
            <a:off x="274320" y="19202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Stripping = pulls out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3" name="Text 16"/>
          <p:cNvSpPr/>
          <p:nvPr/>
        </p:nvSpPr>
        <p:spPr>
          <a:xfrm>
            <a:off x="274320" y="21398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Strip gas (steam, air) contacts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liquid to drive out dissolved gas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4" name="Shape 17"/>
          <p:cNvSpPr/>
          <p:nvPr/>
        </p:nvSpPr>
        <p:spPr>
          <a:xfrm>
            <a:off x="525780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5" name="Shape 18"/>
          <p:cNvSpPr/>
          <p:nvPr/>
        </p:nvSpPr>
        <p:spPr>
          <a:xfrm flipH="1">
            <a:off x="5303520" y="1298160"/>
            <a:ext cx="109728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6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S &gt; 1 → effective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7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Stripping factor &gt; 1 ensures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enough driving force for removal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8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9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0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108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1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Hunter-Nash (LLE)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2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🔺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Ternary triangle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453" name="Image 0" descr="preencoded.png"/>
          <p:cNvPicPr/>
          <p:nvPr/>
        </p:nvPicPr>
        <p:blipFill>
          <a:blip r:embed="rId1"/>
          <a:stretch/>
        </p:blipFill>
        <p:spPr>
          <a:xfrm>
            <a:off x="2926080" y="777240"/>
            <a:ext cx="2924280" cy="2375640"/>
          </a:xfrm>
          <a:prstGeom prst="rect">
            <a:avLst/>
          </a:prstGeom>
          <a:ln w="0">
            <a:noFill/>
          </a:ln>
        </p:spPr>
      </p:pic>
      <p:sp>
        <p:nvSpPr>
          <p:cNvPr id="2454" name="Shape 5"/>
          <p:cNvSpPr/>
          <p:nvPr/>
        </p:nvSpPr>
        <p:spPr>
          <a:xfrm>
            <a:off x="457200" y="329184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5" name="Text 6"/>
          <p:cNvSpPr/>
          <p:nvPr/>
        </p:nvSpPr>
        <p:spPr>
          <a:xfrm>
            <a:off x="548640" y="329184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d93d"/>
                </a:solidFill>
                <a:latin typeface="Consolas"/>
                <a:ea typeface="Consolas"/>
              </a:rPr>
              <a:t>F + S = R + E  |  Operating point on extended (F,S) line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6" name="Shape 7"/>
          <p:cNvSpPr/>
          <p:nvPr/>
        </p:nvSpPr>
        <p:spPr>
          <a:xfrm>
            <a:off x="274320" y="379476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7" name="Text 8"/>
          <p:cNvSpPr/>
          <p:nvPr/>
        </p:nvSpPr>
        <p:spPr>
          <a:xfrm>
            <a:off x="365760" y="379476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Ternary triangle = map. Operating point = compass bearing. Each extraction = one step on triangle.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8" name="Shape 9"/>
          <p:cNvSpPr/>
          <p:nvPr/>
        </p:nvSpPr>
        <p:spPr>
          <a:xfrm>
            <a:off x="3154680" y="150876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9" name="Shape 10"/>
          <p:cNvSpPr/>
          <p:nvPr/>
        </p:nvSpPr>
        <p:spPr>
          <a:xfrm>
            <a:off x="2468880" y="1206720"/>
            <a:ext cx="731520" cy="3477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0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Feed F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1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Feed mixture of solute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and carrier to be extracted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2" name="Shape 13"/>
          <p:cNvSpPr/>
          <p:nvPr/>
        </p:nvSpPr>
        <p:spPr>
          <a:xfrm>
            <a:off x="3611880" y="242316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3" name="Shape 14"/>
          <p:cNvSpPr/>
          <p:nvPr/>
        </p:nvSpPr>
        <p:spPr>
          <a:xfrm>
            <a:off x="2468880" y="2029680"/>
            <a:ext cx="1188720" cy="4392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4" name="Text 15"/>
          <p:cNvSpPr/>
          <p:nvPr/>
        </p:nvSpPr>
        <p:spPr>
          <a:xfrm>
            <a:off x="274320" y="192024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Solvent 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5" name="Text 16"/>
          <p:cNvSpPr/>
          <p:nvPr/>
        </p:nvSpPr>
        <p:spPr>
          <a:xfrm>
            <a:off x="274320" y="213984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Immiscible solvent selectively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extracts the solute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6" name="Shape 17"/>
          <p:cNvSpPr/>
          <p:nvPr/>
        </p:nvSpPr>
        <p:spPr>
          <a:xfrm>
            <a:off x="544068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7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8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Step between tie lines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9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Connect operating point through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tie lines to count stages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0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1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2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109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3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Single-Effect Evaporator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4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☁️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Evaporator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475" name="Image 0" descr="preencoded.png"/>
          <p:cNvPicPr/>
          <p:nvPr/>
        </p:nvPicPr>
        <p:blipFill>
          <a:blip r:embed="rId1"/>
          <a:stretch/>
        </p:blipFill>
        <p:spPr>
          <a:xfrm>
            <a:off x="2926080" y="731520"/>
            <a:ext cx="2924280" cy="2558520"/>
          </a:xfrm>
          <a:prstGeom prst="rect">
            <a:avLst/>
          </a:prstGeom>
          <a:ln w="0">
            <a:noFill/>
          </a:ln>
        </p:spPr>
      </p:pic>
      <p:sp>
        <p:nvSpPr>
          <p:cNvPr id="2476" name="Shape 5"/>
          <p:cNvSpPr/>
          <p:nvPr/>
        </p:nvSpPr>
        <p:spPr>
          <a:xfrm>
            <a:off x="457200" y="342900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7" name="Text 6"/>
          <p:cNvSpPr/>
          <p:nvPr/>
        </p:nvSpPr>
        <p:spPr>
          <a:xfrm>
            <a:off x="548640" y="342900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F = L + V  |  F·x</a:t>
            </a:r>
            <a:r>
              <a:rPr b="1" lang="en-US" sz="1500" spc="-1" strike="noStrike">
                <a:solidFill>
                  <a:srgbClr val="ffd93d"/>
                </a:solidFill>
                <a:latin typeface="Consolas"/>
                <a:ea typeface="Consolas"/>
              </a:rPr>
              <a:t>ꜰ</a:t>
            </a: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 = L·x</a:t>
            </a:r>
            <a:r>
              <a:rPr b="1" lang="en-US" sz="2100" spc="-1" strike="noStrike">
                <a:solidFill>
                  <a:srgbClr val="ffd93d"/>
                </a:solidFill>
                <a:latin typeface="Consolas"/>
                <a:ea typeface="Consolas"/>
              </a:rPr>
              <a:t>ₗ</a:t>
            </a: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  |  SE = V/S ≈ 0.8-0.9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8" name="Shape 7"/>
          <p:cNvSpPr/>
          <p:nvPr/>
        </p:nvSpPr>
        <p:spPr>
          <a:xfrm>
            <a:off x="274320" y="393192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9" name="Text 8"/>
          <p:cNvSpPr/>
          <p:nvPr/>
        </p:nvSpPr>
        <p:spPr>
          <a:xfrm>
            <a:off x="365760" y="393192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600" spc="-1" strike="noStrike">
                <a:solidFill>
                  <a:srgbClr val="00e5a0"/>
                </a:solidFill>
                <a:latin typeface="Calibri"/>
                <a:ea typeface="Calibri"/>
              </a:rPr>
              <a:t>Single pot of soup: steam heats pot (F), water evaporates (V), soup concentrates (L).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0" name="Shape 9"/>
          <p:cNvSpPr/>
          <p:nvPr/>
        </p:nvSpPr>
        <p:spPr>
          <a:xfrm>
            <a:off x="3154680" y="16002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1" name="Shape 10"/>
          <p:cNvSpPr/>
          <p:nvPr/>
        </p:nvSpPr>
        <p:spPr>
          <a:xfrm>
            <a:off x="2468880" y="1206720"/>
            <a:ext cx="731520" cy="4392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2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Feed F in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3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Dilute solution entering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the evaporator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4" name="Shape 13"/>
          <p:cNvSpPr/>
          <p:nvPr/>
        </p:nvSpPr>
        <p:spPr>
          <a:xfrm>
            <a:off x="3611880" y="86868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5" name="Shape 14"/>
          <p:cNvSpPr/>
          <p:nvPr/>
        </p:nvSpPr>
        <p:spPr>
          <a:xfrm flipV="1">
            <a:off x="2468880" y="914400"/>
            <a:ext cx="1188720" cy="84096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6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Vapor V out ↑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7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Water evaporated off: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driven by steam heating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8" name="Shape 17"/>
          <p:cNvSpPr/>
          <p:nvPr/>
        </p:nvSpPr>
        <p:spPr>
          <a:xfrm>
            <a:off x="5440680" y="25146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9" name="Shape 18"/>
          <p:cNvSpPr/>
          <p:nvPr/>
        </p:nvSpPr>
        <p:spPr>
          <a:xfrm flipH="1">
            <a:off x="5486400" y="1755360"/>
            <a:ext cx="914400" cy="8049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0" name="Text 19"/>
          <p:cNvSpPr/>
          <p:nvPr/>
        </p:nvSpPr>
        <p:spPr>
          <a:xfrm>
            <a:off x="640080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Conc. liquid L out ↓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1" name="Text 20"/>
          <p:cNvSpPr/>
          <p:nvPr/>
        </p:nvSpPr>
        <p:spPr>
          <a:xfrm>
            <a:off x="640080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Concentrated product stream: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F·x</a:t>
            </a:r>
            <a:r>
              <a:rPr b="0" lang="en-US" sz="900" spc="-1" strike="noStrike">
                <a:solidFill>
                  <a:srgbClr val="e8ecf1"/>
                </a:solidFill>
                <a:latin typeface="Calibri"/>
                <a:ea typeface="Calibri"/>
              </a:rPr>
              <a:t>ꜰ</a:t>
            </a: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 = L·xₗ (solute balance)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2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3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4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110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5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Multi-Effect Evaporator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6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☁️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×3 Triple Effect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497" name="Image 0" descr="preencoded.png"/>
          <p:cNvPicPr/>
          <p:nvPr/>
        </p:nvPicPr>
        <p:blipFill>
          <a:blip r:embed="rId1"/>
          <a:stretch/>
        </p:blipFill>
        <p:spPr>
          <a:xfrm>
            <a:off x="2926080" y="731520"/>
            <a:ext cx="2924280" cy="2558520"/>
          </a:xfrm>
          <a:prstGeom prst="rect">
            <a:avLst/>
          </a:prstGeom>
          <a:ln w="0">
            <a:noFill/>
          </a:ln>
        </p:spPr>
      </p:pic>
      <p:sp>
        <p:nvSpPr>
          <p:cNvPr id="2498" name="Shape 5"/>
          <p:cNvSpPr/>
          <p:nvPr/>
        </p:nvSpPr>
        <p:spPr>
          <a:xfrm>
            <a:off x="457200" y="342900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9" name="Text 6"/>
          <p:cNvSpPr/>
          <p:nvPr/>
        </p:nvSpPr>
        <p:spPr>
          <a:xfrm>
            <a:off x="548640" y="342900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d93d"/>
                </a:solidFill>
                <a:latin typeface="Consolas"/>
                <a:ea typeface="Consolas"/>
              </a:rPr>
              <a:t>SE ≈ N  (N effects → N times better steam economy)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0" name="Shape 7"/>
          <p:cNvSpPr/>
          <p:nvPr/>
        </p:nvSpPr>
        <p:spPr>
          <a:xfrm>
            <a:off x="274320" y="393192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1" name="Text 8"/>
          <p:cNvSpPr/>
          <p:nvPr/>
        </p:nvSpPr>
        <p:spPr>
          <a:xfrm>
            <a:off x="365760" y="393192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Three pots in series: steam from pot 1 heats pot 2, from 2 heats 3. Energy recycled between effects!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2" name="Shape 9"/>
          <p:cNvSpPr/>
          <p:nvPr/>
        </p:nvSpPr>
        <p:spPr>
          <a:xfrm>
            <a:off x="3154680" y="114300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3" name="Shape 10"/>
          <p:cNvSpPr/>
          <p:nvPr/>
        </p:nvSpPr>
        <p:spPr>
          <a:xfrm flipV="1">
            <a:off x="2468880" y="1188720"/>
            <a:ext cx="731520" cy="1800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7000" bIns="-27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4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Effect 1: fresh steam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5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Live steam input: highest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 and P in the series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6" name="Shape 13"/>
          <p:cNvSpPr/>
          <p:nvPr/>
        </p:nvSpPr>
        <p:spPr>
          <a:xfrm>
            <a:off x="3611880" y="178308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7" name="Shape 14"/>
          <p:cNvSpPr/>
          <p:nvPr/>
        </p:nvSpPr>
        <p:spPr>
          <a:xfrm flipV="1">
            <a:off x="2468880" y="1828800"/>
            <a:ext cx="1188720" cy="1800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7000" bIns="-27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8" name="Text 15"/>
          <p:cNvSpPr/>
          <p:nvPr/>
        </p:nvSpPr>
        <p:spPr>
          <a:xfrm>
            <a:off x="274320" y="173736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Effect 2: uses vapor from 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9" name="Text 16"/>
          <p:cNvSpPr/>
          <p:nvPr/>
        </p:nvSpPr>
        <p:spPr>
          <a:xfrm>
            <a:off x="274320" y="195696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Vapor from effect 1 serves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as heating medium for effect 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0" name="Shape 17"/>
          <p:cNvSpPr/>
          <p:nvPr/>
        </p:nvSpPr>
        <p:spPr>
          <a:xfrm>
            <a:off x="5440680" y="160020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1" name="Shape 18"/>
          <p:cNvSpPr/>
          <p:nvPr/>
        </p:nvSpPr>
        <p:spPr>
          <a:xfrm flipH="1">
            <a:off x="5486400" y="1298160"/>
            <a:ext cx="914400" cy="34776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2" name="Text 19"/>
          <p:cNvSpPr/>
          <p:nvPr/>
        </p:nvSpPr>
        <p:spPr>
          <a:xfrm>
            <a:off x="6400800" y="11887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Effect 3: uses vapor from 2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3" name="Text 20"/>
          <p:cNvSpPr/>
          <p:nvPr/>
        </p:nvSpPr>
        <p:spPr>
          <a:xfrm>
            <a:off x="6400800" y="14083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Cascading: each subsequent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effect runs at lower T and 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4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5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6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111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7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Lumped Capacitance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8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🕯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Candle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519" name="Image 0" descr="preencoded.png"/>
          <p:cNvPicPr/>
          <p:nvPr/>
        </p:nvPicPr>
        <p:blipFill>
          <a:blip r:embed="rId1"/>
          <a:stretch/>
        </p:blipFill>
        <p:spPr>
          <a:xfrm>
            <a:off x="2560320" y="777240"/>
            <a:ext cx="3655800" cy="1644120"/>
          </a:xfrm>
          <a:prstGeom prst="rect">
            <a:avLst/>
          </a:prstGeom>
          <a:ln w="0">
            <a:noFill/>
          </a:ln>
        </p:spPr>
      </p:pic>
      <p:sp>
        <p:nvSpPr>
          <p:cNvPr id="2520" name="Shape 5"/>
          <p:cNvSpPr/>
          <p:nvPr/>
        </p:nvSpPr>
        <p:spPr>
          <a:xfrm>
            <a:off x="457200" y="256032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1" name="Text 6"/>
          <p:cNvSpPr/>
          <p:nvPr/>
        </p:nvSpPr>
        <p:spPr>
          <a:xfrm>
            <a:off x="548640" y="256032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T(t) = T</a:t>
            </a:r>
            <a:r>
              <a:rPr b="1" lang="en-US" sz="28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∞</a:t>
            </a: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 + (Tᵢ − T</a:t>
            </a:r>
            <a:r>
              <a:rPr b="1" lang="en-US" sz="26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∞</a:t>
            </a: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)·exp(−t/τ)  |  Bi = hL</a:t>
            </a:r>
            <a:r>
              <a:rPr b="1" lang="en-US" sz="2000" spc="-1" strike="noStrike" baseline="-8000">
                <a:solidFill>
                  <a:srgbClr val="ffd93d"/>
                </a:solidFill>
                <a:latin typeface="Consolas"/>
                <a:ea typeface="Consolas"/>
              </a:rPr>
              <a:t>c</a:t>
            </a:r>
            <a:r>
              <a:rPr b="1" lang="en-US" sz="2000" spc="-1" strike="noStrike">
                <a:solidFill>
                  <a:srgbClr val="ffd93d"/>
                </a:solidFill>
                <a:latin typeface="Consolas"/>
                <a:ea typeface="Consolas"/>
              </a:rPr>
              <a:t>/k &lt; 0.1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2" name="Shape 7"/>
          <p:cNvSpPr/>
          <p:nvPr/>
        </p:nvSpPr>
        <p:spPr>
          <a:xfrm>
            <a:off x="274320" y="306324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3" name="Text 8"/>
          <p:cNvSpPr/>
          <p:nvPr/>
        </p:nvSpPr>
        <p:spPr>
          <a:xfrm>
            <a:off x="365760" y="306324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CANDLE: small object, uniform T everywhere (lumped). Blow out → T drops exponentially with time.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4" name="Shape 9"/>
          <p:cNvSpPr/>
          <p:nvPr/>
        </p:nvSpPr>
        <p:spPr>
          <a:xfrm>
            <a:off x="2880360" y="96012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5" name="Shape 10"/>
          <p:cNvSpPr/>
          <p:nvPr/>
        </p:nvSpPr>
        <p:spPr>
          <a:xfrm flipV="1">
            <a:off x="2468880" y="1005840"/>
            <a:ext cx="457200" cy="20088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6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Small object = B</a:t>
            </a:r>
            <a:r>
              <a:rPr b="1" lang="en-US" sz="700" spc="-1" strike="noStrike">
                <a:solidFill>
                  <a:srgbClr val="00b4d8"/>
                </a:solidFill>
                <a:latin typeface="Calibri"/>
                <a:ea typeface="Calibri"/>
              </a:rPr>
              <a:t>i</a:t>
            </a: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 &lt; 0.1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7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Biot number small: internal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conduction &gt;&gt; external convection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8" name="Shape 13"/>
          <p:cNvSpPr/>
          <p:nvPr/>
        </p:nvSpPr>
        <p:spPr>
          <a:xfrm>
            <a:off x="3611880" y="14173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9" name="Shape 14"/>
          <p:cNvSpPr/>
          <p:nvPr/>
        </p:nvSpPr>
        <p:spPr>
          <a:xfrm flipV="1">
            <a:off x="2468880" y="1463040"/>
            <a:ext cx="1188720" cy="29232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0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Uniform T (lumped)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1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No spatial gradient inside: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whole object at one temperature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2" name="Shape 17"/>
          <p:cNvSpPr/>
          <p:nvPr/>
        </p:nvSpPr>
        <p:spPr>
          <a:xfrm>
            <a:off x="5897880" y="9601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3" name="Shape 18"/>
          <p:cNvSpPr/>
          <p:nvPr/>
        </p:nvSpPr>
        <p:spPr>
          <a:xfrm flipH="1" flipV="1">
            <a:off x="5943600" y="1005840"/>
            <a:ext cx="457200" cy="200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4" name="Text 19"/>
          <p:cNvSpPr/>
          <p:nvPr/>
        </p:nvSpPr>
        <p:spPr>
          <a:xfrm>
            <a:off x="640080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τ = ρV</a:t>
            </a:r>
            <a:r>
              <a:rPr b="1" lang="en-US" sz="900" spc="-1" strike="noStrike">
                <a:solidFill>
                  <a:srgbClr val="ff6b6b"/>
                </a:solidFill>
                <a:latin typeface="Calibri"/>
                <a:ea typeface="Calibri"/>
              </a:rPr>
              <a:t>c</a:t>
            </a: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/(h</a:t>
            </a:r>
            <a:r>
              <a:rPr b="1" lang="en-US" sz="700" spc="-1" strike="noStrike">
                <a:solidFill>
                  <a:srgbClr val="ff6b6b"/>
                </a:solidFill>
                <a:latin typeface="Calibri"/>
                <a:ea typeface="Calibri"/>
              </a:rPr>
              <a:t>A</a:t>
            </a: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5" name="Text 20"/>
          <p:cNvSpPr/>
          <p:nvPr/>
        </p:nvSpPr>
        <p:spPr>
          <a:xfrm>
            <a:off x="6216840" y="1316880"/>
            <a:ext cx="23767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Thermal time constant: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how fast object responds to T change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6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7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8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112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9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Transient Conduction (Sphere)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0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🌐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Sphere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541" name="Image 0" descr="preencoded.png"/>
          <p:cNvPicPr/>
          <p:nvPr/>
        </p:nvPicPr>
        <p:blipFill>
          <a:blip r:embed="rId1"/>
          <a:stretch/>
        </p:blipFill>
        <p:spPr>
          <a:xfrm>
            <a:off x="2560320" y="777240"/>
            <a:ext cx="3655800" cy="1644120"/>
          </a:xfrm>
          <a:prstGeom prst="rect">
            <a:avLst/>
          </a:prstGeom>
          <a:ln w="0">
            <a:noFill/>
          </a:ln>
        </p:spPr>
      </p:pic>
      <p:sp>
        <p:nvSpPr>
          <p:cNvPr id="2542" name="Shape 5"/>
          <p:cNvSpPr/>
          <p:nvPr/>
        </p:nvSpPr>
        <p:spPr>
          <a:xfrm>
            <a:off x="457200" y="256032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3" name="Text 6"/>
          <p:cNvSpPr/>
          <p:nvPr/>
        </p:nvSpPr>
        <p:spPr>
          <a:xfrm>
            <a:off x="548640" y="256032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Fo = αt/r₀²  |  B</a:t>
            </a:r>
            <a:r>
              <a:rPr b="1" lang="en-US" sz="1300" spc="-1" strike="noStrike">
                <a:solidFill>
                  <a:srgbClr val="ffd93d"/>
                </a:solidFill>
                <a:latin typeface="Consolas"/>
                <a:ea typeface="Consolas"/>
              </a:rPr>
              <a:t>i</a:t>
            </a:r>
            <a:r>
              <a:rPr b="1" lang="en-US" sz="1600" spc="-1" strike="noStrike">
                <a:solidFill>
                  <a:srgbClr val="ffd93d"/>
                </a:solidFill>
                <a:latin typeface="Consolas"/>
                <a:ea typeface="Consolas"/>
              </a:rPr>
              <a:t> = hr₀/k  |  One-term approx. + Heisler charts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4" name="Shape 7"/>
          <p:cNvSpPr/>
          <p:nvPr/>
        </p:nvSpPr>
        <p:spPr>
          <a:xfrm>
            <a:off x="274320" y="306324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5" name="Text 8"/>
          <p:cNvSpPr/>
          <p:nvPr/>
        </p:nvSpPr>
        <p:spPr>
          <a:xfrm>
            <a:off x="365760" y="306324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500" spc="-1" strike="noStrike">
                <a:solidFill>
                  <a:srgbClr val="00e5a0"/>
                </a:solidFill>
                <a:latin typeface="Calibri"/>
                <a:ea typeface="Calibri"/>
              </a:rPr>
              <a:t>Sphere cooling: surface cools fast, center stays hot. Fo tracks how far heat has diffused inward.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6" name="Shape 9"/>
          <p:cNvSpPr/>
          <p:nvPr/>
        </p:nvSpPr>
        <p:spPr>
          <a:xfrm>
            <a:off x="3154680" y="96012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7" name="Shape 10"/>
          <p:cNvSpPr/>
          <p:nvPr/>
        </p:nvSpPr>
        <p:spPr>
          <a:xfrm flipV="1">
            <a:off x="2468880" y="1005840"/>
            <a:ext cx="731520" cy="20088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8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Surface cools first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9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Convection removes heat from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outer surface immediately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0" name="Shape 13"/>
          <p:cNvSpPr/>
          <p:nvPr/>
        </p:nvSpPr>
        <p:spPr>
          <a:xfrm>
            <a:off x="5440680" y="9601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1" name="Shape 14"/>
          <p:cNvSpPr/>
          <p:nvPr/>
        </p:nvSpPr>
        <p:spPr>
          <a:xfrm flipH="1" flipV="1">
            <a:off x="5486400" y="1005840"/>
            <a:ext cx="914400" cy="200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2" name="Text 15"/>
          <p:cNvSpPr/>
          <p:nvPr/>
        </p:nvSpPr>
        <p:spPr>
          <a:xfrm>
            <a:off x="640080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Center stays hot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3" name="Text 16"/>
          <p:cNvSpPr/>
          <p:nvPr/>
        </p:nvSpPr>
        <p:spPr>
          <a:xfrm>
            <a:off x="640080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Internal conduction limits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how fast heat reaches center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4" name="Shape 17"/>
          <p:cNvSpPr/>
          <p:nvPr/>
        </p:nvSpPr>
        <p:spPr>
          <a:xfrm>
            <a:off x="4983480" y="14173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5" name="Shape 18"/>
          <p:cNvSpPr/>
          <p:nvPr/>
        </p:nvSpPr>
        <p:spPr>
          <a:xfrm flipH="1" flipV="1">
            <a:off x="5029200" y="1463040"/>
            <a:ext cx="1371600" cy="29232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6" name="Text 19"/>
          <p:cNvSpPr/>
          <p:nvPr/>
        </p:nvSpPr>
        <p:spPr>
          <a:xfrm>
            <a:off x="640080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Fo = αt/r₀²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7" name="Text 20"/>
          <p:cNvSpPr/>
          <p:nvPr/>
        </p:nvSpPr>
        <p:spPr>
          <a:xfrm>
            <a:off x="640080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Fourier number: dimensionless time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for conduction penetration depth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8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9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0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113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1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Semi-Infinite Solid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2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🏔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Mountain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563" name="Image 0" descr="preencoded.png"/>
          <p:cNvPicPr/>
          <p:nvPr/>
        </p:nvPicPr>
        <p:blipFill>
          <a:blip r:embed="rId1"/>
          <a:stretch/>
        </p:blipFill>
        <p:spPr>
          <a:xfrm>
            <a:off x="2560320" y="777240"/>
            <a:ext cx="3655800" cy="1644120"/>
          </a:xfrm>
          <a:prstGeom prst="rect">
            <a:avLst/>
          </a:prstGeom>
          <a:ln w="0">
            <a:noFill/>
          </a:ln>
        </p:spPr>
      </p:pic>
      <p:sp>
        <p:nvSpPr>
          <p:cNvPr id="2564" name="Shape 5"/>
          <p:cNvSpPr/>
          <p:nvPr/>
        </p:nvSpPr>
        <p:spPr>
          <a:xfrm>
            <a:off x="457200" y="256032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5" name="Text 6"/>
          <p:cNvSpPr/>
          <p:nvPr/>
        </p:nvSpPr>
        <p:spPr>
          <a:xfrm>
            <a:off x="548640" y="256032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d93d"/>
                </a:solidFill>
                <a:latin typeface="Consolas"/>
                <a:ea typeface="Consolas"/>
              </a:rPr>
              <a:t>T(x,t) = Tₛ + (Tᵢ − Tₛ)·erf(x/√(4αt))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6" name="Shape 7"/>
          <p:cNvSpPr/>
          <p:nvPr/>
        </p:nvSpPr>
        <p:spPr>
          <a:xfrm>
            <a:off x="274320" y="306324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7" name="Text 8"/>
          <p:cNvSpPr/>
          <p:nvPr/>
        </p:nvSpPr>
        <p:spPr>
          <a:xfrm>
            <a:off x="365760" y="306324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300" spc="-1" strike="noStrike">
                <a:solidFill>
                  <a:srgbClr val="00e5a0"/>
                </a:solidFill>
                <a:latin typeface="Calibri"/>
                <a:ea typeface="Calibri"/>
              </a:rPr>
              <a:t>Heat wave at surface penetrates deeper with time. Error function = how far the temperature front moved.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8" name="Shape 9"/>
          <p:cNvSpPr/>
          <p:nvPr/>
        </p:nvSpPr>
        <p:spPr>
          <a:xfrm>
            <a:off x="3154680" y="9601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9" name="Shape 10"/>
          <p:cNvSpPr/>
          <p:nvPr/>
        </p:nvSpPr>
        <p:spPr>
          <a:xfrm flipV="1">
            <a:off x="2468880" y="1005840"/>
            <a:ext cx="731520" cy="200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0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Surface: Tₛ applied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1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Sudden surface temperature change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at t=0 (step input)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2" name="Shape 13"/>
          <p:cNvSpPr/>
          <p:nvPr/>
        </p:nvSpPr>
        <p:spPr>
          <a:xfrm>
            <a:off x="5440680" y="9601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3" name="Shape 14"/>
          <p:cNvSpPr/>
          <p:nvPr/>
        </p:nvSpPr>
        <p:spPr>
          <a:xfrm flipH="1" flipV="1">
            <a:off x="5486400" y="1005840"/>
            <a:ext cx="914400" cy="200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4" name="Text 15"/>
          <p:cNvSpPr/>
          <p:nvPr/>
        </p:nvSpPr>
        <p:spPr>
          <a:xfrm>
            <a:off x="640080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Penetration δ ≈ √(αt)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5" name="Text 16"/>
          <p:cNvSpPr/>
          <p:nvPr/>
        </p:nvSpPr>
        <p:spPr>
          <a:xfrm>
            <a:off x="640080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Thermal penetration depth grows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with square root of time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6" name="Shape 17"/>
          <p:cNvSpPr/>
          <p:nvPr/>
        </p:nvSpPr>
        <p:spPr>
          <a:xfrm>
            <a:off x="4983480" y="1417320"/>
            <a:ext cx="89640" cy="8964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7" name="Shape 18"/>
          <p:cNvSpPr/>
          <p:nvPr/>
        </p:nvSpPr>
        <p:spPr>
          <a:xfrm flipH="1" flipV="1">
            <a:off x="5029200" y="1463040"/>
            <a:ext cx="1371600" cy="292320"/>
          </a:xfrm>
          <a:prstGeom prst="line">
            <a:avLst/>
          </a:prstGeom>
          <a:ln w="19050">
            <a:solidFill>
              <a:srgbClr val="00e5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8" name="Text 19"/>
          <p:cNvSpPr/>
          <p:nvPr/>
        </p:nvSpPr>
        <p:spPr>
          <a:xfrm>
            <a:off x="640080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Beyond 2√(αt): undisturbed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9" name="Text 20"/>
          <p:cNvSpPr/>
          <p:nvPr/>
        </p:nvSpPr>
        <p:spPr>
          <a:xfrm>
            <a:off x="640080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erf(2)≈1: material at depth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&gt; 2√(αt) still at initial 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0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1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2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114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3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Convection over Flat Plate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4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🏊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Flat Plate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585" name="Image 0" descr="preencoded.png"/>
          <p:cNvPicPr/>
          <p:nvPr/>
        </p:nvPicPr>
        <p:blipFill>
          <a:blip r:embed="rId1"/>
          <a:stretch/>
        </p:blipFill>
        <p:spPr>
          <a:xfrm>
            <a:off x="2560320" y="777240"/>
            <a:ext cx="3655800" cy="1644120"/>
          </a:xfrm>
          <a:prstGeom prst="rect">
            <a:avLst/>
          </a:prstGeom>
          <a:ln w="0">
            <a:noFill/>
          </a:ln>
        </p:spPr>
      </p:pic>
      <p:sp>
        <p:nvSpPr>
          <p:cNvPr id="2586" name="Shape 5"/>
          <p:cNvSpPr/>
          <p:nvPr/>
        </p:nvSpPr>
        <p:spPr>
          <a:xfrm>
            <a:off x="457200" y="256032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7" name="Text 6"/>
          <p:cNvSpPr/>
          <p:nvPr/>
        </p:nvSpPr>
        <p:spPr>
          <a:xfrm>
            <a:off x="548640" y="256032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Nuₓ = 0.332·Reₓ</a:t>
            </a:r>
            <a:r>
              <a:rPr b="1" lang="en-US" sz="2200" spc="-1" strike="noStrike" baseline="33000">
                <a:solidFill>
                  <a:srgbClr val="ffd93d"/>
                </a:solidFill>
                <a:latin typeface="Consolas"/>
                <a:ea typeface="Consolas"/>
              </a:rPr>
              <a:t>0.5</a:t>
            </a: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·Pr¹</a:t>
            </a:r>
            <a:r>
              <a:rPr b="1" lang="en-US" sz="2200" spc="-1" strike="noStrike" baseline="33000">
                <a:solidFill>
                  <a:srgbClr val="ffd93d"/>
                </a:solidFill>
                <a:latin typeface="Consolas"/>
                <a:ea typeface="Consolas"/>
              </a:rPr>
              <a:t>/</a:t>
            </a:r>
            <a:r>
              <a:rPr b="1" lang="en-US" sz="2200" spc="-1" strike="noStrike">
                <a:solidFill>
                  <a:srgbClr val="ffd93d"/>
                </a:solidFill>
                <a:latin typeface="Consolas"/>
                <a:ea typeface="Consolas"/>
              </a:rPr>
              <a:t>³ (laminar)  |  h = Nu·k/L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8" name="Shape 7"/>
          <p:cNvSpPr/>
          <p:nvPr/>
        </p:nvSpPr>
        <p:spPr>
          <a:xfrm>
            <a:off x="274320" y="306324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9" name="Text 8"/>
          <p:cNvSpPr/>
          <p:nvPr/>
        </p:nvSpPr>
        <p:spPr>
          <a:xfrm>
            <a:off x="365760" y="306324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Swimmer's hand: near wrist (leading edge) = thin laminar BL. Downstream fingertips → turbulent BL.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0" name="Shape 9"/>
          <p:cNvSpPr/>
          <p:nvPr/>
        </p:nvSpPr>
        <p:spPr>
          <a:xfrm>
            <a:off x="3154680" y="96012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1" name="Shape 10"/>
          <p:cNvSpPr/>
          <p:nvPr/>
        </p:nvSpPr>
        <p:spPr>
          <a:xfrm flipV="1">
            <a:off x="2468880" y="1005840"/>
            <a:ext cx="731520" cy="20088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2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Leading edge: thin BL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3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Near plate start: laminar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thermal boundary layer develops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4" name="Shape 13"/>
          <p:cNvSpPr/>
          <p:nvPr/>
        </p:nvSpPr>
        <p:spPr>
          <a:xfrm>
            <a:off x="5440680" y="9601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5" name="Shape 14"/>
          <p:cNvSpPr/>
          <p:nvPr/>
        </p:nvSpPr>
        <p:spPr>
          <a:xfrm flipH="1" flipV="1">
            <a:off x="5486400" y="1005840"/>
            <a:ext cx="914400" cy="200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6" name="Text 15"/>
          <p:cNvSpPr/>
          <p:nvPr/>
        </p:nvSpPr>
        <p:spPr>
          <a:xfrm>
            <a:off x="640080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Downstream: turbulent BL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7" name="Text 16"/>
          <p:cNvSpPr/>
          <p:nvPr/>
        </p:nvSpPr>
        <p:spPr>
          <a:xfrm>
            <a:off x="640080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Beyond Reₓ ≈ 5×10⁵: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turbulent with higher 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8" name="Shape 17"/>
          <p:cNvSpPr/>
          <p:nvPr/>
        </p:nvSpPr>
        <p:spPr>
          <a:xfrm>
            <a:off x="4983480" y="14173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9" name="Shape 18"/>
          <p:cNvSpPr/>
          <p:nvPr/>
        </p:nvSpPr>
        <p:spPr>
          <a:xfrm flipH="1" flipV="1">
            <a:off x="5029200" y="1463040"/>
            <a:ext cx="1371600" cy="29232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0" name="Text 19"/>
          <p:cNvSpPr/>
          <p:nvPr/>
        </p:nvSpPr>
        <p:spPr>
          <a:xfrm>
            <a:off x="640080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Nu = hL/k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1" name="Text 20"/>
          <p:cNvSpPr/>
          <p:nvPr/>
        </p:nvSpPr>
        <p:spPr>
          <a:xfrm>
            <a:off x="640080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Nusselt number: dimensionless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heat transfer coefficient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2" name="Shape 0"/>
          <p:cNvSpPr/>
          <p:nvPr/>
        </p:nvSpPr>
        <p:spPr>
          <a:xfrm>
            <a:off x="0" y="0"/>
            <a:ext cx="9142200" cy="592560"/>
          </a:xfrm>
          <a:prstGeom prst="rect">
            <a:avLst/>
          </a:prstGeom>
          <a:solidFill>
            <a:srgbClr val="141c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3" name="Shape 1"/>
          <p:cNvSpPr/>
          <p:nvPr/>
        </p:nvSpPr>
        <p:spPr>
          <a:xfrm>
            <a:off x="274320" y="91440"/>
            <a:ext cx="409680" cy="409680"/>
          </a:xfrm>
          <a:prstGeom prst="ellipse">
            <a:avLst/>
          </a:prstGeom>
          <a:solidFill>
            <a:srgbClr val="00e5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4" name="Text 2"/>
          <p:cNvSpPr/>
          <p:nvPr/>
        </p:nvSpPr>
        <p:spPr>
          <a:xfrm>
            <a:off x="274320" y="91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0f1a"/>
                </a:solidFill>
                <a:latin typeface="Arial Black"/>
                <a:ea typeface="Arial Black"/>
              </a:rPr>
              <a:t>115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5" name="Text 3"/>
          <p:cNvSpPr/>
          <p:nvPr/>
        </p:nvSpPr>
        <p:spPr>
          <a:xfrm>
            <a:off x="822960" y="73080"/>
            <a:ext cx="5941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  <a:ea typeface="Georgia"/>
              </a:rPr>
              <a:t>Free Convection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6" name="Text 4"/>
          <p:cNvSpPr/>
          <p:nvPr/>
        </p:nvSpPr>
        <p:spPr>
          <a:xfrm>
            <a:off x="6858000" y="73080"/>
            <a:ext cx="210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🌡 </a:t>
            </a:r>
            <a:r>
              <a:rPr b="0" i="1" lang="en-US" sz="1100" spc="-1" strike="noStrike">
                <a:solidFill>
                  <a:srgbClr val="00e5a0"/>
                </a:solidFill>
                <a:latin typeface="Calibri"/>
                <a:ea typeface="Calibri"/>
              </a:rPr>
              <a:t>Radiator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607" name="Image 0" descr="preencoded.png"/>
          <p:cNvPicPr/>
          <p:nvPr/>
        </p:nvPicPr>
        <p:blipFill>
          <a:blip r:embed="rId1"/>
          <a:stretch/>
        </p:blipFill>
        <p:spPr>
          <a:xfrm>
            <a:off x="2560320" y="777240"/>
            <a:ext cx="3655800" cy="1644120"/>
          </a:xfrm>
          <a:prstGeom prst="rect">
            <a:avLst/>
          </a:prstGeom>
          <a:ln w="0">
            <a:noFill/>
          </a:ln>
        </p:spPr>
      </p:pic>
      <p:sp>
        <p:nvSpPr>
          <p:cNvPr id="2608" name="Shape 5"/>
          <p:cNvSpPr/>
          <p:nvPr/>
        </p:nvSpPr>
        <p:spPr>
          <a:xfrm>
            <a:off x="457200" y="2560320"/>
            <a:ext cx="8227800" cy="455400"/>
          </a:xfrm>
          <a:prstGeom prst="rect">
            <a:avLst/>
          </a:prstGeom>
          <a:solidFill>
            <a:srgbClr val="1a2540"/>
          </a:solidFill>
          <a:ln w="1524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9" name="Text 6"/>
          <p:cNvSpPr/>
          <p:nvPr/>
        </p:nvSpPr>
        <p:spPr>
          <a:xfrm>
            <a:off x="548640" y="2560320"/>
            <a:ext cx="8044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d93d"/>
                </a:solidFill>
                <a:latin typeface="Consolas"/>
                <a:ea typeface="Consolas"/>
              </a:rPr>
              <a:t>Ra = Gr·Pr  |  Gr = gβ(Tₛ−T∞)L³/ν²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0" name="Shape 7"/>
          <p:cNvSpPr/>
          <p:nvPr/>
        </p:nvSpPr>
        <p:spPr>
          <a:xfrm>
            <a:off x="274320" y="3063240"/>
            <a:ext cx="8593560" cy="501120"/>
          </a:xfrm>
          <a:prstGeom prst="rect">
            <a:avLst/>
          </a:prstGeom>
          <a:solidFill>
            <a:srgbClr val="1220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1" name="Text 8"/>
          <p:cNvSpPr/>
          <p:nvPr/>
        </p:nvSpPr>
        <p:spPr>
          <a:xfrm>
            <a:off x="365760" y="3063240"/>
            <a:ext cx="84106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💡 </a:t>
            </a:r>
            <a:r>
              <a:rPr b="0" i="1" lang="en-US" sz="1400" spc="-1" strike="noStrike">
                <a:solidFill>
                  <a:srgbClr val="00e5a0"/>
                </a:solidFill>
                <a:latin typeface="Calibri"/>
                <a:ea typeface="Calibri"/>
              </a:rPr>
              <a:t>Hot radiator: warm air rises (ρ↓), cold fills in below. Buoyancy ghost drives the flow. Gr = ghost strength.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2" name="Shape 9"/>
          <p:cNvSpPr/>
          <p:nvPr/>
        </p:nvSpPr>
        <p:spPr>
          <a:xfrm>
            <a:off x="3154680" y="960120"/>
            <a:ext cx="89640" cy="89640"/>
          </a:xfrm>
          <a:prstGeom prst="ellipse">
            <a:avLst/>
          </a:prstGeom>
          <a:solidFill>
            <a:srgbClr val="ff6b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3" name="Shape 10"/>
          <p:cNvSpPr/>
          <p:nvPr/>
        </p:nvSpPr>
        <p:spPr>
          <a:xfrm flipV="1">
            <a:off x="2468880" y="1005840"/>
            <a:ext cx="731520" cy="200880"/>
          </a:xfrm>
          <a:prstGeom prst="line">
            <a:avLst/>
          </a:prstGeom>
          <a:ln w="19050">
            <a:solidFill>
              <a:srgbClr val="ff6b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4" name="Text 11"/>
          <p:cNvSpPr/>
          <p:nvPr/>
        </p:nvSpPr>
        <p:spPr>
          <a:xfrm>
            <a:off x="27432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6b"/>
                </a:solidFill>
                <a:latin typeface="Calibri"/>
                <a:ea typeface="Calibri"/>
              </a:rPr>
              <a:t>Hot surface → ρ ↓ → rises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5" name="Text 12"/>
          <p:cNvSpPr/>
          <p:nvPr/>
        </p:nvSpPr>
        <p:spPr>
          <a:xfrm>
            <a:off x="27432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Thermal expansion reduces density: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buoyancy force drives upward flow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6" name="Shape 13"/>
          <p:cNvSpPr/>
          <p:nvPr/>
        </p:nvSpPr>
        <p:spPr>
          <a:xfrm>
            <a:off x="4069080" y="1417320"/>
            <a:ext cx="89640" cy="896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7" name="Shape 14"/>
          <p:cNvSpPr/>
          <p:nvPr/>
        </p:nvSpPr>
        <p:spPr>
          <a:xfrm flipV="1">
            <a:off x="2468880" y="1463040"/>
            <a:ext cx="1645920" cy="29232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8" name="Text 15"/>
          <p:cNvSpPr/>
          <p:nvPr/>
        </p:nvSpPr>
        <p:spPr>
          <a:xfrm>
            <a:off x="274320" y="164592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Cold fills in below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9" name="Text 16"/>
          <p:cNvSpPr/>
          <p:nvPr/>
        </p:nvSpPr>
        <p:spPr>
          <a:xfrm>
            <a:off x="274320" y="186552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Cooler denser air replaces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rising warm air (natural circulation)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0" name="Shape 17"/>
          <p:cNvSpPr/>
          <p:nvPr/>
        </p:nvSpPr>
        <p:spPr>
          <a:xfrm>
            <a:off x="5440680" y="960120"/>
            <a:ext cx="89640" cy="89640"/>
          </a:xfrm>
          <a:prstGeom prst="ellipse">
            <a:avLst/>
          </a:prstGeom>
          <a:solidFill>
            <a:srgbClr val="ffd9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440" bIns="1944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1" name="Shape 18"/>
          <p:cNvSpPr/>
          <p:nvPr/>
        </p:nvSpPr>
        <p:spPr>
          <a:xfrm flipH="1" flipV="1">
            <a:off x="5486400" y="1005840"/>
            <a:ext cx="914400" cy="200880"/>
          </a:xfrm>
          <a:prstGeom prst="line">
            <a:avLst/>
          </a:prstGeom>
          <a:ln w="19050">
            <a:solidFill>
              <a:srgbClr val="ffd9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2" name="Text 19"/>
          <p:cNvSpPr/>
          <p:nvPr/>
        </p:nvSpPr>
        <p:spPr>
          <a:xfrm>
            <a:off x="6400800" y="1097280"/>
            <a:ext cx="2192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d93d"/>
                </a:solidFill>
                <a:latin typeface="Calibri"/>
                <a:ea typeface="Calibri"/>
              </a:rPr>
              <a:t>Ra &lt; 10⁸: laminar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3" name="Text 20"/>
          <p:cNvSpPr/>
          <p:nvPr/>
        </p:nvSpPr>
        <p:spPr>
          <a:xfrm>
            <a:off x="6400800" y="1316880"/>
            <a:ext cx="21927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Rayleigh number determines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ecf1"/>
                </a:solidFill>
                <a:latin typeface="Calibri"/>
                <a:ea typeface="Calibri"/>
              </a:rPr>
              <a:t>laminar vs turbulent free convection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151</TotalTime>
  <Application>LibreOffice/24.2.7.2$Linux_X86_64 LibreOffice_project/420$Build-2</Application>
  <AppVersion>15.0000</AppVersion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2026-04-18T18:27:37Z</dcterms:created>
  <dc:creator>Memory Palace</dc:creator>
  <dc:description/>
  <dc:language>en-US</dc:language>
  <cp:lastModifiedBy/>
  <dcterms:modified xsi:type="dcterms:W3CDTF">2026-04-21T01:11:47Z</dcterms:modified>
  <cp:revision>51</cp:revision>
  <dc:subject>PptxGenJS Presentation</dc:subject>
  <dc:title>ChemE Memory Palace – Visual Mnemonics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116</vt:i4>
  </property>
  <property fmtid="{D5CDD505-2E9C-101B-9397-08002B2CF9AE}" pid="3" name="PresentationFormat">
    <vt:lpwstr>On-screen Show (16:9)</vt:lpwstr>
  </property>
  <property fmtid="{D5CDD505-2E9C-101B-9397-08002B2CF9AE}" pid="4" name="Slides">
    <vt:i4>116</vt:i4>
  </property>
</Properties>
</file>