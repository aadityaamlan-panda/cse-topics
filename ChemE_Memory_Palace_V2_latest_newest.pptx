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media/image19.png" ContentType="image/png"/>
  <Override PartName="/ppt/media/image54.wmf" ContentType="image/x-wmf"/>
  <Override PartName="/ppt/media/image102.wmf" ContentType="image/x-wmf"/>
  <Override PartName="/ppt/media/image5.png" ContentType="image/png"/>
  <Override PartName="/ppt/media/image51.png" ContentType="image/png"/>
  <Override PartName="/ppt/media/image6.png" ContentType="image/png"/>
  <Override PartName="/ppt/media/image38.png" ContentType="image/png"/>
  <Override PartName="/ppt/media/image60.wmf" ContentType="image/x-wmf"/>
  <Override PartName="/ppt/media/image10.png" ContentType="image/png"/>
  <Override PartName="/ppt/media/image104.wmf" ContentType="image/x-wmf"/>
  <Override PartName="/ppt/media/image56.wmf" ContentType="image/x-wmf"/>
  <Override PartName="/ppt/media/image1.wmf" ContentType="image/x-wmf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37.wmf" ContentType="image/x-wmf"/>
  <Override PartName="/ppt/media/image28.png" ContentType="image/png"/>
  <Override PartName="/ppt/media/image128.png" ContentType="image/png"/>
  <Override PartName="/ppt/media/image40.png" ContentType="image/png"/>
  <Override PartName="/ppt/media/image58.wmf" ContentType="image/x-wmf"/>
  <Override PartName="/ppt/media/image43.png" ContentType="image/png"/>
  <Override PartName="/ppt/media/image21.png" ContentType="image/png"/>
  <Override PartName="/ppt/media/image89.wmf" ContentType="image/x-wmf"/>
  <Override PartName="/ppt/media/image98.wmf" ContentType="image/x-wmf"/>
  <Override PartName="/ppt/media/image30.png" ContentType="image/png"/>
  <Override PartName="/ppt/media/image32.png" ContentType="image/png"/>
  <Override PartName="/ppt/media/image44.png" ContentType="image/png"/>
  <Override PartName="/ppt/media/image59.png" ContentType="image/png"/>
  <Override PartName="/ppt/media/image99.wmf" ContentType="image/x-wmf"/>
  <Override PartName="/ppt/media/image31.png" ContentType="image/png"/>
  <Override PartName="/ppt/media/image33.png" ContentType="image/png"/>
  <Override PartName="/ppt/media/image46.png" ContentType="image/png"/>
  <Override PartName="/ppt/media/image47.wmf" ContentType="image/x-wmf"/>
  <Override PartName="/ppt/media/image42.png" ContentType="image/png"/>
  <Override PartName="/ppt/media/image41.png" ContentType="image/png"/>
  <Override PartName="/ppt/media/image45.png" ContentType="image/png"/>
  <Override PartName="/ppt/media/image103.png" ContentType="image/png"/>
  <Override PartName="/ppt/media/image4.png" ContentType="image/png"/>
  <Override PartName="/ppt/media/image50.png" ContentType="image/png"/>
  <Override PartName="/ppt/media/image36.png" ContentType="image/png"/>
  <Override PartName="/ppt/media/image13.png" ContentType="image/png"/>
  <Override PartName="/ppt/media/image81.png" ContentType="image/png"/>
  <Override PartName="/ppt/media/image53.png" ContentType="image/png"/>
  <Override PartName="/ppt/media/image7.png" ContentType="image/png"/>
  <Override PartName="/ppt/media/image39.png" ContentType="image/png"/>
  <Override PartName="/ppt/media/image100.wmf" ContentType="image/x-wmf"/>
  <Override PartName="/ppt/media/image52.wmf" ContentType="image/x-wmf"/>
  <Override PartName="/ppt/media/image15.png" ContentType="image/png"/>
  <Override PartName="/ppt/media/image83.png" ContentType="image/png"/>
  <Override PartName="/ppt/media/image55.png" ContentType="image/png"/>
  <Override PartName="/ppt/media/image9.png" ContentType="image/png"/>
  <Override PartName="/ppt/media/image20.png" ContentType="image/png"/>
  <Override PartName="/ppt/media/image57.png" ContentType="image/png"/>
  <Override PartName="/ppt/media/image49.png" ContentType="image/png"/>
  <Override PartName="/ppt/media/image71.wmf" ContentType="image/x-wmf"/>
  <Override PartName="/ppt/media/image65.jpeg" ContentType="image/jpeg"/>
  <Override PartName="/ppt/media/image97.png" ContentType="image/png"/>
  <Override PartName="/ppt/media/image129.png" ContentType="image/png"/>
  <Override PartName="/ppt/media/image29.png" ContentType="image/png"/>
  <Override PartName="/ppt/media/image61.png" ContentType="image/png"/>
  <Override PartName="/ppt/media/image62.wmf" ContentType="image/x-wmf"/>
  <Override PartName="/ppt/media/image110.wmf" ContentType="image/x-wmf"/>
  <Override PartName="/ppt/media/image63.png" ContentType="image/png"/>
  <Override PartName="/ppt/media/image64.wmf" ContentType="image/x-wmf"/>
  <Override PartName="/ppt/media/image66.wmf" ContentType="image/x-wmf"/>
  <Override PartName="/ppt/media/image67.png" ContentType="image/png"/>
  <Override PartName="/ppt/media/image68.png" ContentType="image/png"/>
  <Override PartName="/ppt/media/image90.wmf" ContentType="image/x-wmf"/>
  <Override PartName="/ppt/media/image16.png" ContentType="image/png"/>
  <Override PartName="/ppt/media/image116.png" ContentType="image/png"/>
  <Override PartName="/ppt/media/image69.png" ContentType="image/png"/>
  <Override PartName="/ppt/media/image17.png" ContentType="image/png"/>
  <Override PartName="/ppt/media/image117.png" ContentType="image/png"/>
  <Override PartName="/ppt/media/image70.png" ContentType="image/png"/>
  <Override PartName="/ppt/media/image72.png" ContentType="image/png"/>
  <Override PartName="/ppt/media/image73.png" ContentType="image/png"/>
  <Override PartName="/ppt/media/image106.wmf" ContentType="image/x-wmf"/>
  <Override PartName="/ppt/media/image74.wmf" ContentType="image/x-wmf"/>
  <Override PartName="/ppt/media/image75.png" ContentType="image/png"/>
  <Override PartName="/ppt/media/image123.png" ContentType="image/png"/>
  <Override PartName="/ppt/media/image23.png" ContentType="image/png"/>
  <Override PartName="/ppt/media/image91.png" ContentType="image/png"/>
  <Override PartName="/ppt/media/image76.wmf" ContentType="image/x-wmf"/>
  <Override PartName="/ppt/media/image77.png" ContentType="image/png"/>
  <Override PartName="/ppt/media/image125.png" ContentType="image/png"/>
  <Override PartName="/ppt/media/image25.png" ContentType="image/png"/>
  <Override PartName="/ppt/media/image78.png" ContentType="image/png"/>
  <Override PartName="/ppt/media/image26.png" ContentType="image/png"/>
  <Override PartName="/ppt/media/image126.png" ContentType="image/png"/>
  <Override PartName="/ppt/media/image79.png" ContentType="image/png"/>
  <Override PartName="/ppt/media/image127.png" ContentType="image/png"/>
  <Override PartName="/ppt/media/image27.png" ContentType="image/png"/>
  <Override PartName="/ppt/media/image82.wmf" ContentType="image/x-wmf"/>
  <Override PartName="/ppt/media/image108.png" ContentType="image/png"/>
  <Override PartName="/ppt/media/image84.wmf" ContentType="image/x-wmf"/>
  <Override PartName="/ppt/media/image85.wmf" ContentType="image/x-wmf"/>
  <Override PartName="/ppt/media/image88.png" ContentType="image/png"/>
  <Override PartName="/ppt/media/image93.wmf" ContentType="image/x-wmf"/>
  <Override PartName="/ppt/media/image94.wmf" ContentType="image/x-wmf"/>
  <Override PartName="/ppt/media/image95.wmf" ContentType="image/x-wmf"/>
  <Override PartName="/ppt/media/image96.wmf" ContentType="image/x-wmf"/>
  <Override PartName="/ppt/media/image101.wmf" ContentType="image/x-wmf"/>
  <Override PartName="/ppt/media/image105.wmf" ContentType="image/x-wmf"/>
  <Override PartName="/ppt/media/image107.wmf" ContentType="image/x-wmf"/>
  <Override PartName="/ppt/media/image109.wmf" ContentType="image/x-wmf"/>
  <Override PartName="/ppt/media/image111.wmf" ContentType="image/x-wmf"/>
  <Override PartName="/ppt/media/image80.png" ContentType="image/png"/>
  <Override PartName="/ppt/media/image12.png" ContentType="image/png"/>
  <Override PartName="/ppt/media/image112.png" ContentType="image/png"/>
  <Override PartName="/ppt/media/image113.wmf" ContentType="image/x-wmf"/>
  <Override PartName="/ppt/media/image14.png" ContentType="image/png"/>
  <Override PartName="/ppt/media/image114.png" ContentType="image/png"/>
  <Override PartName="/ppt/media/image115.wmf" ContentType="image/x-wmf"/>
  <Override PartName="/ppt/media/image18.png" ContentType="image/png"/>
  <Override PartName="/ppt/media/image86.png" ContentType="image/png"/>
  <Override PartName="/ppt/media/image118.png" ContentType="image/png"/>
  <Override PartName="/ppt/media/image87.wmf" ContentType="image/x-wmf"/>
  <Override PartName="/ppt/media/image119.wmf" ContentType="image/x-wmf"/>
  <Override PartName="/ppt/media/image120.wmf" ContentType="image/x-wmf"/>
  <Override PartName="/ppt/media/image121.wmf" ContentType="image/x-wmf"/>
  <Override PartName="/ppt/media/image22.png" ContentType="image/png"/>
  <Override PartName="/ppt/media/image122.png" ContentType="image/png"/>
  <Override PartName="/ppt/media/image124.png" ContentType="image/png"/>
  <Override PartName="/ppt/media/image92.png" ContentType="image/png"/>
  <Override PartName="/ppt/media/image2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86.xml" ContentType="application/vnd.openxmlformats-officedocument.presentationml.slide+xml"/>
  <Override PartName="/ppt/slides/slide67.xml" ContentType="application/vnd.openxmlformats-officedocument.presentationml.slide+xml"/>
  <Override PartName="/ppt/slides/slide113.xml" ContentType="application/vnd.openxmlformats-officedocument.presentationml.slide+xml"/>
  <Override PartName="/ppt/slides/slide87.xml" ContentType="application/vnd.openxmlformats-officedocument.presentationml.slide+xml"/>
  <Override PartName="/ppt/slides/slide70.xml" ContentType="application/vnd.openxmlformats-officedocument.presentationml.slide+xml"/>
  <Override PartName="/ppt/slides/slide68.xml" ContentType="application/vnd.openxmlformats-officedocument.presentationml.slide+xml"/>
  <Override PartName="/ppt/slides/slide114.xml" ContentType="application/vnd.openxmlformats-officedocument.presentationml.slide+xml"/>
  <Override PartName="/ppt/slides/slide88.xml" ContentType="application/vnd.openxmlformats-officedocument.presentationml.slide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94.xml.rels" ContentType="application/vnd.openxmlformats-package.relationships+xml"/>
  <Override PartName="/ppt/slides/_rels/slide107.xml.rels" ContentType="application/vnd.openxmlformats-package.relationships+xml"/>
  <Override PartName="/ppt/slides/_rels/slide29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104.xml.rels" ContentType="application/vnd.openxmlformats-package.relationships+xml"/>
  <Override PartName="/ppt/slides/_rels/slide27.xml.rels" ContentType="application/vnd.openxmlformats-package.relationships+xml"/>
  <Override PartName="/ppt/slides/_rels/slide92.xml.rels" ContentType="application/vnd.openxmlformats-package.relationships+xml"/>
  <Override PartName="/ppt/slides/_rels/slide105.xml.rels" ContentType="application/vnd.openxmlformats-package.relationships+xml"/>
  <Override PartName="/ppt/slides/_rels/slide14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28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108.xml.rels" ContentType="application/vnd.openxmlformats-package.relationships+xml"/>
  <Override PartName="/ppt/slides/_rels/slide110.xml.rels" ContentType="application/vnd.openxmlformats-package.relationships+xml"/>
  <Override PartName="/ppt/slides/_rels/slide32.xml.rels" ContentType="application/vnd.openxmlformats-package.relationships+xml"/>
  <Override PartName="/ppt/slides/_rels/slide65.xml.rels" ContentType="application/vnd.openxmlformats-package.relationships+xml"/>
  <Override PartName="/ppt/slides/_rels/slide85.xml.rels" ContentType="application/vnd.openxmlformats-package.relationships+xml"/>
  <Override PartName="/ppt/slides/_rels/slide112.xml.rels" ContentType="application/vnd.openxmlformats-package.relationships+xml"/>
  <Override PartName="/ppt/slides/_rels/slide34.xml.rels" ContentType="application/vnd.openxmlformats-package.relationships+xml"/>
  <Override PartName="/ppt/slides/_rels/slide86.xml.rels" ContentType="application/vnd.openxmlformats-package.relationships+xml"/>
  <Override PartName="/ppt/slides/_rels/slide113.xml.rels" ContentType="application/vnd.openxmlformats-package.relationships+xml"/>
  <Override PartName="/ppt/slides/_rels/slide35.xml.rels" ContentType="application/vnd.openxmlformats-package.relationships+xml"/>
  <Override PartName="/ppt/slides/_rels/slide87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14.xml.rels" ContentType="application/vnd.openxmlformats-package.relationships+xml"/>
  <Override PartName="/ppt/slides/_rels/slide36.xml.rels" ContentType="application/vnd.openxmlformats-package.relationships+xml"/>
  <Override PartName="/ppt/slides/_rels/slide88.xml.rels" ContentType="application/vnd.openxmlformats-package.relationships+xml"/>
  <Override PartName="/ppt/slides/_rels/slide7.xml.rels" ContentType="application/vnd.openxmlformats-package.relationships+xml"/>
  <Override PartName="/ppt/slides/_rels/slide115.xml.rels" ContentType="application/vnd.openxmlformats-package.relationships+xml"/>
  <Override PartName="/ppt/slides/_rels/slide37.xml.rels" ContentType="application/vnd.openxmlformats-package.relationships+xml"/>
  <Override PartName="/ppt/slides/_rels/slide77.xml.rels" ContentType="application/vnd.openxmlformats-package.relationships+xml"/>
  <Override PartName="/ppt/slides/_rels/slide89.xml.rels" ContentType="application/vnd.openxmlformats-package.relationships+xml"/>
  <Override PartName="/ppt/slides/_rels/slide79.xml.rels" ContentType="application/vnd.openxmlformats-package.relationships+xml"/>
  <Override PartName="/ppt/slides/_rels/slide78.xml.rels" ContentType="application/vnd.openxmlformats-package.relationships+xml"/>
  <Override PartName="/ppt/slides/_rels/slide96.xml.rels" ContentType="application/vnd.openxmlformats-package.relationships+xml"/>
  <Override PartName="/ppt/slides/_rels/slide109.xml.rels" ContentType="application/vnd.openxmlformats-package.relationships+xml"/>
  <Override PartName="/ppt/slides/_rels/slide3.xml.rels" ContentType="application/vnd.openxmlformats-package.relationships+xml"/>
  <Override PartName="/ppt/slides/_rels/slide97.xml.rels" ContentType="application/vnd.openxmlformats-package.relationships+xml"/>
  <Override PartName="/ppt/slides/_rels/slide4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84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24.xml.rels" ContentType="application/vnd.openxmlformats-package.relationships+xml"/>
  <Override PartName="/ppt/slides/_rels/slide102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83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90.xml.rels" ContentType="application/vnd.openxmlformats-package.relationships+xml"/>
  <Override PartName="/ppt/slides/_rels/slide103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66.xml.rels" ContentType="application/vnd.openxmlformats-package.relationships+xml"/>
  <Override PartName="/ppt/slides/_rels/slide70.xml.rels" ContentType="application/vnd.openxmlformats-package.relationships+xml"/>
  <Override PartName="/ppt/slides/_rels/slide69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111.xml.rels" ContentType="application/vnd.openxmlformats-package.relationships+xml"/>
  <Override PartName="/ppt/slides/_rels/slide33.xml.rels" ContentType="application/vnd.openxmlformats-package.relationships+xml"/>
  <Override PartName="/ppt/slides/slide71.xml" ContentType="application/vnd.openxmlformats-officedocument.presentationml.slide+xml"/>
  <Override PartName="/ppt/slides/slide69.xml" ContentType="application/vnd.openxmlformats-officedocument.presentationml.slide+xml"/>
  <Override PartName="/ppt/slides/slide115.xml" ContentType="application/vnd.openxmlformats-officedocument.presentationml.slide+xml"/>
  <Override PartName="/ppt/slides/slide89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5.xml" ContentType="application/vnd.openxmlformats-officedocument.presentationml.slide+xml"/>
  <Override PartName="/ppt/slides/slide112.xml" ContentType="application/vnd.openxmlformats-officedocument.presentationml.slide+xml"/>
  <Override PartName="/ppt/slides/slide66.xml" ContentType="application/vnd.openxmlformats-officedocument.presentationml.slide+xml"/>
  <Override PartName="/ppt/slides/slide109.xml" ContentType="application/vnd.openxmlformats-officedocument.presentationml.slide+xml"/>
  <Override PartName="/ppt/slides/slide46.xml" ContentType="application/vnd.openxmlformats-officedocument.presentationml.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slides/slide79.xml" ContentType="application/vnd.openxmlformats-officedocument.presentationml.slide+xml"/>
  <Override PartName="/ppt/slides/slide106.xml" ContentType="application/vnd.openxmlformats-officedocument.presentationml.slide+xml"/>
  <Override PartName="/ppt/slides/slide78.xml" ContentType="application/vnd.openxmlformats-officedocument.presentationml.slide+xml"/>
  <Override PartName="/ppt/slides/slide95.xml" ContentType="application/vnd.openxmlformats-officedocument.presentationml.slide+xml"/>
  <Override PartName="/ppt/slides/slide8.xml" ContentType="application/vnd.openxmlformats-officedocument.presentationml.slide+xml"/>
  <Override PartName="/ppt/slides/slide77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29.xml" ContentType="application/vnd.openxmlformats-officedocument.presentationml.slide+xml"/>
  <Override PartName="/ppt/slides/slide94.xml" ContentType="application/vnd.openxmlformats-officedocument.presentationml.slide+xml"/>
  <Override PartName="/ppt/slides/slide7.xml" ContentType="application/vnd.openxmlformats-officedocument.presentationml.slide+xml"/>
  <Override PartName="/ppt/slides/slide28.xml" ContentType="application/vnd.openxmlformats-officedocument.presentationml.slide+xml"/>
  <Override PartName="/ppt/slides/slide9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1.xml" ContentType="application/vnd.openxmlformats-officedocument.presentationml.slide+xml"/>
  <Override PartName="/ppt/slides/slide96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9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9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106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107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108.xml.rels" ContentType="application/vnd.openxmlformats-package.relationships+xml"/>
  <Override PartName="/ppt/notesSlides/_rels/notesSlide1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09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99.xml.rels" ContentType="application/vnd.openxmlformats-package.relationships+xml"/>
  <Override PartName="/ppt/notesSlides/_rels/notesSlide84.xml.rels" ContentType="application/vnd.openxmlformats-package.relationships+xml"/>
  <Override PartName="/ppt/notesSlides/_rels/notesSlide102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0.xml.rels" ContentType="application/vnd.openxmlformats-package.relationships+xml"/>
  <Override PartName="/ppt/notesSlides/_rels/notesSlide8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14.xml.rels" ContentType="application/vnd.openxmlformats-package.relationships+xml"/>
  <Override PartName="/ppt/notesSlides/_rels/notesSlide96.xml.rels" ContentType="application/vnd.openxmlformats-package.relationships+xml"/>
  <Override PartName="/ppt/notesSlides/_rels/notesSlide9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11.xml.rels" ContentType="application/vnd.openxmlformats-package.relationships+xml"/>
  <Override PartName="/ppt/notesSlides/_rels/notesSlide9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105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80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8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95.xml.rels" ContentType="application/vnd.openxmlformats-package.relationships+xml"/>
  <Override PartName="/ppt/notesSlides/_rels/notesSlide113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101.xml.rels" ContentType="application/vnd.openxmlformats-package.relationships+xml"/>
  <Override PartName="/ppt/notesSlides/_rels/notesSlide103.xml.rels" ContentType="application/vnd.openxmlformats-package.relationships+xml"/>
  <Override PartName="/ppt/notesSlides/_rels/notesSlide85.xml.rels" ContentType="application/vnd.openxmlformats-package.relationships+xml"/>
  <Override PartName="/ppt/notesSlides/_rels/notesSlide104.xml.rels" ContentType="application/vnd.openxmlformats-package.relationships+xml"/>
  <Override PartName="/ppt/notesSlides/_rels/notesSlide86.xml.rels" ContentType="application/vnd.openxmlformats-package.relationships+xml"/>
  <Override PartName="/ppt/notesSlides/_rels/notesSlide94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12.xml.rels" ContentType="application/vnd.openxmlformats-package.relationships+xml"/>
  <Override PartName="/ppt/notesSlides/_rels/notesSlide97.xml.rels" ContentType="application/vnd.openxmlformats-package.relationships+xml"/>
  <Override PartName="/ppt/notesSlides/_rels/notesSlide115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FC05E0D-5DBE-46AE-84C4-3FC5ACAAB3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
</Relationships>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
</Relationships>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
</Relationships>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6C6133-EF16-4178-B5D6-A7BBB99EF6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27E065-D9B9-442E-8640-E1AEAF6A95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CDC292-1269-4B3C-BEE5-CC7301BBC7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C295B-481F-4D12-BDE5-4F733C2A18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0DEF7B-AA22-4E24-888D-F0B4D7E74D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609D57-82E0-4A27-B669-CA405A1D6D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27B011-AD25-455A-8302-9F4FC9EA44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906417-030C-4067-B809-356AF472DE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44A996-6303-439A-BE9E-770B21AE17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7C8BF2-65E4-4792-9DE9-87D4AFCC06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1A90FF-3554-4B79-A517-DDEDAE92DC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2C6F4F-7384-4E8A-B6BD-F6BDF11959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42851F-C09E-48D0-BB3A-A8751AECF4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096457-EB38-453D-90FD-A0F8621AF1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F3CF6D-B05E-4569-93F4-054C7EC760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08E8C0-3FDF-4931-ADF3-91C2ED9986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0E06B-2679-4171-8788-59045856DC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6E4C53-C140-45B0-A994-DBC768DD8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9AD44D-BEA6-4AD9-9ED8-7F5D26F792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636D3D-A287-45E9-84BC-6D72B13C41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25FF6C-7C3F-4D92-B483-836CF3E389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69302D-CAEB-4E9F-B217-88455AE517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048B4-C92C-44EA-BFAA-A588A671EA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DADB15-A950-4F67-B197-F47A4390BF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BC5F25-C9FD-4683-9CA7-052CE76C9F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DBFE8F-413D-4F09-85D8-1E7E5E7B89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393BBB-23DD-413A-B8A5-5C4F51B7DC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6B5D85-3F17-4FD2-B096-FF181FB3B9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BBBAF9-CAC3-407D-86CB-3F932AAFF2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3FC0A3-188B-4498-BEA0-35DF8440F6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634CE3-BAFE-4218-A5FE-C720FCB8C1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5DC815-C5DF-459D-9BDC-21C4150B42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46D74D-FF31-441A-A2F7-EE9879BCAB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3B7D91-7319-40EE-8E50-21D1665758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AC0BFC-D63F-4B37-BDD8-FA1EA6C370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1875DA-2607-4236-9DDC-A3CFF3CD62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97F061-D15F-4DF2-8E1D-072BE4F9C9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8D8305-5096-4751-B25E-10C0BFDEF6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D5855C-279F-432C-A1F7-0999E89C41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737E47-723E-461B-B125-B920C43394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6F9201-02FB-4AD3-A69F-53DC4A60B5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4D05EB-ABC3-4CBE-8312-D076D2A04B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ED21D2-9DFA-4A87-BD19-A3D7F64734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AD7D80-98F9-4AB1-A2B4-B60CB48D64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05F749-6711-452B-928A-1EABFF8C98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B0C3E4-24E1-4929-B7B2-BEE4D525FC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81E5EB-ECAE-4904-9352-9F5FA123D9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52CB6F-08FE-43B8-9317-37207C24A0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74C38B-9B38-4C1B-9466-AA36D6E742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AD258E-0DEF-4158-8522-B9C7BF2E18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EC032-3500-49E6-8620-B70969C11E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B7A837-6E83-46C2-801F-1581C647AA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1F01DE-AE36-42B3-B6F0-086A9B1BB9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3AE2A7-085C-49EB-AD24-50322893A9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653616-D996-4282-B958-AEFA1559CB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801B43-B59D-4C3F-8DF1-8D87E73E2D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97C4C0-E92F-4882-A18F-C3D7C0C7A8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D5485C-4696-4FDF-AB31-1952017AE0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DA7B35-F933-46D8-887F-0B79CAE44F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55208D-3E26-4B1A-80A1-F9ED978E8F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8C6ED8-7F7E-4E7A-AA6F-54B21823F0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903F78-93E0-4871-A7C6-DD8A89846F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D809CE-7469-4AD4-9BB2-3F84896DBB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15FC64-5FCA-45CE-9877-A57B597397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5EC901-7F07-4DD1-984B-2A27744239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C0B532-AC02-487E-990E-F3DFF0C036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96055A-A8D3-47BE-8681-B80FA780C9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7E4514-54CE-42FE-A90D-A92ED7D736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6DDA36-0013-4325-A7AF-D46FA3C968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0B0613-A3F4-4783-AAA6-26BFFA2204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0BBA8E-C1A6-4B2A-8AB0-F66366DCA4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A47CA6-ADE2-49F6-B3EB-701BB48890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740FAF-2CE4-42C3-929C-D558669AE4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3E0D8D-85F7-4F13-93F1-D65B23F637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D9ED4B-9A0B-432F-A71F-C7E92D7220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298634-2AC5-4583-9C7E-94BAFDB9DD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90CDC8-8E53-4C51-B653-C66EA3B12B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56671C-44CC-4590-8C81-862A25AA1E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96F645-5BD7-4810-8744-FBFBAE7069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C316D7-2663-4A00-BCD7-2B0EEC6345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25309D-9DEB-43C4-919F-80CA5F0B5B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470A1F-FCC3-4319-88A8-3AF1B43968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54A00D-4C13-4711-8EFD-8BD0EF1DA5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49A504-C8FB-4EBC-9242-3C237402C2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3BAFC6-19C4-4FA2-967F-0FD30C5F75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308353-5C17-465C-8EA5-C6EC12A5A2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4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D29951-681A-4FB4-9F0F-48229B755F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7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E92EBA-F6AC-4B83-8AAA-5F3140D95B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0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A00096-C840-49E1-B624-33E11F7BAD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3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7C2C86-563F-48A3-B102-FAD4F70238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6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CA99D9-D756-4379-8B55-35D8836AD1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9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70B7FC-361A-44AF-8065-6050FAB551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2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4C750B-97A4-4B91-88AE-CBD5381416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5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48B490-4842-456B-8470-2B2DC01BF7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8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615958-D6E6-4DFE-A7D4-6EE13D6222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1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1443B5-26CB-4B28-B65E-ECB8B331FB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4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4891EA-406B-4681-8F77-4FBBF9B393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7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962F47-7812-46E8-B982-8F158093CD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0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0D30B5-6580-4EFB-8975-E2EF325091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3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892FD4-0C91-466C-A1A4-D6877A05FC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6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876470-ECA3-4F5E-8636-105FEB486C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9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A6D413-F750-4EF7-92A8-5582B3638E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2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9096A1-65EB-495E-AADD-889E772B42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5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0C2A99-959D-4110-98A5-9406A00739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8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592B36-E012-47B5-BB07-7BB17F7807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1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F86D44-74A4-4EB2-AEE2-232B2A3844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4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7EBBE3-6017-4FA2-AD31-B9FDB5B936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7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AF6365-9D19-4EEC-A10C-5BBC3AEDE4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0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CA14E7-DE34-4C9B-9AF3-2B991819BF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3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CB3284-2E77-4F24-AA41-38CAB55E46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6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16C90B-69E5-44AC-AF93-2F81D84D52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9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C1F93E-02DF-4C83-8CD9-199FA7FB47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2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963314-5086-4122-9321-644E150CBD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5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ABAA74-801A-4896-B80F-40970F2054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8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86D2F6-2876-488E-8AB5-E7C7059A9F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7.wmf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7.wmf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2.wmf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4.wmf"/><Relationship Id="rId3" Type="http://schemas.openxmlformats.org/officeDocument/2006/relationships/image" Target="../media/image5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6.wmf"/><Relationship Id="rId3" Type="http://schemas.openxmlformats.org/officeDocument/2006/relationships/image" Target="../media/image5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8.wmf"/><Relationship Id="rId3" Type="http://schemas.openxmlformats.org/officeDocument/2006/relationships/image" Target="../media/image5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0.wmf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2.wmf"/><Relationship Id="rId3" Type="http://schemas.openxmlformats.org/officeDocument/2006/relationships/image" Target="../media/image6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4.wmf"/><Relationship Id="rId3" Type="http://schemas.openxmlformats.org/officeDocument/2006/relationships/image" Target="../media/image65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6.wmf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1.wmf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4.wmf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6.wmf"/><Relationship Id="rId3" Type="http://schemas.openxmlformats.org/officeDocument/2006/relationships/image" Target="../media/image7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2.wmf"/><Relationship Id="rId3" Type="http://schemas.openxmlformats.org/officeDocument/2006/relationships/image" Target="../media/image8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4.wmf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5.wmf"/><Relationship Id="rId3" Type="http://schemas.openxmlformats.org/officeDocument/2006/relationships/image" Target="../media/image8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7.wmf"/><Relationship Id="rId3" Type="http://schemas.openxmlformats.org/officeDocument/2006/relationships/image" Target="../media/image8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9.wmf"/><Relationship Id="rId3" Type="http://schemas.openxmlformats.org/officeDocument/2006/relationships/image" Target="../media/image8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0.wmf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3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4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5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6.wmf"/><Relationship Id="rId3" Type="http://schemas.openxmlformats.org/officeDocument/2006/relationships/image" Target="../media/image9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8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9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0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1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2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4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5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6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7.wmf"/><Relationship Id="rId3" Type="http://schemas.openxmlformats.org/officeDocument/2006/relationships/image" Target="../media/image10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9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0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1.wmf"/><Relationship Id="rId3" Type="http://schemas.openxmlformats.org/officeDocument/2006/relationships/image" Target="../media/image1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3.wmf"/><Relationship Id="rId3" Type="http://schemas.openxmlformats.org/officeDocument/2006/relationships/image" Target="../media/image1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5.wmf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1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1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9.wmf"/><Relationship Id="rId3" Type="http://schemas.openxmlformats.org/officeDocument/2006/relationships/image" Target="../media/image1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0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1.wmf"/><Relationship Id="rId3" Type="http://schemas.openxmlformats.org/officeDocument/2006/relationships/image" Target="../media/image1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image" Target="../media/image1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image" Target="../media/image1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image" Target="../media/image1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1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image" Target="../media/image1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731520"/>
            <a:ext cx="82274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e5a0"/>
                </a:solidFill>
                <a:latin typeface="Georgia"/>
                <a:ea typeface="Georgia"/>
              </a:rPr>
              <a:t>MEMORY PALACE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645920"/>
            <a:ext cx="822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e8ecf1"/>
                </a:solidFill>
                <a:latin typeface="Calibri"/>
                <a:ea typeface="Calibri"/>
              </a:rPr>
              <a:t>Chemical Engineering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2286000"/>
            <a:ext cx="82274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b8ca8"/>
                </a:solidFill>
                <a:latin typeface="Calibri"/>
                <a:ea typeface="Calibri"/>
              </a:rPr>
              <a:t>Object → Concept → Equation → Recall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828800" y="3108960"/>
            <a:ext cx="1643760" cy="91224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828800" y="3154680"/>
            <a:ext cx="1643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114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828800" y="361188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Concepts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657600" y="3108960"/>
            <a:ext cx="1643760" cy="91224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57600" y="3154680"/>
            <a:ext cx="1643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114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57600" y="361188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Objects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486400" y="3108960"/>
            <a:ext cx="1643760" cy="91224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486400" y="3154680"/>
            <a:ext cx="1643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9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486400" y="361188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Subjects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" y="4389120"/>
            <a:ext cx="82274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b8ca8"/>
                </a:solidFill>
                <a:latin typeface="Calibri"/>
                <a:ea typeface="Calibri"/>
              </a:rPr>
              <a:t>Each slide: Object image + labeled visual metaphor + ONE key equation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Iterative Solutions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🎮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3200400" y="822960"/>
            <a:ext cx="2283840" cy="2283840"/>
          </a:xfrm>
          <a:prstGeom prst="rect">
            <a:avLst/>
          </a:prstGeom>
          <a:ln w="0">
            <a:noFill/>
          </a:ln>
        </p:spPr>
      </p:pic>
      <p:sp>
        <p:nvSpPr>
          <p:cNvPr id="29" name="Shape 5"/>
          <p:cNvSpPr/>
          <p:nvPr/>
        </p:nvSpPr>
        <p:spPr>
          <a:xfrm>
            <a:off x="457200" y="32461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48640" y="32461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xₙ</a:t>
            </a: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+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₁ = xₙ − f(xₙ) / f'(xₙ)   [Newton-Raphson]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274320" y="37490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365760" y="37490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TABLE adjusts its legs (</a:t>
            </a:r>
            <a:r>
              <a:rPr b="1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iterations</a:t>
            </a:r>
            <a:r>
              <a:rPr b="0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) until perfectly level (</a:t>
            </a:r>
            <a:r>
              <a:rPr b="1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residual → 0</a:t>
            </a:r>
            <a:r>
              <a:rPr b="0" i="1" lang="en-US" sz="2000" spc="-1" strike="noStrike">
                <a:solidFill>
                  <a:srgbClr val="00e5a0"/>
                </a:solidFill>
                <a:latin typeface="Calibri"/>
                <a:ea typeface="Calibri"/>
              </a:rPr>
              <a:t>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337560" y="224028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2468880" y="1206720"/>
            <a:ext cx="914400" cy="10792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Leg 1 = iteration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table leg adjustment 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N-R iteration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Leg 2 = iteration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Refine root estimate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each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983480" y="132588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 flipH="1">
            <a:off x="5029200" y="1206720"/>
            <a:ext cx="9144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59436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Flat top = converged!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9436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Stable table = |xₙ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+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₁ − xₙ| &lt; ε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Residual reached zero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Manometry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🛁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Bathtub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2743200" y="777240"/>
            <a:ext cx="3198240" cy="2558160"/>
          </a:xfrm>
          <a:prstGeom prst="rect">
            <a:avLst/>
          </a:prstGeom>
          <a:ln w="0">
            <a:noFill/>
          </a:ln>
        </p:spPr>
      </p:pic>
      <p:sp>
        <p:nvSpPr>
          <p:cNvPr id="51" name="Shape 5"/>
          <p:cNvSpPr/>
          <p:nvPr/>
        </p:nvSpPr>
        <p:spPr>
          <a:xfrm>
            <a:off x="457200" y="34747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548640" y="34747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ΔP = ρ·g·h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274320" y="39776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65760" y="39776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BATHTUB tilted → water shifts sides →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height difference × ρg = pressure difference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Water level LEFT = P₁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side of the U-tube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manometer at pressure P₁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Water level RIGHT = P₂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Other side balanced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pressure P₂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4983480" y="25146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 flipH="1">
            <a:off x="5029200" y="2121120"/>
            <a:ext cx="13716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640080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Height diff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640080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column height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difference gives ΔP = ρgh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3611880" y="28803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2468880" y="239544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274320" y="22860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Dense fluid sinks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274320" y="25056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Like soap settling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bath bottom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Material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558160" cy="2741040"/>
          </a:xfrm>
          <a:prstGeom prst="rect">
            <a:avLst/>
          </a:prstGeom>
          <a:ln w="0">
            <a:noFill/>
          </a:ln>
        </p:spPr>
      </p:pic>
      <p:sp>
        <p:nvSpPr>
          <p:cNvPr id="77" name="Shape 5"/>
          <p:cNvSpPr/>
          <p:nvPr/>
        </p:nvSpPr>
        <p:spPr>
          <a:xfrm>
            <a:off x="457200" y="36576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48640" y="36576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Accumulation = In − Out + Gen − Consumption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274320" y="41605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365760" y="41605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LAMP: electricity IN = light + heat OUT. Nothing disappears.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Atoms in = atoms out.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337560" y="19659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2468880" y="1298160"/>
            <a:ext cx="914400" cy="7135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27432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Electricity IN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27432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streams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system boundary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5440680" y="132588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 flipH="1">
            <a:off x="5486400" y="102384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400800" y="9144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← </a:t>
            </a: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6400800" y="11340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 streams exiting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54406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 flipH="1">
            <a:off x="5486400" y="175536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← 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Waste/byproduct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streams leaving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1"/>
          <p:cNvSpPr/>
          <p:nvPr/>
        </p:nvSpPr>
        <p:spPr>
          <a:xfrm>
            <a:off x="3794760" y="11430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 flipV="1">
            <a:off x="2468880" y="1188720"/>
            <a:ext cx="1371600" cy="10238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274320" y="21031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Shade = boundary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274320" y="23227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boundary: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count flows crossing 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Degrees of Freedom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0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DOF = Unknowns − Independent Equations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DOOR has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1 DOF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(open angle).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Add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a lock (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constraint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) →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DOF = 0, fully determined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Hinge = 1 DOF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degree of motion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(angle of opening)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379476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2468880" y="1846800"/>
            <a:ext cx="137160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274320" y="173736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Lock = constraint (−1)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274320" y="195696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equation/spec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removes one DOF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DOF = 0 → solvable!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Exactly specified: unique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solution exists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3444120" y="4114800"/>
            <a:ext cx="226584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DOF &gt; 0 → under-specified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DOF &lt; 0 → over-specified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Check DOF BEFORE solving</a:t>
            </a: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Recycle Mass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Trash Can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3017520" y="777240"/>
            <a:ext cx="2741040" cy="2283840"/>
          </a:xfrm>
          <a:prstGeom prst="rect">
            <a:avLst/>
          </a:prstGeom>
          <a:ln w="0">
            <a:noFill/>
          </a:ln>
        </p:spPr>
      </p:pic>
      <p:sp>
        <p:nvSpPr>
          <p:cNvPr id="126" name="Shape 5"/>
          <p:cNvSpPr/>
          <p:nvPr/>
        </p:nvSpPr>
        <p:spPr>
          <a:xfrm>
            <a:off x="457200" y="32004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548640" y="32004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Overall: F = D + B  |  Recycle ratio R = recycle/product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274320" y="37033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365760" y="37033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TRASH CAN: scraps returned to cooking =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recycle stream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! Overall balance first, then units.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Fresh feed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process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Product D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leaving the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4069080" y="26974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2468880" y="2395440"/>
            <a:ext cx="16459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274320" y="22860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Waste → recycle back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274320" y="25056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Unconverted material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returned to reactor inlet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Chemical Reactions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🫙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Blender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558160"/>
          </a:xfrm>
          <a:prstGeom prst="rect">
            <a:avLst/>
          </a:prstGeom>
          <a:ln w="0">
            <a:noFill/>
          </a:ln>
        </p:spPr>
      </p:pic>
      <p:sp>
        <p:nvSpPr>
          <p:cNvPr id="148" name="Shape 5"/>
          <p:cNvSpPr/>
          <p:nvPr/>
        </p:nvSpPr>
        <p:spPr>
          <a:xfrm>
            <a:off x="457200" y="34747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548640" y="34747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ξ = (nₐ − nₐ₀) / (−a)   |   nᵢ = nᵢ₀ + νᵢ·ξ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274320" y="39776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365760" y="39776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BLENDER mixes reactants → blades (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reaction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) →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products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 Can't get more smoothie than fruits!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2468880" y="1023840"/>
            <a:ext cx="11887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274320" y="9144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Fruits IN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274320" y="11340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Initial moles nᵢ₀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fed into reactor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3794760" y="22402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2468880" y="1846800"/>
            <a:ext cx="13716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274320" y="173736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Blades = reaction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274320" y="195696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Stoichiometric conversion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via balanced equation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 flipH="1">
            <a:off x="5303520" y="1206720"/>
            <a:ext cx="64008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59436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Smoothie =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59436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Final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moles calculated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extent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21"/>
          <p:cNvSpPr/>
          <p:nvPr/>
        </p:nvSpPr>
        <p:spPr>
          <a:xfrm>
            <a:off x="4983480" y="25146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 flipH="1">
            <a:off x="5029200" y="2121120"/>
            <a:ext cx="91440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3"/>
          <p:cNvSpPr/>
          <p:nvPr/>
        </p:nvSpPr>
        <p:spPr>
          <a:xfrm>
            <a:off x="594360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Limiting = least fruit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4"/>
          <p:cNvSpPr/>
          <p:nvPr/>
        </p:nvSpPr>
        <p:spPr>
          <a:xfrm>
            <a:off x="594360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Smallest nᵢ₀/|νᵢ|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max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a0f1a"/>
                </a:solidFill>
                <a:latin typeface="Arial Black"/>
                <a:ea typeface="Arial Black"/>
              </a:rPr>
              <a:t>7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Georgia"/>
                <a:ea typeface="Georgia"/>
              </a:rPr>
              <a:t>Reactive Material Balances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☕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Coffee Maker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283840" cy="2558160"/>
          </a:xfrm>
          <a:prstGeom prst="rect">
            <a:avLst/>
          </a:prstGeom>
          <a:ln w="0">
            <a:noFill/>
          </a:ln>
        </p:spPr>
      </p:pic>
      <p:sp>
        <p:nvSpPr>
          <p:cNvPr id="174" name="Shape 5"/>
          <p:cNvSpPr/>
          <p:nvPr/>
        </p:nvSpPr>
        <p:spPr>
          <a:xfrm>
            <a:off x="457200" y="34747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548640" y="34747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nᵢ,ₒᵤₜ = nᵢ,ᵢₙ + νᵢ · ξ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274320" y="39776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65760" y="39776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COFFEE MAKER: water + grounds → extraction reaction → coffee.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Atoms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always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conserved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3337560" y="123444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2468880" y="1115280"/>
            <a:ext cx="9144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Water + grounds 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Molecular species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entering the reactor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36118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Extraction = reaction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Extent ξ tracks how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far reaction proceeds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 flipH="1">
            <a:off x="5303520" y="1298160"/>
            <a:ext cx="6400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59436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d93d"/>
                </a:solidFill>
                <a:latin typeface="Calibri"/>
                <a:ea typeface="Calibri"/>
              </a:rPr>
              <a:t>Coffee OUT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59436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Product species: molecular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form changed, atoms conserved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Purge Stream in Recycle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Sink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0" descr="preencoded.png"/>
          <p:cNvPicPr/>
          <p:nvPr/>
        </p:nvPicPr>
        <p:blipFill>
          <a:blip r:embed="rId1"/>
          <a:stretch/>
        </p:blipFill>
        <p:spPr>
          <a:xfrm>
            <a:off x="2743200" y="731520"/>
            <a:ext cx="3198240" cy="2741040"/>
          </a:xfrm>
          <a:prstGeom prst="rect">
            <a:avLst/>
          </a:prstGeom>
          <a:ln w="0">
            <a:noFill/>
          </a:ln>
        </p:spPr>
      </p:pic>
      <p:sp>
        <p:nvSpPr>
          <p:cNvPr id="196" name="Shape 5"/>
          <p:cNvSpPr/>
          <p:nvPr/>
        </p:nvSpPr>
        <p:spPr>
          <a:xfrm>
            <a:off x="457200" y="36118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548640" y="36118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F · yᵢ = P · yᵢ,ₚᵤᵣ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ₑ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   (inert balance at steady state)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274320" y="41148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365760" y="41148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SINK CABINET: gunk builds up under the sink → drain (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purge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) removes it to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prevent overflow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3154680" y="19659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2377440" y="1298160"/>
            <a:ext cx="822960" cy="7135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18288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Gunk = inerts accumulate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18288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Without purge, inerts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 in recycle loop indefinitely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3611880" y="28803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2377440" y="2212560"/>
            <a:ext cx="1280160" cy="7135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182880" y="21031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Drain = PURGE stream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182880" y="23227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Bleeds off accumulated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inerts to reach steady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Feed inerts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Inerts enter with fresh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feed at mole fraction yᵢ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Transient Material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Sculpture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218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dM/dt = ṁᵢₙ − ṁₒᵤₜ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SCULPTURE being carved: shape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changes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over time (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transient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).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Finished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statue =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steady state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Chisel = ṁ in/out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rates adding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removing material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3611880" y="22402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2468880" y="2029680"/>
            <a:ext cx="118872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Shape changing = dM/dt ≠=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term 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non-zero: ODE in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Finished = dM/dt →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Steady state reached when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vanishes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Wet and Dry Basis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Sink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838320" cy="1826640"/>
          </a:xfrm>
          <a:prstGeom prst="rect">
            <a:avLst/>
          </a:prstGeom>
          <a:ln w="0">
            <a:noFill/>
          </a:ln>
        </p:spPr>
      </p:pic>
      <p:sp>
        <p:nvSpPr>
          <p:cNvPr id="240" name="Shape 5"/>
          <p:cNvSpPr/>
          <p:nvPr/>
        </p:nvSpPr>
        <p:spPr>
          <a:xfrm>
            <a:off x="457200" y="27432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48640" y="27432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yᵢ,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w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ₑ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 = yᵢ,</a:t>
            </a: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ᵣ</a:t>
            </a: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 / (1 + moisture fraction)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274320" y="32461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365760" y="32461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SINK TOP: wet surface = wet basis (water included). Wipe dry → only solids left = dry basis.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Wet surface = WET basis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includes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water content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897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 flipH="1" flipV="1">
            <a:off x="5943600" y="1188720"/>
            <a:ext cx="45720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Wipe dry → DRY basis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on water-free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basis (solids only)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Combustion Reactions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🔥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Stove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/>
          <a:stretch/>
        </p:blipFill>
        <p:spPr>
          <a:xfrm>
            <a:off x="2286000" y="777240"/>
            <a:ext cx="4112640" cy="2009520"/>
          </a:xfrm>
          <a:prstGeom prst="rect">
            <a:avLst/>
          </a:prstGeom>
          <a:ln w="0">
            <a:noFill/>
          </a:ln>
        </p:spPr>
      </p:pic>
      <p:sp>
        <p:nvSpPr>
          <p:cNvPr id="258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CₓHᵧ + (x+y/4)O₂ → xCO₂ + (y/2)H₂O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STOVE TOP burns gas: too little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O₂ → CO (incomplete)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 Too much air → dilute &amp; cool.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26974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2377440" y="1115280"/>
            <a:ext cx="36576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18288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Fuel (CH₄)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18288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Hydrocarbon fuel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entering combustion zone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40690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 flipV="1">
            <a:off x="2377440" y="1645920"/>
            <a:ext cx="173736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18288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Flame = combustion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18288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Rapid exothermic oxidation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fuel with oxygen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5897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8"/>
          <p:cNvSpPr/>
          <p:nvPr/>
        </p:nvSpPr>
        <p:spPr>
          <a:xfrm flipH="1">
            <a:off x="5943600" y="1115280"/>
            <a:ext cx="6400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58368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CO₂ + H₂O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58368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Complete combustion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products (flue gas)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5440680" y="20574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 flipH="1">
            <a:off x="5486400" y="1846800"/>
            <a:ext cx="1097280" cy="256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6583680" y="173736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% Excess 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6583680" y="195696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(Airₐ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ctual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− Airₛ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toich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) / Airₛ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toich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× 100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Ideal Gas Law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💨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Range Hood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Image 0" descr="preencoded.png"/>
          <p:cNvPicPr/>
          <p:nvPr/>
        </p:nvPicPr>
        <p:blipFill>
          <a:blip r:embed="rId1"/>
          <a:stretch/>
        </p:blipFill>
        <p:spPr>
          <a:xfrm>
            <a:off x="2011680" y="777240"/>
            <a:ext cx="5027040" cy="1643760"/>
          </a:xfrm>
          <a:prstGeom prst="rect">
            <a:avLst/>
          </a:prstGeom>
          <a:ln w="0">
            <a:noFill/>
          </a:ln>
        </p:spPr>
      </p:pic>
      <p:sp>
        <p:nvSpPr>
          <p:cNvPr id="284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PV = nRT   (R = 8.314 J/mol·K)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RANGE HOOD: hot cooking gases rise (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high T → high V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). Hood removes them — PV = nRT governs!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9"/>
          <p:cNvSpPr/>
          <p:nvPr/>
        </p:nvSpPr>
        <p:spPr>
          <a:xfrm>
            <a:off x="31546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Hot gas rises (↑T → ↑V)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increase causes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expansion at const 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13"/>
          <p:cNvSpPr/>
          <p:nvPr/>
        </p:nvSpPr>
        <p:spPr>
          <a:xfrm>
            <a:off x="5897880" y="9601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4"/>
          <p:cNvSpPr/>
          <p:nvPr/>
        </p:nvSpPr>
        <p:spPr>
          <a:xfrm flipH="1" flipV="1">
            <a:off x="5943600" y="1005840"/>
            <a:ext cx="64008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658368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Hood sucks gas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658368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Removes expanded hot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gases from kitchen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3397680" y="3749400"/>
            <a:ext cx="262260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STP: 1 mol = 22.4 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Ideal: no forces, point particles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Valid: low P, high 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Equations of State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Sculpture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2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303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(P + a/v²)(v − b) = RT   [van der Waals]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SCULPTURE is REAL —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actual volume (b)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 and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surface attraction (a)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. Ideal gas = featureless ghost.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Real volume → 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Parameter b: excluded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finite molecular size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3611880" y="22402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2468880" y="2029680"/>
            <a:ext cx="118872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Surface attraction →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Parameter a: intermolecular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attractive forces (a/v²)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Z = Pv/RT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Compressibility factor: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Z=1 ideal, Z≠=1 real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Lever Rule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Glass Wall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4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325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V/(L+V) = (x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ₒᵥₑᵣₐₗₗ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−x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ₗᵢ</a:t>
            </a:r>
            <a:r>
              <a:rPr b="1" lang="en-US" sz="2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)/(x</a:t>
            </a:r>
            <a:r>
              <a:rPr b="1" lang="en-US" sz="3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ᵥₐₚ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−x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ₗᵢ</a:t>
            </a:r>
            <a:r>
              <a:rPr b="1" lang="en-US" sz="2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GLASS WALL: look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left (liquid)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and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right (vapor)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 Seesaw —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distance to each phase = fraction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3611880" y="132588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10"/>
          <p:cNvSpPr/>
          <p:nvPr/>
        </p:nvSpPr>
        <p:spPr>
          <a:xfrm>
            <a:off x="2468880" y="1206720"/>
            <a:ext cx="11887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LEFT = liquid (xₗᵢ</a:t>
            </a:r>
            <a:r>
              <a:rPr b="1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q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Liquid-phase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tie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>
            <a:off x="5257800" y="13258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4"/>
          <p:cNvSpPr/>
          <p:nvPr/>
        </p:nvSpPr>
        <p:spPr>
          <a:xfrm flipH="1">
            <a:off x="5303520" y="120672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RIGHT = vapor (xᵥₐₚ)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Vapor-phase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tie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7"/>
          <p:cNvSpPr/>
          <p:nvPr/>
        </p:nvSpPr>
        <p:spPr>
          <a:xfrm>
            <a:off x="4069080" y="20574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8"/>
          <p:cNvSpPr/>
          <p:nvPr/>
        </p:nvSpPr>
        <p:spPr>
          <a:xfrm flipV="1">
            <a:off x="2468880" y="2103120"/>
            <a:ext cx="164592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9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YOU = overall comp.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20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Your position on the seesaw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phase fractions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Phase Equilibrium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Bench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347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Gibbs Phase Rule: F = C − P + 2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BENCH: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sit (liquid)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,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stand (gas)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,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lie flat (solid)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Triple point = all 3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simultaneously at one T,P.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Sit = LIQUID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phase state: molecules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closely packed,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379476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14"/>
          <p:cNvSpPr/>
          <p:nvPr/>
        </p:nvSpPr>
        <p:spPr>
          <a:xfrm flipV="1">
            <a:off x="2468880" y="1645920"/>
            <a:ext cx="137160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Stand = GAS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 density, fills container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kinetic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8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19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Lie = SOLID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Fixed lattice structure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lowest energy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3212280" y="4114800"/>
            <a:ext cx="29944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Triple pt: F = 0 (3 phases, 1 comp)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e5a0"/>
                </a:solidFill>
                <a:latin typeface="Calibri"/>
              </a:rPr>
              <a:t>Critical pt: ∂ P/∂ V = 0, ∂ ² P/∂ V ² = 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Clausius-Clapeyron &amp; Antoine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Screen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9" name="Image 0" descr="preencoded.png"/>
          <p:cNvPicPr/>
          <p:nvPr/>
        </p:nvPicPr>
        <p:blipFill>
          <a:blip r:embed="rId1"/>
          <a:stretch/>
        </p:blipFill>
        <p:spPr>
          <a:xfrm>
            <a:off x="2801520" y="777240"/>
            <a:ext cx="3160440" cy="2422440"/>
          </a:xfrm>
          <a:prstGeom prst="rect">
            <a:avLst/>
          </a:prstGeom>
          <a:ln w="0">
            <a:noFill/>
          </a:ln>
        </p:spPr>
      </p:pic>
      <p:sp>
        <p:nvSpPr>
          <p:cNvPr id="370" name="Shape 5"/>
          <p:cNvSpPr/>
          <p:nvPr/>
        </p:nvSpPr>
        <p:spPr>
          <a:xfrm>
            <a:off x="457200" y="34495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548640" y="34135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ln(P₂/P₁) = ΔHᵥₐₚ/R · (1/T₁ − 1/T₂)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274320" y="39164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365760" y="39524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SCREEN displays the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vapor pressure vs T curve — exponential rise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. Antoine: 3-parameter precision.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9"/>
          <p:cNvSpPr/>
          <p:nvPr/>
        </p:nvSpPr>
        <p:spPr>
          <a:xfrm>
            <a:off x="3154680" y="132588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10"/>
          <p:cNvSpPr/>
          <p:nvPr/>
        </p:nvSpPr>
        <p:spPr>
          <a:xfrm>
            <a:off x="2468880" y="1206720"/>
            <a:ext cx="7315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Curve on screen = P* vs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pressure increases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exponentially with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Slope = ΔHᵥₐₚ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of vaporization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the P-T relationship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2908080" y="4445640"/>
            <a:ext cx="26935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00e5a0"/>
                </a:solidFill>
                <a:latin typeface="Calibri"/>
              </a:rPr>
              <a:t>Antoine: log ₁₀ (P*) = A − B / (C + 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00e5a0"/>
                </a:solidFill>
                <a:latin typeface="Calibri"/>
              </a:rPr>
              <a:t>Clapeyron: dP / dT = ΔH / (T · Δv)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 rot="21420000">
            <a:off x="3246840" y="855720"/>
            <a:ext cx="2194200" cy="1835280"/>
          </a:xfrm>
          <a:prstGeom prst="rect">
            <a:avLst/>
          </a:prstGeom>
          <a:ln w="648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Raoult's Law and VLE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Speaker Sub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696760" cy="2508120"/>
          </a:xfrm>
          <a:prstGeom prst="rect">
            <a:avLst/>
          </a:prstGeom>
          <a:ln w="0">
            <a:noFill/>
          </a:ln>
        </p:spPr>
      </p:pic>
      <p:sp>
        <p:nvSpPr>
          <p:cNvPr id="390" name="Shape 5"/>
          <p:cNvSpPr/>
          <p:nvPr/>
        </p:nvSpPr>
        <p:spPr>
          <a:xfrm>
            <a:off x="457200" y="328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6"/>
          <p:cNvSpPr/>
          <p:nvPr/>
        </p:nvSpPr>
        <p:spPr>
          <a:xfrm>
            <a:off x="548640" y="328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pᵢ = xᵢ·Pᵢ*  |  yᵢ = pᵢ/Pₜₒₜₐₗ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7"/>
          <p:cNvSpPr/>
          <p:nvPr/>
        </p:nvSpPr>
        <p:spPr>
          <a:xfrm>
            <a:off x="274320" y="378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8"/>
          <p:cNvSpPr/>
          <p:nvPr/>
        </p:nvSpPr>
        <p:spPr>
          <a:xfrm>
            <a:off x="365760" y="378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SPEAKER blends sound channels.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Raoult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: each component contributes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xᵢ × Pᵢ* to total pressure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Channel 1 = comp.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Component 1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 x₁·P₁*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Channel 2 = comp.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Component 2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 x₂·P₂*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17"/>
          <p:cNvSpPr/>
          <p:nvPr/>
        </p:nvSpPr>
        <p:spPr>
          <a:xfrm>
            <a:off x="3601800" y="2461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8"/>
          <p:cNvSpPr/>
          <p:nvPr/>
        </p:nvSpPr>
        <p:spPr>
          <a:xfrm flipV="1">
            <a:off x="2514600" y="251460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19"/>
          <p:cNvSpPr/>
          <p:nvPr/>
        </p:nvSpPr>
        <p:spPr>
          <a:xfrm>
            <a:off x="228600" y="24336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Mixed sound = Pₜₒₜₐₗ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20"/>
          <p:cNvSpPr/>
          <p:nvPr/>
        </p:nvSpPr>
        <p:spPr>
          <a:xfrm>
            <a:off x="228600" y="26532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Total P = sum of 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pressures (Dalton)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1"/>
          <p:cNvSpPr/>
          <p:nvPr/>
        </p:nvSpPr>
        <p:spPr>
          <a:xfrm>
            <a:off x="3774960" y="4475160"/>
            <a:ext cx="1867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00e5a0"/>
                </a:solidFill>
                <a:latin typeface="Calibri"/>
              </a:rPr>
              <a:t>Bubble P: P = Σxᵢ · Pᵢ*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00e5a0"/>
                </a:solidFill>
                <a:latin typeface="Calibri"/>
              </a:rPr>
              <a:t>Dew P: 1/P = Σyᵢ / Pᵢ*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5428080" y="1107720"/>
            <a:ext cx="612720" cy="163476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5403600" y="894960"/>
            <a:ext cx="3053880" cy="2151360"/>
          </a:xfrm>
          <a:prstGeom prst="rect">
            <a:avLst/>
          </a:prstGeom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4672080" y="721800"/>
            <a:ext cx="813600" cy="37224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 rot="1200000">
            <a:off x="3901320" y="2904120"/>
            <a:ext cx="722160" cy="17676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Colligative Properties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Stacked Plates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417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ΔTb = Kb·m  |  ΔTf = Kf·m  |  π = MRT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Each PLATE added (mole of solute) raises boiling point. More plates = more colligative effect!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Each plate = 1 mol solute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Colligative: depends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number of particles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3"/>
          <p:cNvSpPr/>
          <p:nvPr/>
        </p:nvSpPr>
        <p:spPr>
          <a:xfrm>
            <a:off x="3611880" y="23317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4"/>
          <p:cNvSpPr/>
          <p:nvPr/>
        </p:nvSpPr>
        <p:spPr>
          <a:xfrm>
            <a:off x="2468880" y="202968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More plates → ↑Tb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Boiling point elevation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proportional to molality 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Osmotic π = MRT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Osmotic pressure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dilute solution theory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Ternary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🔧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Oven Grate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8" name="Image 0" descr="preencoded.png"/>
          <p:cNvPicPr/>
          <p:nvPr/>
        </p:nvPicPr>
        <p:blipFill>
          <a:blip r:embed="rId1"/>
          <a:stretch/>
        </p:blipFill>
        <p:spPr>
          <a:xfrm>
            <a:off x="2926080" y="921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439" name="Shape 5"/>
          <p:cNvSpPr/>
          <p:nvPr/>
        </p:nvSpPr>
        <p:spPr>
          <a:xfrm>
            <a:off x="457200" y="3759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48640" y="3759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xₐ + xᵦ + x꜀ = 1  (triangle vertices = pure components)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274320" y="4262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365760" y="4262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OVEN GRATE: three bars, three components. Each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junction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 on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triangular grid = ternary mixture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10"/>
          <p:cNvSpPr/>
          <p:nvPr/>
        </p:nvSpPr>
        <p:spPr>
          <a:xfrm>
            <a:off x="2468880" y="1115280"/>
            <a:ext cx="7315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Vertex A = pure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triangle corner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100% of one comp.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3"/>
          <p:cNvSpPr/>
          <p:nvPr/>
        </p:nvSpPr>
        <p:spPr>
          <a:xfrm>
            <a:off x="3611880" y="22402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4"/>
          <p:cNvSpPr/>
          <p:nvPr/>
        </p:nvSpPr>
        <p:spPr>
          <a:xfrm>
            <a:off x="2468880" y="193824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Vertex C = pure 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Interior points are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mixtures of all three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7"/>
          <p:cNvSpPr/>
          <p:nvPr/>
        </p:nvSpPr>
        <p:spPr>
          <a:xfrm>
            <a:off x="3208680" y="268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8"/>
          <p:cNvSpPr/>
          <p:nvPr/>
        </p:nvSpPr>
        <p:spPr>
          <a:xfrm flipH="1">
            <a:off x="2286000" y="274320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9"/>
          <p:cNvSpPr/>
          <p:nvPr/>
        </p:nvSpPr>
        <p:spPr>
          <a:xfrm>
            <a:off x="228600" y="27432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Tie line = 2 phases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20"/>
          <p:cNvSpPr/>
          <p:nvPr/>
        </p:nvSpPr>
        <p:spPr>
          <a:xfrm>
            <a:off x="228600" y="29628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Connects equilibrium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compositions of two phases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5838840" y="928440"/>
            <a:ext cx="2715840" cy="248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Psychrometric Chart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Toilet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1" name="Image 0" descr="preencoded.png"/>
          <p:cNvPicPr/>
          <p:nvPr/>
        </p:nvPicPr>
        <p:blipFill>
          <a:blip r:embed="rId1"/>
          <a:stretch/>
        </p:blipFill>
        <p:spPr>
          <a:xfrm>
            <a:off x="2816280" y="75888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462" name="Shape 5"/>
          <p:cNvSpPr/>
          <p:nvPr/>
        </p:nvSpPr>
        <p:spPr>
          <a:xfrm>
            <a:off x="457200" y="3867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548640" y="3867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ω = 0.622·Pw/(P−Pw) | φ = Pw/Pₛₐₜ(T)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7"/>
          <p:cNvSpPr/>
          <p:nvPr/>
        </p:nvSpPr>
        <p:spPr>
          <a:xfrm>
            <a:off x="274320" y="4370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365760" y="4370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TOILET in bathroom: moisture everywhere. Condensation on bowl = dew point reached!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Moisture = humidity ω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Humidity ratio: kg water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 kg dry air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Bowl condensation = dew pt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6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at which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φ reaches 100%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7"/>
          <p:cNvSpPr/>
          <p:nvPr/>
        </p:nvSpPr>
        <p:spPr>
          <a:xfrm>
            <a:off x="2956680" y="2716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8"/>
          <p:cNvSpPr/>
          <p:nvPr/>
        </p:nvSpPr>
        <p:spPr>
          <a:xfrm flipH="1">
            <a:off x="2057400" y="277920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9"/>
          <p:cNvSpPr/>
          <p:nvPr/>
        </p:nvSpPr>
        <p:spPr>
          <a:xfrm>
            <a:off x="285480" y="2899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φ = Pw/Pₛₐₜ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0"/>
          <p:cNvSpPr/>
          <p:nvPr/>
        </p:nvSpPr>
        <p:spPr>
          <a:xfrm>
            <a:off x="285480" y="3119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Relative humidity: actual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vs saturation vapor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5128200" y="1094400"/>
            <a:ext cx="3680280" cy="240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Adsorption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Mirror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Langmuir: q = qₘₐₓ·KC / (1 + KC)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MIRROR surface collects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dust (adsorbate)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on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glass (adsorbent)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Wipe off = desorption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Glass = adsorbent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Solid surface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finite adsorption sites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Dust = adsorbate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Gas/liquid molecules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adhering to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Finite sites → qₘₐₓ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Monolayer saturation: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sites occupied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21"/>
          <p:cNvSpPr/>
          <p:nvPr/>
        </p:nvSpPr>
        <p:spPr>
          <a:xfrm>
            <a:off x="3507840" y="4114800"/>
            <a:ext cx="25448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Freundlich: q = K·C¹</a:t>
            </a:r>
            <a:r>
              <a:rPr b="1" i="1" lang="en-US" sz="1600" spc="-1" strike="noStrike" baseline="33000">
                <a:solidFill>
                  <a:srgbClr val="00e5a0"/>
                </a:solidFill>
                <a:latin typeface="Calibri"/>
              </a:rPr>
              <a:t>/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ⁿ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BET: multilayer adsorption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1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State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Chess 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7" name="Image 0" descr="preencoded.png"/>
          <p:cNvPicPr/>
          <p:nvPr/>
        </p:nvPicPr>
        <p:blipFill>
          <a:blip r:embed="rId1"/>
          <a:stretch/>
        </p:blipFill>
        <p:spPr>
          <a:xfrm>
            <a:off x="3017520" y="777240"/>
            <a:ext cx="2741040" cy="2283840"/>
          </a:xfrm>
          <a:prstGeom prst="rect">
            <a:avLst/>
          </a:prstGeom>
          <a:ln w="0">
            <a:noFill/>
          </a:ln>
        </p:spPr>
      </p:pic>
      <p:sp>
        <p:nvSpPr>
          <p:cNvPr id="508" name="Shape 5"/>
          <p:cNvSpPr/>
          <p:nvPr/>
        </p:nvSpPr>
        <p:spPr>
          <a:xfrm>
            <a:off x="457200" y="32004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548640" y="32004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State: U, H, S, G, V | Path: q, w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274320" y="37033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365760" y="37033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CHESS: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king's position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=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state function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(doesn't matter which moves got it there).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Position = STATE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U, H, S, G, V depend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current T, P,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13"/>
          <p:cNvSpPr/>
          <p:nvPr/>
        </p:nvSpPr>
        <p:spPr>
          <a:xfrm>
            <a:off x="40690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4"/>
          <p:cNvSpPr/>
          <p:nvPr/>
        </p:nvSpPr>
        <p:spPr>
          <a:xfrm>
            <a:off x="2468880" y="2029680"/>
            <a:ext cx="16459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Moves = PATH (q, w)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q and work w depend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process path taken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Hess's Law: ΔH path-free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change same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regardless of route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Steam Tables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⌨️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Keyboard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530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H = H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 + x·H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fg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 | x = (H − H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) / H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KEYBOARD lookup: press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T or P key → get H, S, v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 Steam tables = the keyboard of thermo.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Press T key → get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Input temperature to find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from sat. tables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Press P key → get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Input pressure for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entropy, specific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Quality x = vapor frac.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x = fraction vapor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two-phase region (0→1)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Mechanical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⚙️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Mech Device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1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2283840"/>
          </a:xfrm>
          <a:prstGeom prst="rect">
            <a:avLst/>
          </a:prstGeom>
          <a:ln w="0">
            <a:noFill/>
          </a:ln>
        </p:spPr>
      </p:pic>
      <p:sp>
        <p:nvSpPr>
          <p:cNvPr id="552" name="Shape 5"/>
          <p:cNvSpPr/>
          <p:nvPr/>
        </p:nvSpPr>
        <p:spPr>
          <a:xfrm>
            <a:off x="457200" y="32004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6"/>
          <p:cNvSpPr/>
          <p:nvPr/>
        </p:nvSpPr>
        <p:spPr>
          <a:xfrm>
            <a:off x="548640" y="32004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ΔP/ρ + Δ(v²)/2 + g·Δz + F = Wₛ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7"/>
          <p:cNvSpPr/>
          <p:nvPr/>
        </p:nvSpPr>
        <p:spPr>
          <a:xfrm>
            <a:off x="274320" y="37033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8"/>
          <p:cNvSpPr/>
          <p:nvPr/>
        </p:nvSpPr>
        <p:spPr>
          <a:xfrm>
            <a:off x="365760" y="37033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MECHANICAL device: pump adds energy, turbine extracts. </a:t>
            </a:r>
            <a:r>
              <a:rPr b="1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Extended Bernoulli + friction + shaft work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9"/>
          <p:cNvSpPr/>
          <p:nvPr/>
        </p:nvSpPr>
        <p:spPr>
          <a:xfrm>
            <a:off x="288036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10"/>
          <p:cNvSpPr/>
          <p:nvPr/>
        </p:nvSpPr>
        <p:spPr>
          <a:xfrm>
            <a:off x="2468880" y="1115280"/>
            <a:ext cx="4572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Pressure ΔP/ρ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energy per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unit mass of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13"/>
          <p:cNvSpPr/>
          <p:nvPr/>
        </p:nvSpPr>
        <p:spPr>
          <a:xfrm>
            <a:off x="3154680" y="17830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14"/>
          <p:cNvSpPr/>
          <p:nvPr/>
        </p:nvSpPr>
        <p:spPr>
          <a:xfrm>
            <a:off x="2468880" y="1755360"/>
            <a:ext cx="7315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Kinetic Δv²/2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in kinetic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due to velocity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7"/>
          <p:cNvSpPr/>
          <p:nvPr/>
        </p:nvSpPr>
        <p:spPr>
          <a:xfrm>
            <a:off x="57150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8"/>
          <p:cNvSpPr/>
          <p:nvPr/>
        </p:nvSpPr>
        <p:spPr>
          <a:xfrm flipH="1">
            <a:off x="5760720" y="1115280"/>
            <a:ext cx="6400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19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Potential gΔz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20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Elevation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gravitational 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21"/>
          <p:cNvSpPr/>
          <p:nvPr/>
        </p:nvSpPr>
        <p:spPr>
          <a:xfrm>
            <a:off x="5440680" y="20574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22"/>
          <p:cNvSpPr/>
          <p:nvPr/>
        </p:nvSpPr>
        <p:spPr>
          <a:xfrm flipH="1">
            <a:off x="5486400" y="17553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23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Friction F (Darcy)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24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Frictional losses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Darcy-Weisbach: f·L/D·v²/2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Heat Capacities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578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Q = n·Cₚ·ΔT  |  Cₚ − Cᵥ = R (ideal gas)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TABLE LAMP heats up: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Q = nCₚΔT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joules.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Cₚ &gt; Cᵥ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because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constant-P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allows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expansion work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Touch → hot! Q = nCₚΔT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needed to raise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constant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γ = Cₚ/Cᵥ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capacity ratio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isentropic processes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7"/>
          <p:cNvSpPr/>
          <p:nvPr/>
        </p:nvSpPr>
        <p:spPr>
          <a:xfrm>
            <a:off x="5257800" y="23317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9"/>
          <p:cNvSpPr/>
          <p:nvPr/>
        </p:nvSpPr>
        <p:spPr>
          <a:xfrm>
            <a:off x="640080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Cₚ polynomial: a + bT + cT²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20"/>
          <p:cNvSpPr/>
          <p:nvPr/>
        </p:nvSpPr>
        <p:spPr>
          <a:xfrm>
            <a:off x="640080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Shomate equation fits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Cₚ vs T data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Energy Balance + Phase Change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✨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600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Qₜₒₜₐₗ = Qₛₑₙₛᵢ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ₗₑ + Qₗₐₜₑₙₜ = ∫Cₚ dT + ΣΔHₚₕₐₛₑ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GLOWING: add heat → T rises (sensible), then GLOWS at transition (latent heat, isothermal).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Heat → T rises (sensible)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increases while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phase remains the same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GLOW = phase change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16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Latent heat absorbed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constant T during transition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ΔHᵥₐₚ, ΔHfᵤₛ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Enthalpies of vaporization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fusion respectively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Flash Separations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622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Σ zᵢ(Kᵢ−1)/(1 + V/F·(Kᵢ−1)) = 0  [Rachford-Rice]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 illuminates two phases below: vapor rises UP (light), liquid falls DOWN (heavy).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10"/>
          <p:cNvSpPr/>
          <p:nvPr/>
        </p:nvSpPr>
        <p:spPr>
          <a:xfrm>
            <a:off x="2468880" y="1115280"/>
            <a:ext cx="7315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Vapor rises ↑ (light)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More volatile components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enriched in vapor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Liquid falls ↓ (heavy)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16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Less volatile components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concentrate in liquid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Kᵢ = yᵢ/xᵢ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ratio: volatility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each component (Raoult: Pᵢ*/P)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Heats of Reaction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🔦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3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558160" cy="2558160"/>
          </a:xfrm>
          <a:prstGeom prst="rect">
            <a:avLst/>
          </a:prstGeom>
          <a:ln w="0">
            <a:noFill/>
          </a:ln>
        </p:spPr>
      </p:pic>
      <p:sp>
        <p:nvSpPr>
          <p:cNvPr id="644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ΔH°ᵣₓₙ = Σνᵢ·ΔH°f,ₚᵣₒ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 − Σνᵢ·ΔH°f,ᵣₑₐ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FLOOR LAMP: plug in reactants → energy released as light (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exothermic, −ΔH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).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Hess's Law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9"/>
          <p:cNvSpPr/>
          <p:nvPr/>
        </p:nvSpPr>
        <p:spPr>
          <a:xfrm>
            <a:off x="3337560" y="269748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10"/>
          <p:cNvSpPr/>
          <p:nvPr/>
        </p:nvSpPr>
        <p:spPr>
          <a:xfrm>
            <a:off x="2468880" y="1206720"/>
            <a:ext cx="914400" cy="15364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Plug in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materials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known heats of formation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out = −ΔH (exo)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Negative ΔH releases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to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17"/>
          <p:cNvSpPr/>
          <p:nvPr/>
        </p:nvSpPr>
        <p:spPr>
          <a:xfrm>
            <a:off x="49834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8"/>
          <p:cNvSpPr/>
          <p:nvPr/>
        </p:nvSpPr>
        <p:spPr>
          <a:xfrm flipH="1" flipV="1">
            <a:off x="5029200" y="1645920"/>
            <a:ext cx="137160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+ΔH = endothermic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Positive ΔH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from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Energy Balance + Reaction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🔆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Lamp Shade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666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Q = ΔHᵣₓₙ · ξ + ΔHₛₑₙₛᵢ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ₗₑ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SHADE controls how much heat/light escapes the reactor. Balances generation vs removal.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Shade = heat exchanger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Controls heat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between reactor and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= ΔHᵣₓₙ·ξ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generated/consumed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proportional to extent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17"/>
          <p:cNvSpPr/>
          <p:nvPr/>
        </p:nvSpPr>
        <p:spPr>
          <a:xfrm>
            <a:off x="5257800" y="23317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19"/>
          <p:cNvSpPr/>
          <p:nvPr/>
        </p:nvSpPr>
        <p:spPr>
          <a:xfrm>
            <a:off x="640080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Adiabatic: Q=0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640080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heat exchange: 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rxn heat stays in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Adiabatic Flame Temperature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🕯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688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ΔHᵣₓₙ + ∫(Tᵣₑ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f 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→ Tₐ</a:t>
            </a: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) n·Cₚ dT = 0   (Q = 0)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LAMP sealed in insulating box: all energy → heat → maximum temperature T</a:t>
            </a:r>
            <a:r>
              <a:rPr b="0" i="1" lang="en-US" sz="18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ad</a:t>
            </a: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Sealed box = adiabatic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heat escapes: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perfect insulation (Q=0)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Max T = T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adiabatic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Highest possible flame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achieved with zero heat loss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Shape 17"/>
          <p:cNvSpPr/>
          <p:nvPr/>
        </p:nvSpPr>
        <p:spPr>
          <a:xfrm>
            <a:off x="5257800" y="23317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19"/>
          <p:cNvSpPr/>
          <p:nvPr/>
        </p:nvSpPr>
        <p:spPr>
          <a:xfrm>
            <a:off x="640080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Less excess air → higher T</a:t>
            </a:r>
            <a:r>
              <a:rPr b="1" lang="en-US" sz="11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ad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20"/>
          <p:cNvSpPr/>
          <p:nvPr/>
        </p:nvSpPr>
        <p:spPr>
          <a:xfrm>
            <a:off x="640080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 air dilutes products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absorbs heat → lower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– Closed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🍷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Bottle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31520"/>
            <a:ext cx="2009520" cy="2741040"/>
          </a:xfrm>
          <a:prstGeom prst="rect">
            <a:avLst/>
          </a:prstGeom>
          <a:ln w="0">
            <a:noFill/>
          </a:ln>
        </p:spPr>
      </p:pic>
      <p:sp>
        <p:nvSpPr>
          <p:cNvPr id="710" name="Shape 5"/>
          <p:cNvSpPr/>
          <p:nvPr/>
        </p:nvSpPr>
        <p:spPr>
          <a:xfrm>
            <a:off x="457200" y="36118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6"/>
          <p:cNvSpPr/>
          <p:nvPr/>
        </p:nvSpPr>
        <p:spPr>
          <a:xfrm>
            <a:off x="548640" y="36118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ΔU = Q − W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Shape 7"/>
          <p:cNvSpPr/>
          <p:nvPr/>
        </p:nvSpPr>
        <p:spPr>
          <a:xfrm>
            <a:off x="274320" y="41148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8"/>
          <p:cNvSpPr/>
          <p:nvPr/>
        </p:nvSpPr>
        <p:spPr>
          <a:xfrm>
            <a:off x="365760" y="41148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WINE BOTTLE sealed (closed system).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Heat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wine (Q) →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expands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→ cork pops (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 = P·ΔV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Sealed = closed system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mass crosses the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boundary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	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Shape 13"/>
          <p:cNvSpPr/>
          <p:nvPr/>
        </p:nvSpPr>
        <p:spPr>
          <a:xfrm>
            <a:off x="36118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Shape 14"/>
          <p:cNvSpPr/>
          <p:nvPr/>
        </p:nvSpPr>
        <p:spPr>
          <a:xfrm>
            <a:off x="2468880" y="175536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Q in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added as heat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(positive Q into system)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17"/>
          <p:cNvSpPr/>
          <p:nvPr/>
        </p:nvSpPr>
        <p:spPr>
          <a:xfrm>
            <a:off x="5257800" y="9601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 flipH="1" flipV="1">
            <a:off x="5303520" y="1005840"/>
            <a:ext cx="1097280" cy="109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19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Cork pops = W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20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Boundary work done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system: W = ∫P dV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21"/>
          <p:cNvSpPr/>
          <p:nvPr/>
        </p:nvSpPr>
        <p:spPr>
          <a:xfrm>
            <a:off x="4983480" y="20574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Shape 22"/>
          <p:cNvSpPr/>
          <p:nvPr/>
        </p:nvSpPr>
        <p:spPr>
          <a:xfrm flipH="1">
            <a:off x="5029200" y="1755360"/>
            <a:ext cx="13716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3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ΔU stored internally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24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Whatever isn't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internal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Buoyancy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🥂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5" name="Image 0" descr="preencoded.png"/>
          <p:cNvPicPr/>
          <p:nvPr/>
        </p:nvPicPr>
        <p:blipFill>
          <a:blip r:embed="rId1"/>
          <a:stretch/>
        </p:blipFill>
        <p:spPr>
          <a:xfrm>
            <a:off x="3657600" y="731520"/>
            <a:ext cx="1643760" cy="2558160"/>
          </a:xfrm>
          <a:prstGeom prst="rect">
            <a:avLst/>
          </a:prstGeom>
          <a:ln w="0">
            <a:noFill/>
          </a:ln>
        </p:spPr>
      </p:pic>
      <p:sp>
        <p:nvSpPr>
          <p:cNvPr id="736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Fb = ρ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ₗᵤᵢ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 · g · Vₛᵤ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ₘₑᵣ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ₑ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WINE GLASS in water: does it float?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ρ</a:t>
            </a:r>
            <a:r>
              <a:rPr b="1" i="1" lang="en-US" sz="18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glass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&gt; ρ</a:t>
            </a:r>
            <a:r>
              <a:rPr b="1" i="1" lang="en-US" sz="18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water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→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sinks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!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Archimedes' principle.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9"/>
          <p:cNvSpPr/>
          <p:nvPr/>
        </p:nvSpPr>
        <p:spPr>
          <a:xfrm>
            <a:off x="379476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10"/>
          <p:cNvSpPr/>
          <p:nvPr/>
        </p:nvSpPr>
        <p:spPr>
          <a:xfrm>
            <a:off x="2468880" y="1206720"/>
            <a:ext cx="13716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Buoyant force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Upward force = weight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displaced fluid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Shape 13"/>
          <p:cNvSpPr/>
          <p:nvPr/>
        </p:nvSpPr>
        <p:spPr>
          <a:xfrm>
            <a:off x="40690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4"/>
          <p:cNvSpPr/>
          <p:nvPr/>
        </p:nvSpPr>
        <p:spPr>
          <a:xfrm>
            <a:off x="2468880" y="1938240"/>
            <a:ext cx="164592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Weight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Gravity pulling object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downward by its mass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17"/>
          <p:cNvSpPr/>
          <p:nvPr/>
        </p:nvSpPr>
        <p:spPr>
          <a:xfrm>
            <a:off x="507492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8"/>
          <p:cNvSpPr/>
          <p:nvPr/>
        </p:nvSpPr>
        <p:spPr>
          <a:xfrm flipH="1">
            <a:off x="5120640" y="12981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Float if ρ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obj</a:t>
            </a: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 &lt; ρ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fluid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Object less dense than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will be buoyed upward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Properties of Fluids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White 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μ = τ / (du/dy) | ν = μ/ρ | σ = F/L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WHITE WINE pours easily (low μ). Oil is thick (high μ). Meniscus in glass = surface tension σ.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379476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10"/>
          <p:cNvSpPr/>
          <p:nvPr/>
        </p:nvSpPr>
        <p:spPr>
          <a:xfrm flipV="1">
            <a:off x="2468880" y="1188720"/>
            <a:ext cx="137160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Pour → viscosity 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Dynamic viscosity: resistance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shear deformation (Pa·s)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13"/>
          <p:cNvSpPr/>
          <p:nvPr/>
        </p:nvSpPr>
        <p:spPr>
          <a:xfrm>
            <a:off x="40690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4"/>
          <p:cNvSpPr/>
          <p:nvPr/>
        </p:nvSpPr>
        <p:spPr>
          <a:xfrm>
            <a:off x="2468880" y="1938240"/>
            <a:ext cx="16459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Meniscus = σ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tension: force per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unit length at interface (N/m)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7"/>
          <p:cNvSpPr/>
          <p:nvPr/>
        </p:nvSpPr>
        <p:spPr>
          <a:xfrm>
            <a:off x="507492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8"/>
          <p:cNvSpPr/>
          <p:nvPr/>
        </p:nvSpPr>
        <p:spPr>
          <a:xfrm flipH="1">
            <a:off x="5120640" y="12981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ρ = m/V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Density: mass per unit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(kg/m³)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3" name="Image 0" descr="preencoded.png"/>
          <p:cNvPicPr/>
          <p:nvPr/>
        </p:nvPicPr>
        <p:blipFill>
          <a:blip r:embed="rId1"/>
          <a:stretch/>
        </p:blipFill>
        <p:spPr>
          <a:xfrm>
            <a:off x="3657600" y="731520"/>
            <a:ext cx="1643760" cy="255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77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776" name="Image 0" descr="preencoded.png"/>
          <p:cNvPicPr/>
          <p:nvPr/>
        </p:nvPicPr>
        <p:blipFill>
          <a:blip r:embed="rId3"/>
          <a:stretch/>
        </p:blipFill>
        <p:spPr>
          <a:xfrm>
            <a:off x="3657600" y="731520"/>
            <a:ext cx="1643760" cy="2558160"/>
          </a:xfrm>
          <a:prstGeom prst="rect">
            <a:avLst/>
          </a:prstGeom>
          <a:ln w="0">
            <a:noFill/>
          </a:ln>
        </p:spPr>
      </p:pic>
      <p:sp>
        <p:nvSpPr>
          <p:cNvPr id="77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Hydrostatic Pressure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🍷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 = P₀ + ρ·g·h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WINE GLASS: pressure at bottom &gt; top. Deeper wine = more weight pressing down = higher 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40690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10"/>
          <p:cNvSpPr/>
          <p:nvPr/>
        </p:nvSpPr>
        <p:spPr>
          <a:xfrm>
            <a:off x="2468880" y="1115280"/>
            <a:ext cx="16459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Top: P₀ (atmospheric)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exposed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atmospheric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4069080" y="28803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2468880" y="2395440"/>
            <a:ext cx="16459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274320" y="22860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Bottom: P₀ + ρgh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274320" y="25056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increases linearly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depth 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5074920" y="20574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8"/>
          <p:cNvSpPr/>
          <p:nvPr/>
        </p:nvSpPr>
        <p:spPr>
          <a:xfrm flipH="1">
            <a:off x="5120640" y="17553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 = depth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Measured downward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free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Submerged Gates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(underwater)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Fᵣ = ρg·ȳ·A | ycₚ = ȳ + Iɢ/(ȳ·A)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UNDERWATER DOOR: water pushes harder at bottom. Center of pressure always below centroid.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Force Fᵣ = ρg·ȳ·A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Resultant hydrostatic force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submerged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13"/>
          <p:cNvSpPr/>
          <p:nvPr/>
        </p:nvSpPr>
        <p:spPr>
          <a:xfrm>
            <a:off x="40690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14"/>
          <p:cNvSpPr/>
          <p:nvPr/>
        </p:nvSpPr>
        <p:spPr>
          <a:xfrm flipV="1">
            <a:off x="2468880" y="1645920"/>
            <a:ext cx="1645920" cy="1094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Centroid ȳ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Depth of geometric center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the submerged area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17"/>
          <p:cNvSpPr/>
          <p:nvPr/>
        </p:nvSpPr>
        <p:spPr>
          <a:xfrm>
            <a:off x="525780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18"/>
          <p:cNvSpPr/>
          <p:nvPr/>
        </p:nvSpPr>
        <p:spPr>
          <a:xfrm flipH="1">
            <a:off x="5303520" y="1298160"/>
            <a:ext cx="109728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Center of pressure ycₚ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Point where resultant acts: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always below centroid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Bernoulli's Equation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Shower Head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283840"/>
          </a:xfrm>
          <a:prstGeom prst="rect">
            <a:avLst/>
          </a:prstGeom>
          <a:ln w="0">
            <a:noFill/>
          </a:ln>
        </p:spPr>
      </p:pic>
      <p:sp>
        <p:nvSpPr>
          <p:cNvPr id="826" name="Shape 5"/>
          <p:cNvSpPr/>
          <p:nvPr/>
        </p:nvSpPr>
        <p:spPr>
          <a:xfrm>
            <a:off x="457200" y="32004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6"/>
          <p:cNvSpPr/>
          <p:nvPr/>
        </p:nvSpPr>
        <p:spPr>
          <a:xfrm>
            <a:off x="548640" y="32004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 + ½ρv² + ρgz = constant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7"/>
          <p:cNvSpPr/>
          <p:nvPr/>
        </p:nvSpPr>
        <p:spPr>
          <a:xfrm>
            <a:off x="274320" y="37033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 8"/>
          <p:cNvSpPr/>
          <p:nvPr/>
        </p:nvSpPr>
        <p:spPr>
          <a:xfrm>
            <a:off x="365760" y="37033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SHOWER HEAD: narrow holes → fast stream (↑v, ↓P by Bernoulli). Wide pipe = slow, high P.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10"/>
          <p:cNvSpPr/>
          <p:nvPr/>
        </p:nvSpPr>
        <p:spPr>
          <a:xfrm>
            <a:off x="2468880" y="1115280"/>
            <a:ext cx="731520" cy="5306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Wide pipe: slow, high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cross-section: low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static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13"/>
          <p:cNvSpPr/>
          <p:nvPr/>
        </p:nvSpPr>
        <p:spPr>
          <a:xfrm>
            <a:off x="40690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Shape 14"/>
          <p:cNvSpPr/>
          <p:nvPr/>
        </p:nvSpPr>
        <p:spPr>
          <a:xfrm>
            <a:off x="2468880" y="1938240"/>
            <a:ext cx="16459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Narrow nozzle: fast, low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Constriction accelerates flow: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venturi effect drops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 + ½ρv² + ρgz = const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conservation along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 streamline (inviscid, steady)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Viscosity &amp; Shear Stress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🔧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Shower Handle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7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283840" cy="2100960"/>
          </a:xfrm>
          <a:prstGeom prst="rect">
            <a:avLst/>
          </a:prstGeom>
          <a:ln w="0">
            <a:noFill/>
          </a:ln>
        </p:spPr>
      </p:pic>
      <p:sp>
        <p:nvSpPr>
          <p:cNvPr id="848" name="Shape 5"/>
          <p:cNvSpPr/>
          <p:nvPr/>
        </p:nvSpPr>
        <p:spPr>
          <a:xfrm>
            <a:off x="457200" y="30175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6"/>
          <p:cNvSpPr/>
          <p:nvPr/>
        </p:nvSpPr>
        <p:spPr>
          <a:xfrm>
            <a:off x="548640" y="30175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τ = μ · (du/dy)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7"/>
          <p:cNvSpPr/>
          <p:nvPr/>
        </p:nvSpPr>
        <p:spPr>
          <a:xfrm>
            <a:off x="274320" y="35204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Text 8"/>
          <p:cNvSpPr/>
          <p:nvPr/>
        </p:nvSpPr>
        <p:spPr>
          <a:xfrm>
            <a:off x="365760" y="35204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SHOWER HANDLE: twist = shear stress τ. Hard to turn (honey) = high μ. Easy (water) = low μ.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Shape 9"/>
          <p:cNvSpPr/>
          <p:nvPr/>
        </p:nvSpPr>
        <p:spPr>
          <a:xfrm>
            <a:off x="3337560" y="132588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Shape 10"/>
          <p:cNvSpPr/>
          <p:nvPr/>
        </p:nvSpPr>
        <p:spPr>
          <a:xfrm>
            <a:off x="2468880" y="1206720"/>
            <a:ext cx="9144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Twist = shear stress τ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Force per unit area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parallel to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13"/>
          <p:cNvSpPr/>
          <p:nvPr/>
        </p:nvSpPr>
        <p:spPr>
          <a:xfrm>
            <a:off x="36118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Resistance = viscosity 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Newton's law: proportionality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constant between τ and du/dy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Re = ρvD/μ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Reynolds number: ratio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inertial to viscous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Conservation of Mass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9" name="Image 0" descr="preencoded.png"/>
          <p:cNvPicPr/>
          <p:nvPr/>
        </p:nvPicPr>
        <p:blipFill>
          <a:blip r:embed="rId1"/>
          <a:stretch/>
        </p:blipFill>
        <p:spPr>
          <a:xfrm>
            <a:off x="2743200" y="731520"/>
            <a:ext cx="3198240" cy="2558160"/>
          </a:xfrm>
          <a:prstGeom prst="rect">
            <a:avLst/>
          </a:prstGeom>
          <a:ln w="0">
            <a:noFill/>
          </a:ln>
        </p:spPr>
      </p:pic>
      <p:sp>
        <p:nvSpPr>
          <p:cNvPr id="870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ρ₁A₁v₁ = ρ₂A₂v₂ (incompressible: A₁v₁ = A₂v₂)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CABINET: nothing appears or disappears inside. What goes in must come out!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9"/>
          <p:cNvSpPr/>
          <p:nvPr/>
        </p:nvSpPr>
        <p:spPr>
          <a:xfrm>
            <a:off x="297180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10"/>
          <p:cNvSpPr/>
          <p:nvPr/>
        </p:nvSpPr>
        <p:spPr>
          <a:xfrm>
            <a:off x="2468880" y="1206720"/>
            <a:ext cx="54864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IN: ρ₁A₁v₁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 entering: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density × area ×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13"/>
          <p:cNvSpPr/>
          <p:nvPr/>
        </p:nvSpPr>
        <p:spPr>
          <a:xfrm>
            <a:off x="562356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4"/>
          <p:cNvSpPr/>
          <p:nvPr/>
        </p:nvSpPr>
        <p:spPr>
          <a:xfrm flipH="1">
            <a:off x="5669280" y="1206720"/>
            <a:ext cx="73152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OUT: ρ₂A₂v₂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 leaving: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must equal inlet at 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17"/>
          <p:cNvSpPr/>
          <p:nvPr/>
        </p:nvSpPr>
        <p:spPr>
          <a:xfrm>
            <a:off x="525780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18"/>
          <p:cNvSpPr/>
          <p:nvPr/>
        </p:nvSpPr>
        <p:spPr>
          <a:xfrm flipH="1">
            <a:off x="5303520" y="2121120"/>
            <a:ext cx="109728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19"/>
          <p:cNvSpPr/>
          <p:nvPr/>
        </p:nvSpPr>
        <p:spPr>
          <a:xfrm>
            <a:off x="640080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Area ↓ → velocity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20"/>
          <p:cNvSpPr/>
          <p:nvPr/>
        </p:nvSpPr>
        <p:spPr>
          <a:xfrm>
            <a:off x="640080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Continuity: pipe narrows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flow speeds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Intro to Pipe 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Faucet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892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Re = ρvD/μ   |   Laminar: Re&lt;2100  |  Turbulent: Re&gt;4000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FAUCET: low flow = smooth laminar stream. Full blast = splashing turbulent chaos!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Gentle = LAMINAR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 &lt; 2100: smooth ordered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layers, predictable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Full blast = TURBULENT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Text 16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 &gt; 4000: chaotic mixing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eddies, enhanced transport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Re = ρvD/μ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Dimensionless ratio: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inertial forces / viscous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Velocity Profiles in Pipe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🚰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Faucet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914" name="Shape 5"/>
          <p:cNvSpPr/>
          <p:nvPr/>
        </p:nvSpPr>
        <p:spPr>
          <a:xfrm>
            <a:off x="457200" y="3867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6"/>
          <p:cNvSpPr/>
          <p:nvPr/>
        </p:nvSpPr>
        <p:spPr>
          <a:xfrm>
            <a:off x="548640" y="3867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Laminar: v(r) = vₘₐₓ(1−(r/R)²)  |  vₐᵥ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 = vₘₐₓ/2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Shape 7"/>
          <p:cNvSpPr/>
          <p:nvPr/>
        </p:nvSpPr>
        <p:spPr>
          <a:xfrm>
            <a:off x="274320" y="4370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8"/>
          <p:cNvSpPr/>
          <p:nvPr/>
        </p:nvSpPr>
        <p:spPr>
          <a:xfrm>
            <a:off x="365760" y="4370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FAUCET: center flows fastest, zero at wall (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no-slip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).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Parabolic profile = laminar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Shape 9"/>
          <p:cNvSpPr/>
          <p:nvPr/>
        </p:nvSpPr>
        <p:spPr>
          <a:xfrm>
            <a:off x="4069080" y="132588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0"/>
          <p:cNvSpPr/>
          <p:nvPr/>
        </p:nvSpPr>
        <p:spPr>
          <a:xfrm>
            <a:off x="2468880" y="1206720"/>
            <a:ext cx="164592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Center = fastest vₘₐₓ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velocity at the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centerline of the pipe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13"/>
          <p:cNvSpPr/>
          <p:nvPr/>
        </p:nvSpPr>
        <p:spPr>
          <a:xfrm>
            <a:off x="3262680" y="2298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Shape 14"/>
          <p:cNvSpPr/>
          <p:nvPr/>
        </p:nvSpPr>
        <p:spPr>
          <a:xfrm>
            <a:off x="2408040" y="2333160"/>
            <a:ext cx="853200" cy="151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Wall = zero (no-slip)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16"/>
          <p:cNvSpPr/>
          <p:nvPr/>
        </p:nvSpPr>
        <p:spPr>
          <a:xfrm>
            <a:off x="27432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sticks to pipe wall: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 = 0 at r = 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Shape 17"/>
          <p:cNvSpPr/>
          <p:nvPr/>
        </p:nvSpPr>
        <p:spPr>
          <a:xfrm>
            <a:off x="3172680" y="2752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18"/>
          <p:cNvSpPr/>
          <p:nvPr/>
        </p:nvSpPr>
        <p:spPr>
          <a:xfrm flipH="1">
            <a:off x="2286000" y="280548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19"/>
          <p:cNvSpPr/>
          <p:nvPr/>
        </p:nvSpPr>
        <p:spPr>
          <a:xfrm>
            <a:off x="285480" y="2890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Parabolic profile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20"/>
          <p:cNvSpPr/>
          <p:nvPr/>
        </p:nvSpPr>
        <p:spPr>
          <a:xfrm>
            <a:off x="285480" y="3110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Laminar: parabola shape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Turbulent: flatter (1/7 law)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0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3881880" y="520920"/>
            <a:ext cx="5362200" cy="293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Boundary Layer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🧻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TP Holder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δ = 5x/√Reₓ (laminar)  |  Transition: Reₓ ≈ 5×10⁵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TOILET PAPER unrolling: boundary layer builds as you pull. Near pin = thin δ, further = thick.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9"/>
          <p:cNvSpPr/>
          <p:nvPr/>
        </p:nvSpPr>
        <p:spPr>
          <a:xfrm>
            <a:off x="2542680" y="1528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10"/>
          <p:cNvSpPr/>
          <p:nvPr/>
        </p:nvSpPr>
        <p:spPr>
          <a:xfrm>
            <a:off x="1856880" y="1134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2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943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Pin = leading edge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δ starts at zero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leading edge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13"/>
          <p:cNvSpPr/>
          <p:nvPr/>
        </p:nvSpPr>
        <p:spPr>
          <a:xfrm>
            <a:off x="40690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4"/>
          <p:cNvSpPr/>
          <p:nvPr/>
        </p:nvSpPr>
        <p:spPr>
          <a:xfrm>
            <a:off x="2468880" y="2029680"/>
            <a:ext cx="16459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Further → δ grows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BL thickness increases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distance downstream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17"/>
          <p:cNvSpPr/>
          <p:nvPr/>
        </p:nvSpPr>
        <p:spPr>
          <a:xfrm>
            <a:off x="5980680" y="1384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18"/>
          <p:cNvSpPr/>
          <p:nvPr/>
        </p:nvSpPr>
        <p:spPr>
          <a:xfrm flipH="1">
            <a:off x="6026400" y="1082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 19"/>
          <p:cNvSpPr/>
          <p:nvPr/>
        </p:nvSpPr>
        <p:spPr>
          <a:xfrm>
            <a:off x="6292800" y="900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No-slip at wall: v=0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Text 20"/>
          <p:cNvSpPr/>
          <p:nvPr/>
        </p:nvSpPr>
        <p:spPr>
          <a:xfrm>
            <a:off x="6292800" y="1120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Velocity goes from 0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to U∞ at edge of δ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3" name="" descr=""/>
          <p:cNvPicPr/>
          <p:nvPr/>
        </p:nvPicPr>
        <p:blipFill>
          <a:blip r:embed="rId2">
            <a:lum bright="70000" contrast="-70000"/>
          </a:blip>
          <a:srcRect l="5645" t="19178" r="0" b="23722"/>
          <a:stretch/>
        </p:blipFill>
        <p:spPr>
          <a:xfrm rot="780000">
            <a:off x="2890800" y="1077840"/>
            <a:ext cx="4212000" cy="116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Entrance Length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Hamper Flap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960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Lₑ/D = 0.06·Re (laminar)  |  Lₑ/D ≈ 4.4·Re¹</a:t>
            </a:r>
            <a:r>
              <a:rPr b="1" lang="en-US" sz="18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⁶ (turb.)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HAMPER FLAP: open it → flow chaotic near entry. After Lₑ distance, settles into final pattern.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Entry = developing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Velocity profile changing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position 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After Lₑ = fully developed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Profile no longer changes: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correlations valid beyond Lₑ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Pressure Drop in Pipes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Toothbrush Cup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978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ΔP = f·(L/D)·(ρv²/2)   [Darcy-Weisbach]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TOOTHBRUSH CUP: fill by pumping water up pipe. Friction wastes energy — Darcy-Weisbach calculates it.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 = friction factor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Moody chart: f(Re, ε/D)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Laminar: f = 64/Re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13"/>
          <p:cNvSpPr/>
          <p:nvPr/>
        </p:nvSpPr>
        <p:spPr>
          <a:xfrm>
            <a:off x="3611880" y="224028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Shape 14"/>
          <p:cNvSpPr/>
          <p:nvPr/>
        </p:nvSpPr>
        <p:spPr>
          <a:xfrm>
            <a:off x="2468880" y="1938240"/>
            <a:ext cx="118872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L/D = pipe geometry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Longer pipe / smaller diameter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= more friction loss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Power = Q·ΔP/η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Pump power required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overcome frictional losses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99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996" name="Picture 1" descr="preencoded.png"/>
          <p:cNvPicPr/>
          <p:nvPr/>
        </p:nvPicPr>
        <p:blipFill>
          <a:blip r:embed="rId3"/>
          <a:stretch/>
        </p:blipFill>
        <p:spPr>
          <a:xfrm>
            <a:off x="3008160" y="723240"/>
            <a:ext cx="2932200" cy="2379960"/>
          </a:xfrm>
          <a:prstGeom prst="rect">
            <a:avLst/>
          </a:prstGeom>
          <a:ln w="0">
            <a:noFill/>
          </a:ln>
        </p:spPr>
      </p:pic>
      <p:sp>
        <p:nvSpPr>
          <p:cNvPr id="99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Equivalent Length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Bedroom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Lₑ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 = K·D/f  |  ΔPₜₒₜₐₗ = f·(L + ΣLₑ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)/D · (ρv²/2)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BEDROOM LAMP with extension cord: cord adds resistance. Each valve/elbow = extra cord length.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Direct wire = pipe 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Straight pipe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friction over length 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Extension cord = Lₑ</a:t>
            </a:r>
            <a:r>
              <a:rPr b="1" lang="en-US" sz="700" spc="-1" strike="noStrike">
                <a:solidFill>
                  <a:srgbClr val="ff6b6b"/>
                </a:solidFill>
                <a:latin typeface="Calibri"/>
                <a:ea typeface="Calibri"/>
              </a:rPr>
              <a:t>q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Fittings expressed 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equivalent extra pipe length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 = loss coefficient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Tabulated for each fitting: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valve, elbow, tee, etc.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Multipipe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Bedroom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Series: Q same, ΔP = ΣΔPᵢ  |  Parallel: ΔP same, Q = ΣQᵢ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CABINET: drawers side-by-side (parallel, same ΔP) or stacked (series, same Q).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Side-by-side = PARALLEL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pressure drop across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branch; flows add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Stacked = SERIES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flow through each;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drops add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5" name="Picture 1" descr="preencoded.png"/>
          <p:cNvPicPr/>
          <p:nvPr/>
        </p:nvPicPr>
        <p:blipFill>
          <a:blip r:embed="rId1"/>
          <a:stretch/>
        </p:blipFill>
        <p:spPr>
          <a:xfrm>
            <a:off x="3611880" y="842040"/>
            <a:ext cx="2932200" cy="237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Linear Momentum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Speaker Sub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ΣF = ṁ(vₒᵤₜ − vᵢₙ)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SPEAKER CONE pushes air (momentum transfer). Force on cone = rate of change of air momentum.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Cone push = force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External forces: pressure,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gravity, wall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Air pushed = ṁ·Δv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Momentum flux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across control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Pipe bends, nozzles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Direction change creates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forces on pipe supports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7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Pressure Field at Rest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Pillow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3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064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∇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P = ρg  (Navier-Stokes at rest: v=0 → all velocity terms vanish)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PILLOW at rest: no motion, just gravity pressing down. N-S simplifies to ∇P = ρg.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No motion → v=0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Static fluid: all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acceleration terms vanish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Gravity only → ∇P = ρg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gradient equals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weight per unit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Velocity Profiles (N-S)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Closet Dresser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1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082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Couette: u = U·y/H  |  Poiseuille: u = (R²−r²)/(4μ)·(−dP/dx)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CLOSET DRESSER: clothes organized in layers = organized laminar flow layers from wall to center.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Shape 9"/>
          <p:cNvSpPr/>
          <p:nvPr/>
        </p:nvSpPr>
        <p:spPr>
          <a:xfrm>
            <a:off x="3611880" y="17830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Shape 10"/>
          <p:cNvSpPr/>
          <p:nvPr/>
        </p:nvSpPr>
        <p:spPr>
          <a:xfrm>
            <a:off x="2468880" y="1115280"/>
            <a:ext cx="1188720" cy="7135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Bottom drawer = wall (v=0)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No-slip boundary condition: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stationary at wall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Shape 13"/>
          <p:cNvSpPr/>
          <p:nvPr/>
        </p:nvSpPr>
        <p:spPr>
          <a:xfrm>
            <a:off x="3794760" y="9601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14"/>
          <p:cNvSpPr/>
          <p:nvPr/>
        </p:nvSpPr>
        <p:spPr>
          <a:xfrm flipV="1">
            <a:off x="2468880" y="1005840"/>
            <a:ext cx="1371600" cy="7495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Top drawer = fastest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velocity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centerline or moving plate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Parabolic = Poiseuille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Pressure-driven pipe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parabolic velocity profile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Dimensional Analysis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Mirror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Π groups = n − k  |  Re = ρvL/μ  |  Nu = hL/k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MIRROR reflects: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dimensionless numbers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reflect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physical similarity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 between different </a:t>
            </a:r>
            <a:r>
              <a:rPr b="1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flows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 = inertia/viscous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Reynolds number: determines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 vs turbulent regime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1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Fr = inertia/gravity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Froude number: important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free-surface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Nu = conv/cond heat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Nusselt: ratio of convective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conductive heat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2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22" name="Picture 1" descr=""/>
          <p:cNvPicPr/>
          <p:nvPr/>
        </p:nvPicPr>
        <p:blipFill>
          <a:blip r:embed="rId3"/>
          <a:stretch/>
        </p:blipFill>
        <p:spPr>
          <a:xfrm>
            <a:off x="3361320" y="715680"/>
            <a:ext cx="2144880" cy="2144880"/>
          </a:xfrm>
          <a:prstGeom prst="rect">
            <a:avLst/>
          </a:prstGeom>
          <a:ln w="0">
            <a:noFill/>
          </a:ln>
        </p:spPr>
      </p:pic>
      <p:sp>
        <p:nvSpPr>
          <p:cNvPr id="1123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Modeling &amp; Similitude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Apt Dresser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Reₘₒ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ₑₗ = Reₚᵣₒₜₒₜ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ₚₑ or Frₘₒ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ₑₗ = Frₚᵣₒₜₒₜ</a:t>
            </a: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ₚₑ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1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DRESSER = scale model of a room. Match Re (viscous) or Fr (free-surface) for similarity.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Mini furniture = model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Small-scale replica built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testing in lab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Match Re or Fr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Dynamic similarity: match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dominant dimensionless group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Shape 17"/>
          <p:cNvSpPr/>
          <p:nvPr/>
        </p:nvSpPr>
        <p:spPr>
          <a:xfrm>
            <a:off x="4983480" y="20574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Shape 18"/>
          <p:cNvSpPr/>
          <p:nvPr/>
        </p:nvSpPr>
        <p:spPr>
          <a:xfrm flipH="1">
            <a:off x="5029200" y="1755360"/>
            <a:ext cx="13716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Geometric: Lₘ/Lₚ = λ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lengths scaled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same factor λ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4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46" name="Picture 1" descr=""/>
          <p:cNvPicPr/>
          <p:nvPr/>
        </p:nvPicPr>
        <p:blipFill>
          <a:blip r:embed="rId3"/>
          <a:stretch/>
        </p:blipFill>
        <p:spPr>
          <a:xfrm>
            <a:off x="3348720" y="673920"/>
            <a:ext cx="2170440" cy="2170440"/>
          </a:xfrm>
          <a:prstGeom prst="rect">
            <a:avLst/>
          </a:prstGeom>
          <a:ln w="0">
            <a:noFill/>
          </a:ln>
        </p:spPr>
      </p:pic>
      <p:sp>
        <p:nvSpPr>
          <p:cNvPr id="114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Closed (Processes)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End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Isothermal: Q = W = nRT·ln(V₂/V₁)  |  Adiabatic: Q = 0, ΔU = −W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800" spc="-1" strike="noStrike">
                <a:solidFill>
                  <a:srgbClr val="00e5a0"/>
                </a:solidFill>
                <a:latin typeface="Calibri"/>
                <a:ea typeface="Calibri"/>
              </a:rPr>
              <a:t>END TABLE: fixed contents, closed top. Heat (Q) → stores (ΔU) or does work (W).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Const T: ΔU=0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Isothermal ideal gas: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heat becomes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Const V: W=0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Isochoric: no volume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 no boundary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Adiabatic: Q=0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Insulated: internal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only via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6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70" name="Picture 1" descr=""/>
          <p:cNvPicPr/>
          <p:nvPr/>
        </p:nvPicPr>
        <p:blipFill>
          <a:blip r:embed="rId3"/>
          <a:stretch/>
        </p:blipFill>
        <p:spPr>
          <a:xfrm>
            <a:off x="3518640" y="771120"/>
            <a:ext cx="1967040" cy="1967040"/>
          </a:xfrm>
          <a:prstGeom prst="rect">
            <a:avLst/>
          </a:prstGeom>
          <a:ln w="0">
            <a:noFill/>
          </a:ln>
        </p:spPr>
      </p:pic>
      <p:sp>
        <p:nvSpPr>
          <p:cNvPr id="117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– Open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☕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End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Q̇ − Ẇₛ = ṁ[Δh + Δv²/2 + gΔz]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END TABLE in café: cups come and go (open system).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H = U + PV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 includes flow work.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1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Cups IN = ṁᵢₙ · hᵢₙ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carried in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streams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Cups OUT = ṁₒᵤₜ · hₒᵤₜ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leaving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exit mass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0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 = U + PV (enthalpy)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both internal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and flow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Unsteady Energy on Tanks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Bench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d(mU)/dt = Q̇ − Ẇ + ṁᵢₙ·hᵢₙ − ṁₒᵤₜ·hₒᵤₜ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BENCH loaded over time: weight (internal energy) increases. Unsteady = load changes with 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Loading = ṁᵢₙ·hᵢₙ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input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incoming mass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Shape 13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" name="Shape 14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7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d(mU)/dt ≠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term is non-zero: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transient energy balance 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1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12" name="Picture 2" descr=""/>
          <p:cNvPicPr/>
          <p:nvPr/>
        </p:nvPicPr>
        <p:blipFill>
          <a:blip r:embed="rId3"/>
          <a:stretch/>
        </p:blipFill>
        <p:spPr>
          <a:xfrm>
            <a:off x="3565440" y="751680"/>
            <a:ext cx="1992600" cy="1992600"/>
          </a:xfrm>
          <a:prstGeom prst="rect">
            <a:avLst/>
          </a:prstGeom>
          <a:ln w="0">
            <a:noFill/>
          </a:ln>
        </p:spPr>
      </p:pic>
      <p:sp>
        <p:nvSpPr>
          <p:cNvPr id="1213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4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6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Entropy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8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dS = δQᵣₑᵥ/T   |   ΔSᵤₙᵢᵥₑᵣₛₑ ≥ 0 (2nd Law)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1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TV: scrambled signal = high entropy. Clear picture = low S. Signals get noisier (ΔS↑ always).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2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Clear signal = low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Ordered state: fewer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microstates, low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6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Static noise = high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9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Disordered state: many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microstates, high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1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ΔSᵤₙᵢᵥ ≥ 0 always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Law: universe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never decreases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3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36" name="Image 0" descr="preencoded.png"/>
          <p:cNvPicPr/>
          <p:nvPr/>
        </p:nvPicPr>
        <p:blipFill>
          <a:blip r:embed="rId3"/>
          <a:stretch/>
        </p:blipFill>
        <p:spPr>
          <a:xfrm>
            <a:off x="2926800" y="66672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23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Turbines &amp; Compressors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🎮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Game 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ηₜᵤᵣ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 = (h₁−h₂)/(h₁−h₂ₛ)  |  η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ₒₘₚ = (h₂ₛ−h₁)/(h₂−h₁)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4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5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CONTROLLER: turbine = output (joystick pushes out power). Compressor = input (buttons pressed in).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Joystick OUT = turbine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Extracts shaft work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high-pressure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Buttons IN = compressor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Adds shaft work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increase fluid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η &lt; 1 (irreversibility)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Isentropic efficiency accounts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real-world friction/heat losses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5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60" name="Picture 1" descr=""/>
          <p:cNvPicPr/>
          <p:nvPr/>
        </p:nvPicPr>
        <p:blipFill>
          <a:blip r:embed="rId3"/>
          <a:stretch/>
        </p:blipFill>
        <p:spPr>
          <a:xfrm>
            <a:off x="3348360" y="911880"/>
            <a:ext cx="2033640" cy="2033640"/>
          </a:xfrm>
          <a:prstGeom prst="rect">
            <a:avLst/>
          </a:prstGeom>
          <a:ln w="0">
            <a:noFill/>
          </a:ln>
        </p:spPr>
      </p:pic>
      <p:sp>
        <p:nvSpPr>
          <p:cNvPr id="126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Rev. &amp; Irrev. Expansion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💻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Computer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6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7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Wᵣₑᵥ = nRT·ln(V₂/V₁) (isothermal)  |  Wᵢᵣᵣₑᵥ = Pₑₓₜ·ΔV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9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NEAT DESK = reversible (max efficiency). MESSY DESK = irreversible (wasted effort).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0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Neat = 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work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minimum work input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4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Messy = irreversible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7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Less work out, more in;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generated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Wᵣₑᵥ &gt; Wᵢᵣᵣₑᵥ (exp.)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Reversible expansion always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yields more useful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8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84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285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Isentropic Process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🖱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Computer Mouse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PV</a:t>
            </a:r>
            <a:r>
              <a:rPr b="1" lang="en-US" sz="28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γ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 = const  |  T₂/T₁ = (P₂/P₁)⁽ˠ⁻¹⁾</a:t>
            </a:r>
            <a:r>
              <a:rPr b="1" lang="en-US" sz="24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ˠ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MOUSE: smooth frictionless glide = reversible + adiabatic = isentropic. Drag = entropy.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 glide = isentropic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friction, no heat loss: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constant (ΔS=0)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Friction = irreversible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Real processes generate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from dissipation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γ = Cₚ/Cᵥ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capacity ratio: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always &gt; 1 for real gases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0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08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1309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Carnot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Shape 5"/>
          <p:cNvSpPr/>
          <p:nvPr/>
        </p:nvSpPr>
        <p:spPr>
          <a:xfrm>
            <a:off x="457200" y="3358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5" name="Text 6"/>
          <p:cNvSpPr/>
          <p:nvPr/>
        </p:nvSpPr>
        <p:spPr>
          <a:xfrm>
            <a:off x="548640" y="3250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η꜀</a:t>
            </a:r>
            <a:r>
              <a:rPr b="0" lang="en-US" sz="44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ₐᵣₙₒₜ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 = 1 − Tₗ/T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ʜ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Shape 7"/>
          <p:cNvSpPr/>
          <p:nvPr/>
        </p:nvSpPr>
        <p:spPr>
          <a:xfrm>
            <a:off x="274320" y="3858480"/>
            <a:ext cx="8640360" cy="50328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Text 8"/>
          <p:cNvSpPr/>
          <p:nvPr/>
        </p:nvSpPr>
        <p:spPr>
          <a:xfrm>
            <a:off x="365760" y="3825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WINDOW: hot inside (Tʜ), cold outside (Tₗ). Carnot extracts work from ΔT. No engine beats it!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Shape 9"/>
          <p:cNvSpPr/>
          <p:nvPr/>
        </p:nvSpPr>
        <p:spPr>
          <a:xfrm>
            <a:off x="5159880" y="2475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Shape 10"/>
          <p:cNvSpPr/>
          <p:nvPr/>
        </p:nvSpPr>
        <p:spPr>
          <a:xfrm>
            <a:off x="5212080" y="251460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Text 11"/>
          <p:cNvSpPr/>
          <p:nvPr/>
        </p:nvSpPr>
        <p:spPr>
          <a:xfrm>
            <a:off x="6423480" y="23022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Inside = Tʜ (hot)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Text 12"/>
          <p:cNvSpPr/>
          <p:nvPr/>
        </p:nvSpPr>
        <p:spPr>
          <a:xfrm>
            <a:off x="6423480" y="25218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High-temperature thermal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reservoir (heat source)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Outside = Tₗ (cold)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Low-temperature sink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(heat rejection)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Bigger ΔT → more η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theoretical efficiency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any heat engine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Text 21"/>
          <p:cNvSpPr/>
          <p:nvPr/>
        </p:nvSpPr>
        <p:spPr>
          <a:xfrm>
            <a:off x="3841560" y="4510800"/>
            <a:ext cx="191628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COPʜₚ = Tʜ / (Tʜ−Tₗ)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COPᵣₑ</a:t>
            </a:r>
            <a:r>
              <a:rPr b="1" i="1" lang="en-US" sz="1000" spc="-1" strike="noStrike">
                <a:solidFill>
                  <a:srgbClr val="00e5a0"/>
                </a:solidFill>
                <a:latin typeface="Calibri"/>
              </a:rPr>
              <a:t>f</a:t>
            </a:r>
            <a:r>
              <a:rPr b="1" i="1" lang="en-US" sz="900" spc="-1" strike="noStrike">
                <a:solidFill>
                  <a:srgbClr val="00e5a0"/>
                </a:solidFill>
                <a:latin typeface="Calibri"/>
              </a:rPr>
              <a:t> 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</a:rPr>
              <a:t>= Tₗ / (Tʜ−Tₗ)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1" name="" descr="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248400" y="806400"/>
            <a:ext cx="3179880" cy="203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Rankine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Vase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7" name="Shape 5"/>
          <p:cNvSpPr/>
          <p:nvPr/>
        </p:nvSpPr>
        <p:spPr>
          <a:xfrm>
            <a:off x="457200" y="3934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Text 6"/>
          <p:cNvSpPr/>
          <p:nvPr/>
        </p:nvSpPr>
        <p:spPr>
          <a:xfrm>
            <a:off x="548640" y="3934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η = (Wₜᵤᵣ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ᵢₙₑ − Wₚᵤₘₚ) / Q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ₒᵢₗₑᵣ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Shape 7"/>
          <p:cNvSpPr/>
          <p:nvPr/>
        </p:nvSpPr>
        <p:spPr>
          <a:xfrm>
            <a:off x="274320" y="4437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Text 8"/>
          <p:cNvSpPr/>
          <p:nvPr/>
        </p:nvSpPr>
        <p:spPr>
          <a:xfrm>
            <a:off x="365760" y="4437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VASE: fill water (pump) → heat (boiler) → steam pushes (turbine) → condense → repeat.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Fill = pump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water pressurized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minimal work input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= boiler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8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added at high P: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→ superheated steam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Shape 17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18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Text 19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Steam → turbine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Text 20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Steam expands through turbine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extracting shaft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Shape 21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Shape 22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Text 23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Cool back = condenser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6" name="Text 24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condensed back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liquid, rejecting heat to sink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7" name="Image 0" descr="preencoded.png"/>
          <p:cNvPicPr/>
          <p:nvPr/>
        </p:nvPicPr>
        <p:blipFill>
          <a:blip r:embed="rId1"/>
          <a:stretch/>
        </p:blipFill>
        <p:spPr>
          <a:xfrm>
            <a:off x="3680640" y="731520"/>
            <a:ext cx="1461600" cy="1838880"/>
          </a:xfrm>
          <a:prstGeom prst="rect">
            <a:avLst/>
          </a:prstGeom>
          <a:ln w="0">
            <a:noFill/>
          </a:ln>
        </p:spPr>
      </p:pic>
      <p:pic>
        <p:nvPicPr>
          <p:cNvPr id="1358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3246840" y="693000"/>
            <a:ext cx="2406240" cy="284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6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61" name="Picture 1" descr=""/>
          <p:cNvPicPr/>
          <p:nvPr/>
        </p:nvPicPr>
        <p:blipFill>
          <a:blip r:embed="rId3"/>
          <a:stretch/>
        </p:blipFill>
        <p:spPr>
          <a:xfrm>
            <a:off x="2394000" y="528840"/>
            <a:ext cx="4571280" cy="3134520"/>
          </a:xfrm>
          <a:prstGeom prst="rect">
            <a:avLst/>
          </a:prstGeom>
          <a:ln w="0">
            <a:noFill/>
          </a:ln>
        </p:spPr>
      </p:pic>
      <p:sp>
        <p:nvSpPr>
          <p:cNvPr id="136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Refrigeration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❄️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Fridge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7" name="Shape 5"/>
          <p:cNvSpPr/>
          <p:nvPr/>
        </p:nvSpPr>
        <p:spPr>
          <a:xfrm>
            <a:off x="457200" y="36118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8" name="Text 6"/>
          <p:cNvSpPr/>
          <p:nvPr/>
        </p:nvSpPr>
        <p:spPr>
          <a:xfrm>
            <a:off x="548640" y="36118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COP = Qₗ / Ẇ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ₒₘₚ = (h₁−h₄) / (h₂−h₁)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9" name="Shape 7"/>
          <p:cNvSpPr/>
          <p:nvPr/>
        </p:nvSpPr>
        <p:spPr>
          <a:xfrm>
            <a:off x="274320" y="41148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0" name="Text 8"/>
          <p:cNvSpPr/>
          <p:nvPr/>
        </p:nvSpPr>
        <p:spPr>
          <a:xfrm>
            <a:off x="365760" y="41148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FRIDGE: cold inside (evaporator absorbs Qₗ), hot back (condenser rejects Qʜ). COP &gt; 1!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Shape 9"/>
          <p:cNvSpPr/>
          <p:nvPr/>
        </p:nvSpPr>
        <p:spPr>
          <a:xfrm>
            <a:off x="36118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Shape 10"/>
          <p:cNvSpPr/>
          <p:nvPr/>
        </p:nvSpPr>
        <p:spPr>
          <a:xfrm>
            <a:off x="2468880" y="1115280"/>
            <a:ext cx="1188720" cy="5306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Inside cold = evaporator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Refrigerant absorbs heat Qₗ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low T inside the fridge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Shape 13"/>
          <p:cNvSpPr/>
          <p:nvPr/>
        </p:nvSpPr>
        <p:spPr>
          <a:xfrm>
            <a:off x="379476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6" name="Shape 14"/>
          <p:cNvSpPr/>
          <p:nvPr/>
        </p:nvSpPr>
        <p:spPr>
          <a:xfrm>
            <a:off x="2468880" y="2029680"/>
            <a:ext cx="137160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7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Back hot = condenser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Rejects heat Qʜ to kitchen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high T behind fridge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COP &gt; 1 possible!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Unlike efficiency, COP can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exceed unity (not % limited)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3" name="" descr=""/>
          <p:cNvPicPr/>
          <p:nvPr/>
        </p:nvPicPr>
        <p:blipFill>
          <a:blip r:embed="rId4">
            <a:biLevel thresh="50000"/>
          </a:blip>
          <a:srcRect l="0" t="0" r="0" b="10022"/>
          <a:stretch/>
        </p:blipFill>
        <p:spPr>
          <a:xfrm>
            <a:off x="3538800" y="1133640"/>
            <a:ext cx="2265480" cy="206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8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86" name="Image 0" descr="preencoded.png"/>
          <p:cNvPicPr/>
          <p:nvPr/>
        </p:nvPicPr>
        <p:blipFill>
          <a:blip r:embed="rId3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138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Throttling (Joule-Thomson)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Mirror 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2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3" name="Text 6"/>
          <p:cNvSpPr/>
          <p:nvPr/>
        </p:nvSpPr>
        <p:spPr>
          <a:xfrm>
            <a:off x="548640" y="2854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h₁ = h₂ (isenthalpic)   |   μ</a:t>
            </a:r>
            <a:r>
              <a:rPr b="1" lang="en-US" sz="2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J</a:t>
            </a:r>
            <a:r>
              <a:rPr b="1" lang="en-US" sz="44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 = (∂T/∂P)</a:t>
            </a:r>
            <a:r>
              <a:rPr b="1" lang="en-US" sz="2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ʜ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4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5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MIRROR reflects same enthalpy (h₁=h₂), but pressure and temperature redistribute through valve.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6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Same H reflected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Isenthalpic: enthalpy unchanged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across throttle valve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 drops, T may drop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Irreversible expansion: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work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4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μ</a:t>
            </a:r>
            <a:r>
              <a:rPr b="1" lang="en-US" sz="11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J</a:t>
            </a:r>
            <a:r>
              <a:rPr b="1" lang="en-US" sz="22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ₜ</a:t>
            </a: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&gt; 0 → cools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7" name="Text 20"/>
          <p:cNvSpPr/>
          <p:nvPr/>
        </p:nvSpPr>
        <p:spPr>
          <a:xfrm>
            <a:off x="6400800" y="15094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Positive J-T coefficient: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cools on expansion (for refrig.)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40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410" name="Image 0" descr="preencoded.png"/>
          <p:cNvPicPr/>
          <p:nvPr/>
        </p:nvPicPr>
        <p:blipFill>
          <a:blip r:embed="rId3"/>
          <a:stretch/>
        </p:blipFill>
        <p:spPr>
          <a:xfrm>
            <a:off x="3063240" y="426960"/>
            <a:ext cx="2558880" cy="2160720"/>
          </a:xfrm>
          <a:prstGeom prst="rect">
            <a:avLst/>
          </a:prstGeom>
          <a:ln w="0">
            <a:noFill/>
          </a:ln>
        </p:spPr>
      </p:pic>
      <p:sp>
        <p:nvSpPr>
          <p:cNvPr id="141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Fundamental Relations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6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dU = TdS − PdV | dH = TdS + VdP | dA = − SdT − PdV | dG = − SdT + VdP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8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9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CABINET: 4 drawers (U,H,A,G), each opens with 2 keys (natural variables). Maxwell = diagonals.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Shape 9"/>
          <p:cNvSpPr/>
          <p:nvPr/>
        </p:nvSpPr>
        <p:spPr>
          <a:xfrm>
            <a:off x="2880360" y="9601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1" name="Shape 10"/>
          <p:cNvSpPr/>
          <p:nvPr/>
        </p:nvSpPr>
        <p:spPr>
          <a:xfrm flipV="1">
            <a:off x="2468880" y="1005840"/>
            <a:ext cx="45720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Drawer U: keys S,V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Internal energy: natural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variables are entropy &amp;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4" name="Shape 13"/>
          <p:cNvSpPr/>
          <p:nvPr/>
        </p:nvSpPr>
        <p:spPr>
          <a:xfrm>
            <a:off x="3154680" y="14173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5" name="Shape 14"/>
          <p:cNvSpPr/>
          <p:nvPr/>
        </p:nvSpPr>
        <p:spPr>
          <a:xfrm flipV="1">
            <a:off x="2468880" y="1463040"/>
            <a:ext cx="731520" cy="292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6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Drawer H: keys S,P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Enthalpy: natural variables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are entropy &amp;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" name="Shape 17"/>
          <p:cNvSpPr/>
          <p:nvPr/>
        </p:nvSpPr>
        <p:spPr>
          <a:xfrm>
            <a:off x="5897880" y="9601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18"/>
          <p:cNvSpPr/>
          <p:nvPr/>
        </p:nvSpPr>
        <p:spPr>
          <a:xfrm flipH="1" flipV="1">
            <a:off x="5943600" y="1005840"/>
            <a:ext cx="4572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0" name="Text 19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Drawer G: keys T,P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1" name="Text 20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Gibbs energy: most useful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constant T,P (lab conditions)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2" name="Shape 21"/>
          <p:cNvSpPr/>
          <p:nvPr/>
        </p:nvSpPr>
        <p:spPr>
          <a:xfrm>
            <a:off x="562356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3" name="Shape 22"/>
          <p:cNvSpPr/>
          <p:nvPr/>
        </p:nvSpPr>
        <p:spPr>
          <a:xfrm flipH="1" flipV="1">
            <a:off x="5669280" y="1463040"/>
            <a:ext cx="731520" cy="292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4" name="Text 23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Drawer A: keys T,V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5" name="Text 24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Helmholtz energy: useful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constant T,V systems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Liquefaction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Storage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1442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y (liq. fraction) = (h₂ − h₁) / (h₂ − h</a:t>
            </a:r>
            <a:r>
              <a:rPr b="1" lang="en-US" sz="24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4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5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CABINET stores liquefied gas. Gas squeezed through door crack (throttle) → cools → liquefies.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6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in (warm)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High-pressure gas enters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above inversion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0" name="Shape 13"/>
          <p:cNvSpPr/>
          <p:nvPr/>
        </p:nvSpPr>
        <p:spPr>
          <a:xfrm>
            <a:off x="3611880" y="20574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1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2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Door crack = throttle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3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Isenthalpic expansion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cools the gas (J-T effect)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Shape 17"/>
          <p:cNvSpPr/>
          <p:nvPr/>
        </p:nvSpPr>
        <p:spPr>
          <a:xfrm>
            <a:off x="5440680" y="20574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18"/>
          <p:cNvSpPr/>
          <p:nvPr/>
        </p:nvSpPr>
        <p:spPr>
          <a:xfrm flipH="1">
            <a:off x="5486400" y="1298160"/>
            <a:ext cx="914400" cy="8049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Liquid drips (LN₂, LNG)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Fraction y liquefied;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rest recycled for more cooling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Property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Double-Door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1464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PV diagram: area = W  |  TS diagram: area = Qᵣₑᵥ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DOUBLE DOOR: two panels = two axes (P-V or T-S). Dome shape = two-phase region.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Left door = axis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(PV) or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(TS) on vertical axis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Shape 13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3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Right door = axis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5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(PV) or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(TS) on horizontal axis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6" name="Shape 17"/>
          <p:cNvSpPr/>
          <p:nvPr/>
        </p:nvSpPr>
        <p:spPr>
          <a:xfrm>
            <a:off x="4983480" y="25146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18"/>
          <p:cNvSpPr/>
          <p:nvPr/>
        </p:nvSpPr>
        <p:spPr>
          <a:xfrm flipH="1">
            <a:off x="5029200" y="2121120"/>
            <a:ext cx="13716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8" name="Text 19"/>
          <p:cNvSpPr/>
          <p:nvPr/>
        </p:nvSpPr>
        <p:spPr>
          <a:xfrm>
            <a:off x="640080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Dome = two-phase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9" name="Text 20"/>
          <p:cNvSpPr/>
          <p:nvPr/>
        </p:nvSpPr>
        <p:spPr>
          <a:xfrm>
            <a:off x="6400800" y="22312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Under the dome: liquid-vapor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coexistence region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Departure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Drinking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486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H − Hⁱg = RT² ∫(∂Z/∂T)ₚ d(lnP)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GLASS: thick base = departure from thin ideal glass. Real fluid = ideal + departure correction.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Thin ideal = Hⁱg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Ideal gas enthalpy: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intermolecular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4" name="Shape 13"/>
          <p:cNvSpPr/>
          <p:nvPr/>
        </p:nvSpPr>
        <p:spPr>
          <a:xfrm>
            <a:off x="3611880" y="23317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Shape 14"/>
          <p:cNvSpPr/>
          <p:nvPr/>
        </p:nvSpPr>
        <p:spPr>
          <a:xfrm>
            <a:off x="2468880" y="202968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Extra thickness = departure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7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Correction for real gas: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molecular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Z = Pv/RT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Compressibility factor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measures deviation from ideal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Fugacity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Drinking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508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9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f = φ·P  |  Phase equil: fₗ = fᵥ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0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1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Real liquid escapes with fugacity f, not just vapor pressure. f = corrected pressure for real behavior.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2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Escaping tendency =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Fugacity: effective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corrected for non-ideality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6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 = φ·P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 coefficient φ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equation of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Shape 17"/>
          <p:cNvSpPr/>
          <p:nvPr/>
        </p:nvSpPr>
        <p:spPr>
          <a:xfrm>
            <a:off x="5257800" y="224028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2" name="Text 19"/>
          <p:cNvSpPr/>
          <p:nvPr/>
        </p:nvSpPr>
        <p:spPr>
          <a:xfrm>
            <a:off x="640080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At low P: f →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" name="Text 20"/>
          <p:cNvSpPr/>
          <p:nvPr/>
        </p:nvSpPr>
        <p:spPr>
          <a:xfrm>
            <a:off x="640080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Ideal limit: fugacity equals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as P → 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Partial Molar Quantities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Bowl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530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M̄ᵢ = (∂(nM)/∂nᵢ)ₜ,ₚ,ₙⱼ   |   Mₘᵢₓ = Σxᵢ·M̄ᵢ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BOWL of mixed ingredients: each component contributes M̄ᵢ to total bowl property.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Add 1 spoon salt → ΔV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molar volume: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per mole of i added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M̄ᵢ = partial molar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1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Contribution of component 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total mixture property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Shape 17"/>
          <p:cNvSpPr/>
          <p:nvPr/>
        </p:nvSpPr>
        <p:spPr>
          <a:xfrm>
            <a:off x="5257800" y="224028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3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Text 19"/>
          <p:cNvSpPr/>
          <p:nvPr/>
        </p:nvSpPr>
        <p:spPr>
          <a:xfrm>
            <a:off x="640080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Gibbs-Duhem: Σxᵢ·dM̄ᵢ=0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5" name="Text 20"/>
          <p:cNvSpPr/>
          <p:nvPr/>
        </p:nvSpPr>
        <p:spPr>
          <a:xfrm>
            <a:off x="640080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Constraint: partial molar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properties not independent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Fugacities of Mixtures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552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3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f̂ᵢ = yᵢ·φ̂ᵢ·P (vapor)  |  VLE: f̂ᵢL = f̂ᵢV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5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PLATE with mixed foods: each item exerts its own escaping tendency (fugacity) in the mixture.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6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Each food = component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Individual species fugacity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 the mixture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0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2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φ̂ᵢ from mixture EOS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 coefficient from PR/SRK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unlike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Chemical Potential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Stacked Bowls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570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1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μᵢ = (∂G/∂nᵢ)ₜ,ₚ   |   Equil: μᵢ</a:t>
            </a:r>
            <a:r>
              <a:rPr b="1" lang="en-US" sz="26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α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 = μᵢ</a:t>
            </a:r>
            <a:r>
              <a:rPr b="1" lang="en-US" sz="26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β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2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3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STACKED BOWLS: at equilibrium, liquid level (μ) same in all bowls. High μ → flows to low μ.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4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Bowl 1 level = μ^α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Chemical potential in phase α: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molar Gibbs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8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9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0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Bowl 2 level = μ</a:t>
            </a:r>
            <a:r>
              <a:rPr b="1" lang="en-US" sz="1100" spc="-1" strike="noStrike" baseline="33000">
                <a:solidFill>
                  <a:srgbClr val="ff6b6b"/>
                </a:solidFill>
                <a:latin typeface="Calibri"/>
                <a:ea typeface="Calibri"/>
              </a:rPr>
              <a:t>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1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Chemical potential in phase β: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must equal μ^α at equilibrium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2" name="Shape 17"/>
          <p:cNvSpPr/>
          <p:nvPr/>
        </p:nvSpPr>
        <p:spPr>
          <a:xfrm>
            <a:off x="5257800" y="224028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4" name="Text 19"/>
          <p:cNvSpPr/>
          <p:nvPr/>
        </p:nvSpPr>
        <p:spPr>
          <a:xfrm>
            <a:off x="640080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Equal levels =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5" name="Text 20"/>
          <p:cNvSpPr/>
          <p:nvPr/>
        </p:nvSpPr>
        <p:spPr>
          <a:xfrm>
            <a:off x="640080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mass transfer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to low μ until balanced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VLE Non-Ideal (γ)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9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592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3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P·yᵢ = xᵢ · γᵢ · Pᵢ*   [Modified Raoult's]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4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5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CABINET: hard access = non-ideal mixtures deviate from Raoult. γ = angle correction factor.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6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7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Straight = ideal (γ=1)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Raoult's Law: ideal solution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activity coefficient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0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1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Corner angle = γ ≠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3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Activity coefficient corrects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molecular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4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γ&gt;1: pos. dev. | γ&lt;1: neg.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Margules, Wilson, NRTL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models predict γ values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Osmosis &amp; Reverse Osmosis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Toaster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614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5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π = MRT  |  RO: apply P &gt; π to push solvent through membrane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6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7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TOASTER: push lever (pressure) to force bread (water) through slots (membrane). Push = desalinate!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8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9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Lever = applied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External pressure applied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overcome osmotic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3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4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Slots = membrane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5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Semipermeable membrane: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only solvent passes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8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π = osmotic pressure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9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pressure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solute concentration (π=MRT)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Henry's Law &amp; Absorption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1636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7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pᵢ = Hᵢ · xᵢ   (Henry's Law)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8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9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LAMP: light (gas) shines DOWN into room (liquid). Some light absorbed. Dim lamp = less absorption.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0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above = gas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Gas-phase partial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dissolution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4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5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6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Room below = liquid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7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solvent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at mole fraction xᵢ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8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High H → low solubility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Henry's constant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means gas barely dissolves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5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54" name="Picture 2" descr=""/>
          <p:cNvPicPr/>
          <p:nvPr/>
        </p:nvPicPr>
        <p:blipFill>
          <a:blip r:embed="rId3"/>
          <a:stretch/>
        </p:blipFill>
        <p:spPr>
          <a:xfrm>
            <a:off x="3267000" y="735480"/>
            <a:ext cx="2035080" cy="2035080"/>
          </a:xfrm>
          <a:prstGeom prst="rect">
            <a:avLst/>
          </a:prstGeom>
          <a:ln w="0">
            <a:noFill/>
          </a:ln>
        </p:spPr>
      </p:pic>
      <p:sp>
        <p:nvSpPr>
          <p:cNvPr id="1655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6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7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8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Enthalpy of Mixing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Office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0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1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GE = RT · Σxᵢ · ln(γᵢ)   |   ΔHₘᵢₓ = Hₘᵢₓ − Σxᵢ·Hᵢ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2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3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MIX two foam types in CHAIR: comfortable (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ΔH&lt;0, neg. dev.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) or not (</a:t>
            </a:r>
            <a:r>
              <a:rPr b="1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ΔH&gt;0, pos. dev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.).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Good mix → ΔH&lt;0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Exothermic mixing: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strong unlike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Bad mix → ΔH&gt;0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Endothermic mixing: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like-like preferred over unlike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7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74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675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6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7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8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Cubic EOS for VLE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9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💤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Pillow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0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1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PR: P = RT/(v−b) − a(T)/[v(v+b)+b(v−b)]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2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3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PILLOW: soft (liquid root) vs fluffy (vapor root). Cubic gives 3 roots; discard unstable middle.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Compressed = liquid root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Smallest volume root: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liquid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Fluffy = vapor root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Largest volume root: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vapor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2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Middle root = unstable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Spinodal region: physically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meaningless, always discard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9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98" name="Picture 1" descr=""/>
          <p:cNvPicPr/>
          <p:nvPr/>
        </p:nvPicPr>
        <p:blipFill>
          <a:blip r:embed="rId3"/>
          <a:stretch/>
        </p:blipFill>
        <p:spPr>
          <a:xfrm>
            <a:off x="3336480" y="456840"/>
            <a:ext cx="2010600" cy="2010600"/>
          </a:xfrm>
          <a:prstGeom prst="rect">
            <a:avLst/>
          </a:prstGeom>
          <a:ln w="0">
            <a:noFill/>
          </a:ln>
        </p:spPr>
      </p:pic>
      <p:sp>
        <p:nvSpPr>
          <p:cNvPr id="1699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1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2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Gibbs Energy &amp; Phase Sep.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3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🪵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4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5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∂²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G/∂x² &lt; 0 → unstable → phase separation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6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7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TABLE TOP: smooth = stable single phase. Cracked = phase-separated. Common tangent = equilibrium.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8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0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 = stable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1" name="Text 12"/>
          <p:cNvSpPr/>
          <p:nvPr/>
        </p:nvSpPr>
        <p:spPr>
          <a:xfrm>
            <a:off x="274320" y="1225440"/>
            <a:ext cx="26888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Concave up Gₘᵢₓ curve: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single-phase thermodynamically stable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2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4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Crack = phase separation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5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Concave down region: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spontaneously demixes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7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Spinodal: ∂²G/∂x²=0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9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Boundary of unstable region;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binodal found by common tangent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2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22" name="Picture 1" descr=""/>
          <p:cNvPicPr/>
          <p:nvPr/>
        </p:nvPicPr>
        <p:blipFill>
          <a:blip r:embed="rId3"/>
          <a:stretch/>
        </p:blipFill>
        <p:spPr>
          <a:xfrm>
            <a:off x="3063240" y="890280"/>
            <a:ext cx="2377440" cy="1412280"/>
          </a:xfrm>
          <a:prstGeom prst="rect">
            <a:avLst/>
          </a:prstGeom>
          <a:ln w="0">
            <a:noFill/>
          </a:ln>
        </p:spPr>
      </p:pic>
      <p:sp>
        <p:nvSpPr>
          <p:cNvPr id="1723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4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6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Partially Miscible Liquids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7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🛋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Sofa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8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9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At equil: μᵢ</a:t>
            </a:r>
            <a:r>
              <a:rPr b="1" lang="en-US" sz="18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I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 = μᵢ</a:t>
            </a:r>
            <a:r>
              <a:rPr b="1" lang="en-US" sz="18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II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  |  UCST: above → fully miscible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1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SOFA: two people share but stay in zones (partially miscible). Warm room (↑T) → they can mix.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2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Person 1 = phase 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5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phase α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on binodal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7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Person 2 = phase II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9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phase β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different binodal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Above UCST → mix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Upper critical solution 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full miscibility above 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4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46" name="Picture 1" descr=""/>
          <p:cNvPicPr/>
          <p:nvPr/>
        </p:nvPicPr>
        <p:blipFill>
          <a:blip r:embed="rId3"/>
          <a:stretch/>
        </p:blipFill>
        <p:spPr>
          <a:xfrm>
            <a:off x="3063240" y="890280"/>
            <a:ext cx="2377440" cy="1412280"/>
          </a:xfrm>
          <a:prstGeom prst="rect">
            <a:avLst/>
          </a:prstGeom>
          <a:ln w="0">
            <a:noFill/>
          </a:ln>
        </p:spPr>
      </p:pic>
      <p:sp>
        <p:nvSpPr>
          <p:cNvPr id="174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Immiscible Liquids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🛋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Main Sofa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2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P = Pₐ* + Pᵦ*   →   Boil at T &lt; either pure T</a:t>
            </a:r>
            <a:r>
              <a:rPr b="1" lang="en-US" sz="22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4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5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Two people who NEVER share space (immiscible). Boil together → both in vapor at lower 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6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Never share = immiscible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Zero mutual solubility: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 permanent liquid layers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0" name="Shape 13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Shape 14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2" name="Text 15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Steam distillation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3" name="Text 16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Exploit immiscibility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boil at T lower than either pure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6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66" name="Picture 1" descr=""/>
          <p:cNvPicPr/>
          <p:nvPr/>
        </p:nvPicPr>
        <p:blipFill>
          <a:blip r:embed="rId3"/>
          <a:stretch/>
        </p:blipFill>
        <p:spPr>
          <a:xfrm>
            <a:off x="3291480" y="558360"/>
            <a:ext cx="2284560" cy="2284560"/>
          </a:xfrm>
          <a:prstGeom prst="rect">
            <a:avLst/>
          </a:prstGeom>
          <a:ln w="0">
            <a:noFill/>
          </a:ln>
        </p:spPr>
      </p:pic>
      <p:sp>
        <p:nvSpPr>
          <p:cNvPr id="1767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8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9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0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Eutectic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1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Side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2" name="Shape 5"/>
          <p:cNvSpPr/>
          <p:nvPr/>
        </p:nvSpPr>
        <p:spPr>
          <a:xfrm>
            <a:off x="457200" y="3718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3" name="Text 6"/>
          <p:cNvSpPr/>
          <p:nvPr/>
        </p:nvSpPr>
        <p:spPr>
          <a:xfrm>
            <a:off x="548640" y="3682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Eutectic: 3 phases in equil. (F=0)  |  Lowest melting composition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4" name="Shape 7"/>
          <p:cNvSpPr/>
          <p:nvPr/>
        </p:nvSpPr>
        <p:spPr>
          <a:xfrm>
            <a:off x="274320" y="4221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5" name="Text 8"/>
          <p:cNvSpPr/>
          <p:nvPr/>
        </p:nvSpPr>
        <p:spPr>
          <a:xfrm>
            <a:off x="365760" y="4185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SIDE TABLE: solid top (solid) + liquid cups (liquid). Eutectic = composition that melts at lowest 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6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8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Solid top = solid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Solidus region below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eutectic horizontal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0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2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Cup = liquid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Liquidus region above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melting curve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4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Eutectic pt: lowest Tₘ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Invariant point: Pb-Sn solder,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food science applications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8" name="" descr="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6334200" y="1748880"/>
            <a:ext cx="2692440" cy="162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9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91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179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Azeotropes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7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8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Azeotrope: xᵢ = yᵢ  (can't separate by simple distillation)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9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FRAME: stuck, can't move further. Azeotrope = stuck composition during distillation.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Fixed frame = stuck comp.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and vapor have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identical compositions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5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7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Break: P-swing or entrainer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8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P to shift azeotrope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add third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9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0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1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EtOH-H₂O: 95.6%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2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Classic minimum-boiling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azeotrope at 78.1°C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1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15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181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Gas-Phase Chemical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1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2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ΔG° = −RT·ln(Kₚ)  |  Kₚ = Π(Pᵢ/P°)νᵢ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3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4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WINDOW: outside = products, inside = reactants. Kₚ tells how far the window opens (→ products).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5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7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Inside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8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materials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standard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9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1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Outside =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2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Kₚ &gt; 1: products favored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Kₚ &lt; 1: reactants favored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3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4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5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van't Hoff: d(lnK)/dT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ΔH°/(RT²): tells how 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with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3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39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184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Heterogeneous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5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6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Pure solid/liquid: a = 1  →  Kₚ = P</a:t>
            </a:r>
            <a:r>
              <a:rPr b="1" lang="en-US" sz="1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CO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2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 (CaCO₃ decomp.)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7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8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WINDOW: frame itself is solid (a=1, always there). Only gases appear in Kₚ expression.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9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1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Frame = solid (a=1)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2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Pure solids/liquids: activity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fixed at unity by convention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3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5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Outside gas → in Kₚ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Only species with variable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activity appear in K expression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7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Q vs K: direction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0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 &lt; K → forward (make products)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 &gt; K → reverse (make reactants)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6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63" name="Picture 1" descr=""/>
          <p:cNvPicPr/>
          <p:nvPr/>
        </p:nvPicPr>
        <p:blipFill>
          <a:blip r:embed="rId3"/>
          <a:stretch/>
        </p:blipFill>
        <p:spPr>
          <a:xfrm>
            <a:off x="3200400" y="593640"/>
            <a:ext cx="2284560" cy="2284560"/>
          </a:xfrm>
          <a:prstGeom prst="rect">
            <a:avLst/>
          </a:prstGeom>
          <a:ln w="0">
            <a:noFill/>
          </a:ln>
        </p:spPr>
      </p:pic>
      <p:sp>
        <p:nvSpPr>
          <p:cNvPr id="186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Thermal Effects in Rxns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Sheet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9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0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ln(K₂/K₁) = −ΔH°/R · (1/T₂ − 1/T₁)   [van't Hoff]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1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2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SHEET: temperature distributed across reactor. van't Hoff shows how K(T) shifts with temperature.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3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5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Exothermic: K ↓ with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6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 Chatelier: heating shifts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exo reaction ← backward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7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9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Endothermic: K ↑ with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0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Heating pushes endo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reaction → forward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1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3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Tₐd = T₀ + |ΔH|X/(ΣnCₚ)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4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Adiabatic temperature rise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exothermic reaction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8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87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88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Reaction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(multi-lock)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Minimize Gₜₒₜₐₗ subject to atom balance constraints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DOOR with multiple locks: each lock = one equilibrium reaction. Must open all simultaneously (ξⱼ).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Lock 1 = rxn 1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First independent reaction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its own Kₚ value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1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3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Lock 2 = rxn 2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4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coupled reaction;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extents ξⱼ are coupled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5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Key set = extents ξⱼ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Gibbs free energy minimization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finds all ξⱼ simultaneously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1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11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91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Nonlinear Regression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(key-fitting)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7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8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SSR = Σ(yₒ</a:t>
            </a:r>
            <a:r>
              <a:rPr b="1" lang="en-US" sz="11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ₛ − yₘₒ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ₑₗ)²   →   minimize over parameters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9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0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DOOR: try different key shapes (parameters k, α, β) until it fits (minimizes SSR). Right key = data fits!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Wrong key = high SSR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Poor parameter estimates: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sum of squared residuals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5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7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Right key = min SSR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8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Optimal parameters found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by Levenberg-Marquardt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0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 = k·Cₐ^α·Cᵦ^β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Power law rate: fit α, β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pre-exponential 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3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35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93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Rxns &amp; Selectivity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(multi-keyhole)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1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2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Selectivity S = r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ₑₛᵢᵣₑ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 / rᵤₙ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ₑₛᵢᵣₑ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3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4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DOOR with multiple keyholes: insert key carefully to open DESIRED lock only (maximize selectivity 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5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7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Desired lock = target rxn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8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Rate of 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formation r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d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ₑₛᵢᵣₑ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9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1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Other locks = side rxns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2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Undesired parallel/series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reactions consuming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3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4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5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PFR favors higher-order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6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Cₐ in PFR benefits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higher-order desired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5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59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196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Langmuir-Hinshelwood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(dual-key)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5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6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r = k·Kₐ·Cₐ·Kᵦ·Cᵦ / (1 + Kₐ·Cₐ + Kᵦ·Cᵦ)²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7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8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DOOR: two keys (A,B) must BOTH be inserted (both adsorb on surface) before door opens (reaction!).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9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1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Key A adsorbs → Kₐ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Reactant A adsorbs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catalyst active 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3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4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5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Key B adsorbs → Kᵦ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6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Reactant B adsorbs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adjacent catalyst 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7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9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Both in → reaction!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0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reaction between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 adsorbed species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8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83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198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Thiele Modulus &amp; 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Chair (foam)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9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d93d"/>
                </a:solidFill>
                <a:latin typeface="Consolas"/>
                <a:ea typeface="Consolas"/>
              </a:rPr>
              <a:t>Φ = R√(k/Dₑ)  |  η = tanh(Φ)/Φ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1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2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CHAIR foam cushion: must press through foam (pore diffusion) to reach base (active site). Deep = low η.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3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5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Thick foam = high Φ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6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Thiele: reaction fast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relative to diffusion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7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9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η &lt;&lt; 1 (diffusion limited)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0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Effectiveness factor low: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interior sites starved of reactant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1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3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Small pellet → η ≈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4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Reduce particle size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eliminate diffusion limitation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0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07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00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Isothermal Batch Reactor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Chair (sit &amp; wait)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t = Cₐ₀ ∫dX / (−rₐ)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CHAIR: sit down (load reactants), wait time t for conversion X, stand up (unload). No one enters!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Sit down = load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Charge reactor with initial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Cₐ₀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3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Wait time t for 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4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Integrate design equation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find required batch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5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Stand up = unload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Remove products after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desired conversion achieved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3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31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03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CSTR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Cafeteria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7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8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V = Fₐ₀ · X / (−rₐ)|ₑₓᵢₜ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9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0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Cafeteria CHAIR: always occupied, well-mixed. Exit = reactor concentration. Rate at EXIT conditions!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1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Continuous in/out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Steady flow: feed enters,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 exits continuously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5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7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Well-mixed → Cₑₓᵢₜ=Cᵣₑₐ</a:t>
            </a:r>
            <a:r>
              <a:rPr b="1" lang="en-US" sz="600" spc="-1" strike="noStrike">
                <a:solidFill>
                  <a:srgbClr val="ff6b6b"/>
                </a:solidFill>
                <a:latin typeface="Calibri"/>
                <a:ea typeface="Calibri"/>
              </a:rPr>
              <a:t>c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ₜₒᵣ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8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Perfect mixing: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uniform throughout tank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9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0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Rate at EXIT conditions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rₐ evaluated at exit (low)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→ larger V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5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55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05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PFR (Plug Flow Reactor)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Queue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1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V/Fₐ₀ = ∫(₀→X) dX / (−rₐ)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3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4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CHAIR in a queue: first in, first out. Each fluid element waits exactly V/Q time. No mixing, no cutting!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5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7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Enter front (inlet)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8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enters at one end;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highest here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9" name="Shape 13"/>
          <p:cNvSpPr/>
          <p:nvPr/>
        </p:nvSpPr>
        <p:spPr>
          <a:xfrm>
            <a:off x="525780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0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1" name="Text 15"/>
          <p:cNvSpPr/>
          <p:nvPr/>
        </p:nvSpPr>
        <p:spPr>
          <a:xfrm>
            <a:off x="640080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Exit back (outlet)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2" name="Text 16"/>
          <p:cNvSpPr/>
          <p:nvPr/>
        </p:nvSpPr>
        <p:spPr>
          <a:xfrm>
            <a:off x="640080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Products exit after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traveling full reactor length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3" name="Shape 17"/>
          <p:cNvSpPr/>
          <p:nvPr/>
        </p:nvSpPr>
        <p:spPr>
          <a:xfrm>
            <a:off x="4983480" y="18745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5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PFR &gt; CSTR for same 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6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PFR always smaller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positive-order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7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79" name="Picture 1" descr=""/>
          <p:cNvPicPr/>
          <p:nvPr/>
        </p:nvPicPr>
        <p:blipFill>
          <a:blip r:embed="rId3"/>
          <a:stretch/>
        </p:blipFill>
        <p:spPr>
          <a:xfrm>
            <a:off x="2971080" y="936000"/>
            <a:ext cx="2835000" cy="1512720"/>
          </a:xfrm>
          <a:prstGeom prst="rect">
            <a:avLst/>
          </a:prstGeom>
          <a:ln w="0">
            <a:noFill/>
          </a:ln>
        </p:spPr>
      </p:pic>
      <p:sp>
        <p:nvSpPr>
          <p:cNvPr id="208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Semibatch Reactor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📚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Shelf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5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6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dNₐ/dt = Fₐ,ᵢₙ + rₐ · V   (variable V)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7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8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WALL SHELF: start empty (A inside), add books (B) over time. Controlled addition prevents overload.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1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 already in reactor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2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reactant initially charged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as batch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3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4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5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Add B slowly over 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6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reactant fed gradually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control selectivity/temperature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7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8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9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Controls selectivity &amp; heat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0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 Cᵦ maintains 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selectivity for 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0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03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10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PFR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(PFR view)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9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0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dT/dV = [Q̇ − ΔHᵣₓₙ·rₐ] / (Fₐ₀·ΣΘᵢCₚᵢ)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1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2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Look through PFR window: T and X change together (coupled ODEs). Hot exothermic PFR fogs the window!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3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5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T(z) profile visible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6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varies along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reactor length z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7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9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Exothermic: T ↑ along 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0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Risk of hot spot: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runaway if cooling insufficient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1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3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Coupled: dX/dV &amp; dT/dV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4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Solve simultaneously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numerical ODE solver (RK4)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2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27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12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CSTR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(CSTR)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3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4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G(T) = R(T)  [heat generation = heat removal at SS]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6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Heat generated G (S-curve) vs heat removed R (line). Intersections = steady state(s)!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7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9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G(T) = heat generation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0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S-shaped curve from Arrhenius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dependence of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1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R(T) = heat removal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4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Linear: ṁCₚ(T−T₀)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+ UA(T−Tₐ) from cooling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5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7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Intersection =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8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Where G=R: possible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multiple intersections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5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51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15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Steady States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7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8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dG/dT &gt; dR/dT → unstable  |  Ignition &amp; extinction points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9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0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WALL LAMP: ON (high-T SS) or OFF (low-T SS). Flick switch → jumps between states. Bistability!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1" name="Shape 9"/>
          <p:cNvSpPr/>
          <p:nvPr/>
        </p:nvSpPr>
        <p:spPr>
          <a:xfrm>
            <a:off x="333756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2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3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ON = high-T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4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Upper stable operating point: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conversion, high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5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6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7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OFF = low-T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8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Lower stable point: 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conversion, near feed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9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0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Bistability + hysteresis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Path to SS depends on history: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ignition ≠ extinction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7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75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741040" cy="2283840"/>
          </a:xfrm>
          <a:prstGeom prst="rect">
            <a:avLst/>
          </a:prstGeom>
          <a:ln w="0">
            <a:noFill/>
          </a:ln>
        </p:spPr>
      </p:pic>
      <p:sp>
        <p:nvSpPr>
          <p:cNvPr id="217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Packed Bed Pressure Drop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1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2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Ergun: −dP/dz = 150μu(1−ε)²/(Dₚε³) + 1.75ρu²(1−ε)/(Dₚε³)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3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Gas pushes UP through bulb filaments (packing). Pressure drops fighting through. Ergun quantifies.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5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6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7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flow ↑ through bed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8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Superficial velocity u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particle-packed column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9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0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1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Packing = resistance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2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Viscous (Blake-Kozeny)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inertial (Burke-Plummer) terms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3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4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5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ε = void fraction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6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Bed porosity (0.35-0.5):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fraction of bed that is empty space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9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99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220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PSSH &amp; Rate-Determining Step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Glass Door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5" name="Shape 5"/>
          <p:cNvSpPr/>
          <p:nvPr/>
        </p:nvSpPr>
        <p:spPr>
          <a:xfrm>
            <a:off x="457200" y="32004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6" name="Text 6"/>
          <p:cNvSpPr/>
          <p:nvPr/>
        </p:nvSpPr>
        <p:spPr>
          <a:xfrm>
            <a:off x="548640" y="32004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PSSH: d[I]/dt ≈ 0  |  Rate = rate of RDS (slowest step)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7" name="Shape 7"/>
          <p:cNvSpPr/>
          <p:nvPr/>
        </p:nvSpPr>
        <p:spPr>
          <a:xfrm>
            <a:off x="274320" y="37033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8" name="Text 8"/>
          <p:cNvSpPr/>
          <p:nvPr/>
        </p:nvSpPr>
        <p:spPr>
          <a:xfrm>
            <a:off x="365760" y="37033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GLASS DOOR: see-through → intermediates transparent (pseudo-steady). RDS = how fast door opens.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9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0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1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See-through = PSSH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2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Reactive intermediate concentration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approximately constant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3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4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5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Door speed = RDS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6" name="Text 16"/>
          <p:cNvSpPr/>
          <p:nvPr/>
        </p:nvSpPr>
        <p:spPr>
          <a:xfrm>
            <a:off x="6103080" y="1316880"/>
            <a:ext cx="24901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Rate-determining step: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slowest elementary step = bottleneck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7" name="Shape 17"/>
          <p:cNvSpPr/>
          <p:nvPr/>
        </p:nvSpPr>
        <p:spPr>
          <a:xfrm>
            <a:off x="5257800" y="224028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8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9" name="Text 19"/>
          <p:cNvSpPr/>
          <p:nvPr/>
        </p:nvSpPr>
        <p:spPr>
          <a:xfrm>
            <a:off x="640080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Solve for [I], simplify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0" name="Text 20"/>
          <p:cNvSpPr/>
          <p:nvPr/>
        </p:nvSpPr>
        <p:spPr>
          <a:xfrm>
            <a:off x="640080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Set d[I]/dt=0, eliminate [I]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overall rate expression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Enzyme Kinetics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Towel Rack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26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227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8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r = Vₘₐₓ · [S] / (Kₘ + [S])   [Michaelis-Menten]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9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0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TOWEL RACK: hooks (enzyme active sites) grab towels (substrate). All hooks busy → Vₘₐₓ (saturated).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1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2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3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Hooks = active sites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4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Enzyme's catalytic sites: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limited number available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5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6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7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Towels = substrate [S]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8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Substrate concentration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reaction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9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0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1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Kₘ = [S] at r = Vₘₐₓ/2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2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Michaelis constant: substrate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conc. giving half-max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3" name="Text 21"/>
          <p:cNvSpPr/>
          <p:nvPr/>
        </p:nvSpPr>
        <p:spPr>
          <a:xfrm>
            <a:off x="2530440" y="4445280"/>
            <a:ext cx="3900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00e5a0"/>
                </a:solidFill>
                <a:latin typeface="Calibri"/>
              </a:rPr>
              <a:t>Lineweaver-Burk: 1/r = Kₘ/(Vₘₐₓ[S]) + 1/Vₘₐₓ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Polymerization Kinetics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🧶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Bath Mat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250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1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Rₚ = kₚ·[M]·√(2Rᵢ/kₜ)   |   Chain growth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2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3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BATH MAT: individual fibres (monomers) woven into long chains (polymer). Init → Prop → Termination.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4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Single fibre = monomer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Monomer [M] consumed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propagation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8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9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0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Woven mat = polymer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1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Growing chains build molecular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weight via propagation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2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3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Init → Prop → Term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Three stages: radical generation,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chain growth, chain termination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Solving ODEs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7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272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3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Euler: yₙ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+</a:t>
            </a: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₁ = yₙ + h·f(tₙ, yₙ)  |  RK4: 4 stages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4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5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FLOOR LAMP: follow power cord from plug (t = 0) to bulb (t = final). Each cord step = Euler/RK step.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6" name="Shape 9"/>
          <p:cNvSpPr/>
          <p:nvPr/>
        </p:nvSpPr>
        <p:spPr>
          <a:xfrm>
            <a:off x="3154680" y="19659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7" name="Shape 10"/>
          <p:cNvSpPr/>
          <p:nvPr/>
        </p:nvSpPr>
        <p:spPr>
          <a:xfrm>
            <a:off x="2468880" y="1206720"/>
            <a:ext cx="731520" cy="8049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Plug (t=0) = initial cond.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point y₀ at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t₀ (known initial value)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0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1" name="Shape 14"/>
          <p:cNvSpPr/>
          <p:nvPr/>
        </p:nvSpPr>
        <p:spPr>
          <a:xfrm>
            <a:off x="2468880" y="202968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2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Steps along cord =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3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Step size h: smaller = more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accurate but more computation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4" name="Shape 17"/>
          <p:cNvSpPr/>
          <p:nvPr/>
        </p:nvSpPr>
        <p:spPr>
          <a:xfrm>
            <a:off x="5440680" y="11430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5" name="Shape 18"/>
          <p:cNvSpPr/>
          <p:nvPr/>
        </p:nvSpPr>
        <p:spPr>
          <a:xfrm flipH="1" flipV="1">
            <a:off x="5486400" y="1188720"/>
            <a:ext cx="914400" cy="109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Bulb = final answer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Solution y(t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final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) obtained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after marching through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28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290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291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2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3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4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Residence Time Distribution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5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6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7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E(t) distribution  |  τ = V/Q  |  PFR: δ(t−τ)  CSTR: e</a:t>
            </a:r>
            <a:r>
              <a:rPr b="1" lang="en-US" sz="18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⁻t/τ</a:t>
            </a: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/τ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8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9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How long does each photon (molecule) stay in the room (reactor)? RTD = distribution of residence times.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0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1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Photon in = tracer injection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Pulse or step input of tracer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characterize non-ideal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4" name="Shape 13"/>
          <p:cNvSpPr/>
          <p:nvPr/>
        </p:nvSpPr>
        <p:spPr>
          <a:xfrm>
            <a:off x="5440680" y="150876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5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6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E(t) = exit age dist.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7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Probability distribution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residence times in the reactor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8" name="Shape 17"/>
          <p:cNvSpPr/>
          <p:nvPr/>
        </p:nvSpPr>
        <p:spPr>
          <a:xfrm>
            <a:off x="5257800" y="224028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9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0" name="Text 19"/>
          <p:cNvSpPr/>
          <p:nvPr/>
        </p:nvSpPr>
        <p:spPr>
          <a:xfrm>
            <a:off x="640080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σ² = spread/mixing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1" name="Text 20"/>
          <p:cNvSpPr/>
          <p:nvPr/>
        </p:nvSpPr>
        <p:spPr>
          <a:xfrm>
            <a:off x="640080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Variance measures departure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ideal PFR or CSTR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31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314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600" cy="1979640"/>
          </a:xfrm>
          <a:prstGeom prst="rect">
            <a:avLst/>
          </a:prstGeom>
          <a:ln w="0">
            <a:noFill/>
          </a:ln>
        </p:spPr>
      </p:pic>
      <p:sp>
        <p:nvSpPr>
          <p:cNvPr id="2315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6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7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8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Polymerization Reactors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9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0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1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Gel effect (Trommsdorff): viscosity ↑ → kₜ ↓ → auto-acceleration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2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3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Watch polymer forming through window. Gel effect = window fogs up (viscosity ↑ dramatically).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4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Window fogs = gel effect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Viscosity increase slows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termination → rate accelerates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8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CSTR → Flory-Schulz MWD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Backmixed gives broader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MW distribution (PDI≈2)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2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PFR → narrow MWD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Plug flow: all chains see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residence time → narrow PDI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33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338" name="Picture 2" descr=""/>
          <p:cNvPicPr/>
          <p:nvPr/>
        </p:nvPicPr>
        <p:blipFill>
          <a:blip r:embed="rId3"/>
          <a:stretch/>
        </p:blipFill>
        <p:spPr>
          <a:xfrm>
            <a:off x="3556080" y="936720"/>
            <a:ext cx="1928880" cy="1928880"/>
          </a:xfrm>
          <a:prstGeom prst="rect">
            <a:avLst/>
          </a:prstGeom>
          <a:ln w="0">
            <a:noFill/>
          </a:ln>
        </p:spPr>
      </p:pic>
      <p:sp>
        <p:nvSpPr>
          <p:cNvPr id="2339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0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1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2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Batch Distillation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3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Fridge Drawer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4" name="Shape 5"/>
          <p:cNvSpPr/>
          <p:nvPr/>
        </p:nvSpPr>
        <p:spPr>
          <a:xfrm>
            <a:off x="457200" y="36118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5" name="Text 6"/>
          <p:cNvSpPr/>
          <p:nvPr/>
        </p:nvSpPr>
        <p:spPr>
          <a:xfrm>
            <a:off x="548640" y="36118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Rayleigh: ln(L/L₀) = ∫dx / (y* − x)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6" name="Shape 7"/>
          <p:cNvSpPr/>
          <p:nvPr/>
        </p:nvSpPr>
        <p:spPr>
          <a:xfrm>
            <a:off x="274320" y="41148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7" name="Text 8"/>
          <p:cNvSpPr/>
          <p:nvPr/>
        </p:nvSpPr>
        <p:spPr>
          <a:xfrm>
            <a:off x="365760" y="41148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FRIDGE DRAWER: lighter volatiles float up first. Still pot gets heavier as lights are removed.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8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0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Light comp. rises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1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More volatile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enriched in distillate overhead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2" name="Shape 13"/>
          <p:cNvSpPr/>
          <p:nvPr/>
        </p:nvSpPr>
        <p:spPr>
          <a:xfrm>
            <a:off x="379476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3" name="Shape 14"/>
          <p:cNvSpPr/>
          <p:nvPr/>
        </p:nvSpPr>
        <p:spPr>
          <a:xfrm>
            <a:off x="2468880" y="2121120"/>
            <a:ext cx="13716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4" name="Text 15"/>
          <p:cNvSpPr/>
          <p:nvPr/>
        </p:nvSpPr>
        <p:spPr>
          <a:xfrm>
            <a:off x="274320" y="20116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Pot gets heavier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5" name="Text 16"/>
          <p:cNvSpPr/>
          <p:nvPr/>
        </p:nvSpPr>
        <p:spPr>
          <a:xfrm>
            <a:off x="274320" y="2231280"/>
            <a:ext cx="2276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Still pot composition shifts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toward less volatile as batch proceeds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6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7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8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Rayleigh tracks this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9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Integrate along VLE curve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find remaining pot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Multistage Distillation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🏗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Column (stairs)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65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520" cy="2009520"/>
          </a:xfrm>
          <a:prstGeom prst="rect">
            <a:avLst/>
          </a:prstGeom>
          <a:ln w="0">
            <a:noFill/>
          </a:ln>
        </p:spPr>
      </p:pic>
      <p:sp>
        <p:nvSpPr>
          <p:cNvPr id="2366" name="Shape 5"/>
          <p:cNvSpPr/>
          <p:nvPr/>
        </p:nvSpPr>
        <p:spPr>
          <a:xfrm>
            <a:off x="457200" y="292608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7" name="Text 6"/>
          <p:cNvSpPr/>
          <p:nvPr/>
        </p:nvSpPr>
        <p:spPr>
          <a:xfrm>
            <a:off x="548640" y="292608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y = R/(R+1)·x + x</a:t>
            </a:r>
            <a:r>
              <a:rPr b="1" lang="en-US" sz="24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ᴅ</a:t>
            </a:r>
            <a:r>
              <a:rPr b="1" lang="en-US" sz="2400" spc="-1" strike="noStrike">
                <a:solidFill>
                  <a:srgbClr val="ffd93d"/>
                </a:solidFill>
                <a:latin typeface="Consolas"/>
                <a:ea typeface="Consolas"/>
              </a:rPr>
              <a:t>/(R+1)   [Operating line]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8" name="Shape 7"/>
          <p:cNvSpPr/>
          <p:nvPr/>
        </p:nvSpPr>
        <p:spPr>
          <a:xfrm>
            <a:off x="274320" y="342900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9" name="Text 8"/>
          <p:cNvSpPr/>
          <p:nvPr/>
        </p:nvSpPr>
        <p:spPr>
          <a:xfrm>
            <a:off x="365760" y="342900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Climbing stairs (stages): each stair gets closer to pure product. More stairs or higher R = higher purity.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0" name="Shape 9"/>
          <p:cNvSpPr/>
          <p:nvPr/>
        </p:nvSpPr>
        <p:spPr>
          <a:xfrm>
            <a:off x="36118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1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2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Each stair = 1 equil. stage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3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stage: leaving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streams in VLE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4" name="Shape 13"/>
          <p:cNvSpPr/>
          <p:nvPr/>
        </p:nvSpPr>
        <p:spPr>
          <a:xfrm>
            <a:off x="3794760" y="18745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5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6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Higher R → more purity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7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Reflux ratio trades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cost for product purity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8" name="Shape 17"/>
          <p:cNvSpPr/>
          <p:nvPr/>
        </p:nvSpPr>
        <p:spPr>
          <a:xfrm>
            <a:off x="525780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9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0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Fenske: Nₘᵢₙ at total 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1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Minimum stages at total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reflux (max separation power)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McCabe-Thiele Diagram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7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3840" cy="2558160"/>
          </a:xfrm>
          <a:prstGeom prst="rect">
            <a:avLst/>
          </a:prstGeom>
          <a:ln w="0">
            <a:noFill/>
          </a:ln>
        </p:spPr>
      </p:pic>
      <p:sp>
        <p:nvSpPr>
          <p:cNvPr id="2388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9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Rect: y = R/(R+1)·x + x</a:t>
            </a:r>
            <a:r>
              <a:rPr b="1" lang="en-US" sz="20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ᴅ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/(R+1)  |  q-line for feed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0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1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WALL LAMP illuminates McCabe-Thiele diagram. Count staircase steps between operating line and equil. curve.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2" name="Shape 9"/>
          <p:cNvSpPr/>
          <p:nvPr/>
        </p:nvSpPr>
        <p:spPr>
          <a:xfrm>
            <a:off x="333756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3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4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Staircase = stages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5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step between op.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equil. curve = 1 stage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6" name="Shape 13"/>
          <p:cNvSpPr/>
          <p:nvPr/>
        </p:nvSpPr>
        <p:spPr>
          <a:xfrm>
            <a:off x="3611880" y="23317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7" name="Shape 14"/>
          <p:cNvSpPr/>
          <p:nvPr/>
        </p:nvSpPr>
        <p:spPr>
          <a:xfrm>
            <a:off x="2468880" y="193824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8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q-line: feed condition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9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q=1: sat. liquid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q=0: sat. vapor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0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1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Count steps = N stages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Graphical determination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total theoretical trays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Absorption Columns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🏭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Column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9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3840" cy="2558160"/>
          </a:xfrm>
          <a:prstGeom prst="rect">
            <a:avLst/>
          </a:prstGeom>
          <a:ln w="0">
            <a:noFill/>
          </a:ln>
        </p:spPr>
      </p:pic>
      <p:sp>
        <p:nvSpPr>
          <p:cNvPr id="2410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1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Z = NOG × HOG  |  NOG = ∫dy/(y − y*)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2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3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Car wash: dirty gas flows up, clean solvent flows down. Each wash zone = 1 transfer unit. Counter-current!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4" name="Shape 9"/>
          <p:cNvSpPr/>
          <p:nvPr/>
        </p:nvSpPr>
        <p:spPr>
          <a:xfrm>
            <a:off x="333756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5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6" name="Text 11"/>
          <p:cNvSpPr/>
          <p:nvPr/>
        </p:nvSpPr>
        <p:spPr>
          <a:xfrm>
            <a:off x="274320" y="10058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UP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7" name="Text 12"/>
          <p:cNvSpPr/>
          <p:nvPr/>
        </p:nvSpPr>
        <p:spPr>
          <a:xfrm>
            <a:off x="274320" y="12254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phase flows upward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through packed column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8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9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0" name="Text 15"/>
          <p:cNvSpPr/>
          <p:nvPr/>
        </p:nvSpPr>
        <p:spPr>
          <a:xfrm>
            <a:off x="274320" y="182880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Liquid DOWN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1" name="Text 16"/>
          <p:cNvSpPr/>
          <p:nvPr/>
        </p:nvSpPr>
        <p:spPr>
          <a:xfrm>
            <a:off x="274320" y="204840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Solvent flows down: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component at each height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2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3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4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Counter-current = max ΔC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5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Opposing flows maximize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driving force for mass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Stripping Columns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Corner 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1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3840" cy="2558160"/>
          </a:xfrm>
          <a:prstGeom prst="rect">
            <a:avLst/>
          </a:prstGeom>
          <a:ln w="0">
            <a:noFill/>
          </a:ln>
        </p:spPr>
      </p:pic>
      <p:sp>
        <p:nvSpPr>
          <p:cNvPr id="2432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3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Stripping factor S = mG/L   |   S &gt; 1 for effective stripping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4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5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CABINET: strips out hard-to-reach dissolved gases from liquid. Reverse of absorption.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6" name="Shape 9"/>
          <p:cNvSpPr/>
          <p:nvPr/>
        </p:nvSpPr>
        <p:spPr>
          <a:xfrm>
            <a:off x="333756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7" name="Shape 10"/>
          <p:cNvSpPr/>
          <p:nvPr/>
        </p:nvSpPr>
        <p:spPr>
          <a:xfrm>
            <a:off x="2468880" y="1206720"/>
            <a:ext cx="9144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Dissolved gas = hiding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Dissolved solute in liquid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needs to be removed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0" name="Shape 13"/>
          <p:cNvSpPr/>
          <p:nvPr/>
        </p:nvSpPr>
        <p:spPr>
          <a:xfrm>
            <a:off x="3611880" y="251460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1" name="Shape 14"/>
          <p:cNvSpPr/>
          <p:nvPr/>
        </p:nvSpPr>
        <p:spPr>
          <a:xfrm>
            <a:off x="2468880" y="202968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2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Stripping = pulls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3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Strip gas (steam, air) contacts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to drive out dissolved gas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4" name="Shape 17"/>
          <p:cNvSpPr/>
          <p:nvPr/>
        </p:nvSpPr>
        <p:spPr>
          <a:xfrm>
            <a:off x="525780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5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6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 &gt; 1 → effective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7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Stripping factor &gt; 1 ensures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enough driving force for removal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Hunter-Nash (LLE)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Ternary triangle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5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3920" cy="2375280"/>
          </a:xfrm>
          <a:prstGeom prst="rect">
            <a:avLst/>
          </a:prstGeom>
          <a:ln w="0">
            <a:noFill/>
          </a:ln>
        </p:spPr>
      </p:pic>
      <p:sp>
        <p:nvSpPr>
          <p:cNvPr id="2454" name="Shape 5"/>
          <p:cNvSpPr/>
          <p:nvPr/>
        </p:nvSpPr>
        <p:spPr>
          <a:xfrm>
            <a:off x="457200" y="329184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5" name="Text 6"/>
          <p:cNvSpPr/>
          <p:nvPr/>
        </p:nvSpPr>
        <p:spPr>
          <a:xfrm>
            <a:off x="548640" y="329184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d93d"/>
                </a:solidFill>
                <a:latin typeface="Consolas"/>
                <a:ea typeface="Consolas"/>
              </a:rPr>
              <a:t>F + S = R + E  |  Operating point on extended (F,S) line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6" name="Shape 7"/>
          <p:cNvSpPr/>
          <p:nvPr/>
        </p:nvSpPr>
        <p:spPr>
          <a:xfrm>
            <a:off x="274320" y="379476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7" name="Text 8"/>
          <p:cNvSpPr/>
          <p:nvPr/>
        </p:nvSpPr>
        <p:spPr>
          <a:xfrm>
            <a:off x="365760" y="379476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Ternary triangle = map. Operating point = compass bearing. Each extraction = one step on triangle.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8" name="Shape 9"/>
          <p:cNvSpPr/>
          <p:nvPr/>
        </p:nvSpPr>
        <p:spPr>
          <a:xfrm>
            <a:off x="3154680" y="150876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9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mixture of solute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carrier to be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2" name="Shape 13"/>
          <p:cNvSpPr/>
          <p:nvPr/>
        </p:nvSpPr>
        <p:spPr>
          <a:xfrm>
            <a:off x="3611880" y="242316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3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4" name="Text 15"/>
          <p:cNvSpPr/>
          <p:nvPr/>
        </p:nvSpPr>
        <p:spPr>
          <a:xfrm>
            <a:off x="274320" y="192024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Solvent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5" name="Text 16"/>
          <p:cNvSpPr/>
          <p:nvPr/>
        </p:nvSpPr>
        <p:spPr>
          <a:xfrm>
            <a:off x="274320" y="213984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Immiscible solvent selectively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extracts the solute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6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7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8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Step between tie 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9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Connect operating point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tie lines to count stages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Single-Effect Evaporator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☁️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Evaporator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7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2476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7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F = L + V  |  F·x</a:t>
            </a:r>
            <a:r>
              <a:rPr b="1" lang="en-US" sz="1500" spc="-1" strike="noStrike">
                <a:solidFill>
                  <a:srgbClr val="ffd93d"/>
                </a:solidFill>
                <a:latin typeface="Consolas"/>
                <a:ea typeface="Consolas"/>
              </a:rPr>
              <a:t>ꜰ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 = L·x</a:t>
            </a: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ₗ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  |  SE = V/S ≈ 0.8-0.9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8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9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600" spc="-1" strike="noStrike">
                <a:solidFill>
                  <a:srgbClr val="00e5a0"/>
                </a:solidFill>
                <a:latin typeface="Calibri"/>
                <a:ea typeface="Calibri"/>
              </a:rPr>
              <a:t>Single pot of soup: steam heats pot (F), water evaporates (V), soup concentrates (L).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0" name="Shape 9"/>
          <p:cNvSpPr/>
          <p:nvPr/>
        </p:nvSpPr>
        <p:spPr>
          <a:xfrm>
            <a:off x="3154680" y="16002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Dilute solution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evaporator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4" name="Shape 13"/>
          <p:cNvSpPr/>
          <p:nvPr/>
        </p:nvSpPr>
        <p:spPr>
          <a:xfrm>
            <a:off x="3611880" y="8686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5" name="Shape 14"/>
          <p:cNvSpPr/>
          <p:nvPr/>
        </p:nvSpPr>
        <p:spPr>
          <a:xfrm flipV="1">
            <a:off x="2468880" y="914400"/>
            <a:ext cx="1188720" cy="8409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6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Vapor V out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7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Water evaporated off: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driven by steam heating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8" name="Shape 17"/>
          <p:cNvSpPr/>
          <p:nvPr/>
        </p:nvSpPr>
        <p:spPr>
          <a:xfrm>
            <a:off x="5440680" y="25146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9" name="Shape 18"/>
          <p:cNvSpPr/>
          <p:nvPr/>
        </p:nvSpPr>
        <p:spPr>
          <a:xfrm flipH="1">
            <a:off x="5486400" y="1755360"/>
            <a:ext cx="914400" cy="8049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0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Conc. liquid L out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1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Concentrated product stream: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F·x</a:t>
            </a:r>
            <a:r>
              <a:rPr b="0" lang="en-US" sz="900" spc="-1" strike="noStrike">
                <a:solidFill>
                  <a:srgbClr val="e8ecf1"/>
                </a:solidFill>
                <a:latin typeface="Calibri"/>
                <a:ea typeface="Calibri"/>
              </a:rPr>
              <a:t>ꜰ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= L·xₗ (solute balance)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Multi-Effect Evaporator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☁️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×3 Triple Effect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3920" cy="2558160"/>
          </a:xfrm>
          <a:prstGeom prst="rect">
            <a:avLst/>
          </a:prstGeom>
          <a:ln w="0">
            <a:noFill/>
          </a:ln>
        </p:spPr>
      </p:pic>
      <p:sp>
        <p:nvSpPr>
          <p:cNvPr id="2498" name="Shape 5"/>
          <p:cNvSpPr/>
          <p:nvPr/>
        </p:nvSpPr>
        <p:spPr>
          <a:xfrm>
            <a:off x="457200" y="342900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9" name="Text 6"/>
          <p:cNvSpPr/>
          <p:nvPr/>
        </p:nvSpPr>
        <p:spPr>
          <a:xfrm>
            <a:off x="548640" y="342900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d93d"/>
                </a:solidFill>
                <a:latin typeface="Consolas"/>
                <a:ea typeface="Consolas"/>
              </a:rPr>
              <a:t>SE ≈ N  (N effects → N times better steam economy)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0" name="Shape 7"/>
          <p:cNvSpPr/>
          <p:nvPr/>
        </p:nvSpPr>
        <p:spPr>
          <a:xfrm>
            <a:off x="274320" y="393192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1" name="Text 8"/>
          <p:cNvSpPr/>
          <p:nvPr/>
        </p:nvSpPr>
        <p:spPr>
          <a:xfrm>
            <a:off x="365760" y="393192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Three pots in series: steam from pot 1 heats pot 2, from 2 heats 3. Energy recycled between effects!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2" name="Shape 9"/>
          <p:cNvSpPr/>
          <p:nvPr/>
        </p:nvSpPr>
        <p:spPr>
          <a:xfrm>
            <a:off x="3154680" y="114300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3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Effect 1: fresh steam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Live steam input: highest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 and P in the series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6" name="Shape 13"/>
          <p:cNvSpPr/>
          <p:nvPr/>
        </p:nvSpPr>
        <p:spPr>
          <a:xfrm>
            <a:off x="3611880" y="178308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7" name="Shape 14"/>
          <p:cNvSpPr/>
          <p:nvPr/>
        </p:nvSpPr>
        <p:spPr>
          <a:xfrm flipV="1">
            <a:off x="2468880" y="1828800"/>
            <a:ext cx="1188720" cy="180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8" name="Text 15"/>
          <p:cNvSpPr/>
          <p:nvPr/>
        </p:nvSpPr>
        <p:spPr>
          <a:xfrm>
            <a:off x="274320" y="173736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Effect 2: uses vapor from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9" name="Text 16"/>
          <p:cNvSpPr/>
          <p:nvPr/>
        </p:nvSpPr>
        <p:spPr>
          <a:xfrm>
            <a:off x="274320" y="195696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from effect 1 serves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as heating medium for effect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0" name="Shape 17"/>
          <p:cNvSpPr/>
          <p:nvPr/>
        </p:nvSpPr>
        <p:spPr>
          <a:xfrm>
            <a:off x="5440680" y="160020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2" name="Text 19"/>
          <p:cNvSpPr/>
          <p:nvPr/>
        </p:nvSpPr>
        <p:spPr>
          <a:xfrm>
            <a:off x="6400800" y="11887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Effect 3: uses vapor from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3" name="Text 20"/>
          <p:cNvSpPr/>
          <p:nvPr/>
        </p:nvSpPr>
        <p:spPr>
          <a:xfrm>
            <a:off x="6400800" y="14083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Cascading: each subsequent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effect runs at lower T and 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5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6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7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Lumped Capacitance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8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🕯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Candle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19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2520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1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T(t) = T</a:t>
            </a:r>
            <a:r>
              <a:rPr b="1" lang="en-US" sz="2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∞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 + (Tᵢ − T</a:t>
            </a:r>
            <a:r>
              <a:rPr b="1" lang="en-US" sz="26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∞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)·exp(−t/τ)  |  Bi = hL</a:t>
            </a:r>
            <a:r>
              <a:rPr b="1" lang="en-US" sz="20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2000" spc="-1" strike="noStrike">
                <a:solidFill>
                  <a:srgbClr val="ffd93d"/>
                </a:solidFill>
                <a:latin typeface="Consolas"/>
                <a:ea typeface="Consolas"/>
              </a:rPr>
              <a:t>/k &lt; 0.1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2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3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CANDLE: small object, uniform T everywhere (lumped). Blow out → T drops exponentially with time.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4" name="Shape 9"/>
          <p:cNvSpPr/>
          <p:nvPr/>
        </p:nvSpPr>
        <p:spPr>
          <a:xfrm>
            <a:off x="2880360" y="9601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5" name="Shape 10"/>
          <p:cNvSpPr/>
          <p:nvPr/>
        </p:nvSpPr>
        <p:spPr>
          <a:xfrm flipV="1">
            <a:off x="2468880" y="1005840"/>
            <a:ext cx="45720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6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Small object = B</a:t>
            </a:r>
            <a:r>
              <a:rPr b="1" lang="en-US" sz="700" spc="-1" strike="noStrike">
                <a:solidFill>
                  <a:srgbClr val="00b4d8"/>
                </a:solidFill>
                <a:latin typeface="Calibri"/>
                <a:ea typeface="Calibri"/>
              </a:rPr>
              <a:t>i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 &lt; 0.1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7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Biot number small: internal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conduction &gt;&gt; external convection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8" name="Shape 13"/>
          <p:cNvSpPr/>
          <p:nvPr/>
        </p:nvSpPr>
        <p:spPr>
          <a:xfrm>
            <a:off x="361188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9" name="Shape 14"/>
          <p:cNvSpPr/>
          <p:nvPr/>
        </p:nvSpPr>
        <p:spPr>
          <a:xfrm flipV="1">
            <a:off x="2468880" y="1463040"/>
            <a:ext cx="118872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0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Uniform T (lumped)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1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spatial gradient inside: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whole object at one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2" name="Shape 17"/>
          <p:cNvSpPr/>
          <p:nvPr/>
        </p:nvSpPr>
        <p:spPr>
          <a:xfrm>
            <a:off x="58978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3" name="Shape 18"/>
          <p:cNvSpPr/>
          <p:nvPr/>
        </p:nvSpPr>
        <p:spPr>
          <a:xfrm flipH="1" flipV="1">
            <a:off x="5943600" y="1005840"/>
            <a:ext cx="4572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4" name="Text 19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τ = ρV</a:t>
            </a:r>
            <a:r>
              <a:rPr b="1" lang="en-US" sz="900" spc="-1" strike="noStrike">
                <a:solidFill>
                  <a:srgbClr val="ff6b6b"/>
                </a:solidFill>
                <a:latin typeface="Calibri"/>
                <a:ea typeface="Calibri"/>
              </a:rPr>
              <a:t>c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/(h</a:t>
            </a:r>
            <a:r>
              <a:rPr b="1" lang="en-US" sz="700" spc="-1" strike="noStrike">
                <a:solidFill>
                  <a:srgbClr val="ff6b6b"/>
                </a:solidFill>
                <a:latin typeface="Calibri"/>
                <a:ea typeface="Calibri"/>
              </a:rPr>
              <a:t>A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5" name="Text 20"/>
          <p:cNvSpPr/>
          <p:nvPr/>
        </p:nvSpPr>
        <p:spPr>
          <a:xfrm>
            <a:off x="6216840" y="1316880"/>
            <a:ext cx="23763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time constant: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how fast object responds to T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7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8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9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Transient Conduction (Sphere)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0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🌐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Sphere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1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2542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3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Fo = αt/r₀²  |  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i</a:t>
            </a:r>
            <a:r>
              <a:rPr b="1" lang="en-US" sz="1600" spc="-1" strike="noStrike">
                <a:solidFill>
                  <a:srgbClr val="ffd93d"/>
                </a:solidFill>
                <a:latin typeface="Consolas"/>
                <a:ea typeface="Consolas"/>
              </a:rPr>
              <a:t> = hr₀/k  |  One-term approx. + Heisler charts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4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5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500" spc="-1" strike="noStrike">
                <a:solidFill>
                  <a:srgbClr val="00e5a0"/>
                </a:solidFill>
                <a:latin typeface="Calibri"/>
                <a:ea typeface="Calibri"/>
              </a:rPr>
              <a:t>Sphere cooling: surface cools fast, center stays hot. Fo tracks how far heat has diffused inward.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6" name="Shape 9"/>
          <p:cNvSpPr/>
          <p:nvPr/>
        </p:nvSpPr>
        <p:spPr>
          <a:xfrm>
            <a:off x="3154680" y="9601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7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8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Surface cools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9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Convection removes heat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outer surface immediately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0" name="Shape 13"/>
          <p:cNvSpPr/>
          <p:nvPr/>
        </p:nvSpPr>
        <p:spPr>
          <a:xfrm>
            <a:off x="54406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1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2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Center stays hot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3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Internal conduction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how fast heat reaches center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4" name="Shape 17"/>
          <p:cNvSpPr/>
          <p:nvPr/>
        </p:nvSpPr>
        <p:spPr>
          <a:xfrm>
            <a:off x="498348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5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6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Fo = αt/r₀²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7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Fourier number: dimensionless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conduction penetration depth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9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0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1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Semi-Infinite Solid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2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🏔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Mountain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63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2564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5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d93d"/>
                </a:solidFill>
                <a:latin typeface="Consolas"/>
                <a:ea typeface="Consolas"/>
              </a:rPr>
              <a:t>T(x,t) = Tₛ + (Tᵢ − Tₛ)·erf(x/√(4αt))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6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7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Heat wave at surface penetrates deeper with time. Error function = how far the temperature front moved.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8" name="Shape 9"/>
          <p:cNvSpPr/>
          <p:nvPr/>
        </p:nvSpPr>
        <p:spPr>
          <a:xfrm>
            <a:off x="31546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9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0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Surface: Tₛ applied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1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Sudden surface temperature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t=0 (step input)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2" name="Shape 13"/>
          <p:cNvSpPr/>
          <p:nvPr/>
        </p:nvSpPr>
        <p:spPr>
          <a:xfrm>
            <a:off x="5440680" y="9601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3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4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Penetration δ ≈ √(αt)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5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penetration depth grows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square root of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6" name="Shape 17"/>
          <p:cNvSpPr/>
          <p:nvPr/>
        </p:nvSpPr>
        <p:spPr>
          <a:xfrm>
            <a:off x="4983480" y="1417320"/>
            <a:ext cx="89280" cy="892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7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8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Beyond 2√(αt): undisturbed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9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erf(2)≈1: material at depth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&gt; 2√(αt) still at initial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1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2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3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Convection over Flat Plate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4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Flat 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5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2586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7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Nuₓ = 0.332·Reₓ</a:t>
            </a:r>
            <a:r>
              <a:rPr b="1" lang="en-US" sz="22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0.5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·Pr¹</a:t>
            </a:r>
            <a:r>
              <a:rPr b="1" lang="en-US" sz="22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2200" spc="-1" strike="noStrike">
                <a:solidFill>
                  <a:srgbClr val="ffd93d"/>
                </a:solidFill>
                <a:latin typeface="Consolas"/>
                <a:ea typeface="Consolas"/>
              </a:rPr>
              <a:t>³ (laminar)  |  h = Nu·k/L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8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9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Swimmer's hand: near wrist (leading edge) = thin laminar BL. Downstream fingertips → turbulent BL.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0" name="Shape 9"/>
          <p:cNvSpPr/>
          <p:nvPr/>
        </p:nvSpPr>
        <p:spPr>
          <a:xfrm>
            <a:off x="3154680" y="9601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1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2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Leading edge: thin BL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3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Near plate start: laminar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boundary layer develops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4" name="Shape 13"/>
          <p:cNvSpPr/>
          <p:nvPr/>
        </p:nvSpPr>
        <p:spPr>
          <a:xfrm>
            <a:off x="54406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5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6" name="Text 15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Downstream: turbulent BL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7" name="Text 16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Beyond Reₓ ≈ 5×10⁵: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turbulent with higher 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8" name="Shape 17"/>
          <p:cNvSpPr/>
          <p:nvPr/>
        </p:nvSpPr>
        <p:spPr>
          <a:xfrm>
            <a:off x="4983480" y="14173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9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0" name="Text 19"/>
          <p:cNvSpPr/>
          <p:nvPr/>
        </p:nvSpPr>
        <p:spPr>
          <a:xfrm>
            <a:off x="640080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Nu = hL/k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1" name="Text 20"/>
          <p:cNvSpPr/>
          <p:nvPr/>
        </p:nvSpPr>
        <p:spPr>
          <a:xfrm>
            <a:off x="640080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Nusselt number: dimensionless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transfer coefficient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Shape 0"/>
          <p:cNvSpPr/>
          <p:nvPr/>
        </p:nvSpPr>
        <p:spPr>
          <a:xfrm>
            <a:off x="0" y="0"/>
            <a:ext cx="9141840" cy="59220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3" name="Shape 1"/>
          <p:cNvSpPr/>
          <p:nvPr/>
        </p:nvSpPr>
        <p:spPr>
          <a:xfrm>
            <a:off x="274320" y="91440"/>
            <a:ext cx="409320" cy="40932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4" name="Text 2"/>
          <p:cNvSpPr/>
          <p:nvPr/>
        </p:nvSpPr>
        <p:spPr>
          <a:xfrm>
            <a:off x="274320" y="91440"/>
            <a:ext cx="409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5" name="Text 3"/>
          <p:cNvSpPr/>
          <p:nvPr/>
        </p:nvSpPr>
        <p:spPr>
          <a:xfrm>
            <a:off x="822960" y="73080"/>
            <a:ext cx="594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Free Convection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6" name="Text 4"/>
          <p:cNvSpPr/>
          <p:nvPr/>
        </p:nvSpPr>
        <p:spPr>
          <a:xfrm>
            <a:off x="6858000" y="73080"/>
            <a:ext cx="2100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Radiator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07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440" cy="1643760"/>
          </a:xfrm>
          <a:prstGeom prst="rect">
            <a:avLst/>
          </a:prstGeom>
          <a:ln w="0">
            <a:noFill/>
          </a:ln>
        </p:spPr>
      </p:pic>
      <p:sp>
        <p:nvSpPr>
          <p:cNvPr id="2608" name="Shape 5"/>
          <p:cNvSpPr/>
          <p:nvPr/>
        </p:nvSpPr>
        <p:spPr>
          <a:xfrm>
            <a:off x="457200" y="2560320"/>
            <a:ext cx="8227440" cy="45504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9" name="Text 6"/>
          <p:cNvSpPr/>
          <p:nvPr/>
        </p:nvSpPr>
        <p:spPr>
          <a:xfrm>
            <a:off x="548640" y="2560320"/>
            <a:ext cx="8044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d93d"/>
                </a:solidFill>
                <a:latin typeface="Consolas"/>
                <a:ea typeface="Consolas"/>
              </a:rPr>
              <a:t>Ra = Gr·Pr  |  Gr = gβ(Tₛ−T∞)L³/ν²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0" name="Shape 7"/>
          <p:cNvSpPr/>
          <p:nvPr/>
        </p:nvSpPr>
        <p:spPr>
          <a:xfrm>
            <a:off x="274320" y="3063240"/>
            <a:ext cx="8593200" cy="50076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1" name="Text 8"/>
          <p:cNvSpPr/>
          <p:nvPr/>
        </p:nvSpPr>
        <p:spPr>
          <a:xfrm>
            <a:off x="365760" y="3063240"/>
            <a:ext cx="8410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400" spc="-1" strike="noStrike">
                <a:solidFill>
                  <a:srgbClr val="00e5a0"/>
                </a:solidFill>
                <a:latin typeface="Calibri"/>
                <a:ea typeface="Calibri"/>
              </a:rPr>
              <a:t>Hot radiator: warm air rises (ρ↓), cold fills in below. Buoyancy ghost drives the flow. Gr = ghost strength.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2" name="Shape 9"/>
          <p:cNvSpPr/>
          <p:nvPr/>
        </p:nvSpPr>
        <p:spPr>
          <a:xfrm>
            <a:off x="3154680" y="960120"/>
            <a:ext cx="89280" cy="8928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3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4" name="Text 11"/>
          <p:cNvSpPr/>
          <p:nvPr/>
        </p:nvSpPr>
        <p:spPr>
          <a:xfrm>
            <a:off x="27432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Hot surface → ρ ↓ → rises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5" name="Text 12"/>
          <p:cNvSpPr/>
          <p:nvPr/>
        </p:nvSpPr>
        <p:spPr>
          <a:xfrm>
            <a:off x="27432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expansion reduces density: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buoyancy force drives upward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6" name="Shape 13"/>
          <p:cNvSpPr/>
          <p:nvPr/>
        </p:nvSpPr>
        <p:spPr>
          <a:xfrm>
            <a:off x="4069080" y="1417320"/>
            <a:ext cx="89280" cy="892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7" name="Shape 14"/>
          <p:cNvSpPr/>
          <p:nvPr/>
        </p:nvSpPr>
        <p:spPr>
          <a:xfrm flipV="1">
            <a:off x="2468880" y="1463040"/>
            <a:ext cx="1645920" cy="2923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8" name="Text 15"/>
          <p:cNvSpPr/>
          <p:nvPr/>
        </p:nvSpPr>
        <p:spPr>
          <a:xfrm>
            <a:off x="274320" y="164592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Cold fills in below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9" name="Text 16"/>
          <p:cNvSpPr/>
          <p:nvPr/>
        </p:nvSpPr>
        <p:spPr>
          <a:xfrm>
            <a:off x="274320" y="186552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Cooler denser air replaces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rising warm air (natural circulation)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0" name="Shape 17"/>
          <p:cNvSpPr/>
          <p:nvPr/>
        </p:nvSpPr>
        <p:spPr>
          <a:xfrm>
            <a:off x="5440680" y="960120"/>
            <a:ext cx="89280" cy="8928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1" name="Shape 18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2" name="Text 19"/>
          <p:cNvSpPr/>
          <p:nvPr/>
        </p:nvSpPr>
        <p:spPr>
          <a:xfrm>
            <a:off x="6400800" y="1097280"/>
            <a:ext cx="21924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 &lt; 10⁸: laminar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3" name="Text 20"/>
          <p:cNvSpPr/>
          <p:nvPr/>
        </p:nvSpPr>
        <p:spPr>
          <a:xfrm>
            <a:off x="6400800" y="1316880"/>
            <a:ext cx="2192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Rayleigh number determines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 vs turbulent free convection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2026-04-18T18:27:37Z</dcterms:created>
  <dc:creator>Memory Palace</dc:creator>
  <dc:description/>
  <dc:language>en-US</dc:language>
  <cp:lastModifiedBy/>
  <dcterms:modified xsi:type="dcterms:W3CDTF">2026-04-21T12:54:30Z</dcterms:modified>
  <cp:revision>60</cp:revision>
  <dc:subject>PptxGenJS Presentation</dc:subject>
  <dc:title>ChemE Memory Palace – Visual Mnemonics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116</vt:i4>
  </property>
  <property fmtid="{D5CDD505-2E9C-101B-9397-08002B2CF9AE}" pid="3" name="PresentationFormat">
    <vt:lpwstr>On-screen Show (16:9)</vt:lpwstr>
  </property>
  <property fmtid="{D5CDD505-2E9C-101B-9397-08002B2CF9AE}" pid="4" name="Slides">
    <vt:i4>116</vt:i4>
  </property>
</Properties>
</file>